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3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2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9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4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3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4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6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617" y="-275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2025 6</a:t>
            </a:r>
            <a:r>
              <a:rPr lang="en-US" sz="40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GLOBAL CONFERENCE FOR ADVANCEMENT IN TECHNOLOGY</a:t>
            </a:r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(GCAT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68859"/>
            <a:ext cx="9144000" cy="4189142"/>
          </a:xfrm>
        </p:spPr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TransAugNet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Transformer-Aware Cyclic Augmentation for Biomedical Image Analysis</a:t>
            </a:r>
          </a:p>
          <a:p>
            <a:r>
              <a:rPr lang="en-GB" b="1" spc="-1" dirty="0" smtClean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GB" b="1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</a:t>
            </a:r>
            <a:r>
              <a:rPr lang="en-GB" b="1" spc="-1" dirty="0" smtClean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2438</a:t>
            </a:r>
            <a:endParaRPr lang="en-GB" b="1" spc="-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Ashok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Nimmala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(Autonomous),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</a:t>
            </a:r>
            <a:endParaRPr lang="en-GB" b="1" spc="-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9" y="281258"/>
            <a:ext cx="1637211" cy="8682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572125"/>
            <a:ext cx="35528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4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9AEF4B-DA4D-242D-E966-FBBA94ED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dirty="0"/>
              <a:t>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CB12EC-B1DD-8307-4DD9-F7994A935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Framework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  <a:p>
            <a:pPr marL="514350" indent="-514350">
              <a:buAutoNum type="arabicPeriod" startAt="5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other works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/>
          </a:p>
          <a:p>
            <a:pPr marL="514350" indent="-514350">
              <a:buAutoNum type="arabicPeriod" startAt="5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26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1F350B-D3B4-ECF0-91CD-9EF66A92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dirty="0"/>
              <a:t>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8A1CBB-1446-AE8A-B9FE-7FE4488AB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537385" cy="4511704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Importance: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 (like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X-ray, MRI, 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plays a vital role in diagnosing diseases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and accurate detection can save lives and improve treatment planning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nal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/>
              <a:t>Manual interpretation </a:t>
            </a:r>
            <a:r>
              <a:rPr lang="en-US" dirty="0"/>
              <a:t>by specialists is </a:t>
            </a:r>
            <a:r>
              <a:rPr lang="en-US" b="1" dirty="0"/>
              <a:t>time-consuming</a:t>
            </a:r>
            <a:r>
              <a:rPr lang="en-US" dirty="0"/>
              <a:t> and subjective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Early-stage diseases are often missed due to complex imagery and human limitations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Delayed or incorrect diagnosis can lead to </a:t>
            </a:r>
            <a:r>
              <a:rPr lang="en-US" b="1" dirty="0"/>
              <a:t>life-threatening</a:t>
            </a:r>
            <a:r>
              <a:rPr lang="en-US" dirty="0"/>
              <a:t> situations.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/>
              <a:t>To overcome human limitations, </a:t>
            </a:r>
            <a:r>
              <a:rPr lang="en-US" b="1" dirty="0"/>
              <a:t>automated diagnosis</a:t>
            </a:r>
            <a:r>
              <a:rPr lang="en-US" dirty="0"/>
              <a:t> using </a:t>
            </a:r>
            <a:r>
              <a:rPr lang="en-US" b="1" dirty="0"/>
              <a:t>Deep Learning</a:t>
            </a:r>
            <a:r>
              <a:rPr lang="en-US" dirty="0"/>
              <a:t> is essential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Traditional 2D models fail to </a:t>
            </a:r>
            <a:r>
              <a:rPr lang="en-US" b="1" dirty="0"/>
              <a:t>capture complex 3D</a:t>
            </a:r>
            <a:r>
              <a:rPr lang="en-US" dirty="0"/>
              <a:t> medical structures effectively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585" y="2306941"/>
            <a:ext cx="4544041" cy="293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8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F6D5C3-0934-85AF-8C13-765273DA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05AA14-FC1A-A9A0-A36A-9EA6F39F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Aim:</a:t>
            </a:r>
          </a:p>
          <a:p>
            <a:pPr marL="0" indent="0">
              <a:buNone/>
            </a:pPr>
            <a:r>
              <a:rPr lang="en-US" sz="2000" dirty="0"/>
              <a:t>To develop an </a:t>
            </a:r>
            <a:r>
              <a:rPr lang="en-US" sz="2000" b="1" dirty="0" smtClean="0"/>
              <a:t>deep </a:t>
            </a:r>
            <a:r>
              <a:rPr lang="en-US" sz="2000" b="1" dirty="0"/>
              <a:t>learning model</a:t>
            </a:r>
            <a:r>
              <a:rPr lang="en-US" sz="2000" dirty="0"/>
              <a:t> that accurately identifies and classifies diseases using </a:t>
            </a:r>
            <a:r>
              <a:rPr lang="en-US" sz="2000" b="1" dirty="0" smtClean="0"/>
              <a:t>Cyclic </a:t>
            </a:r>
            <a:r>
              <a:rPr lang="en-US" sz="2000" b="1" dirty="0"/>
              <a:t>Augmentation</a:t>
            </a:r>
            <a:r>
              <a:rPr lang="en-US" sz="2000" dirty="0"/>
              <a:t> through </a:t>
            </a:r>
            <a:r>
              <a:rPr lang="en-US" sz="2000" b="1" dirty="0"/>
              <a:t>ResNet3D-50</a:t>
            </a:r>
            <a:r>
              <a:rPr lang="en-US" sz="2000" dirty="0"/>
              <a:t> for efficient medical image analysis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/>
              <a:t> Automate </a:t>
            </a:r>
            <a:r>
              <a:rPr lang="en-US" sz="2000" b="1" dirty="0"/>
              <a:t>disease diagnosis</a:t>
            </a:r>
            <a:r>
              <a:rPr lang="en-US" sz="2000" dirty="0"/>
              <a:t> </a:t>
            </a:r>
            <a:r>
              <a:rPr lang="en-US" sz="2000" dirty="0" smtClean="0"/>
              <a:t>for </a:t>
            </a:r>
            <a:r>
              <a:rPr lang="en-US" sz="2000" b="1" dirty="0"/>
              <a:t>3D medical imagery </a:t>
            </a:r>
            <a:r>
              <a:rPr lang="en-US" sz="2000" dirty="0"/>
              <a:t>to reduce human error and response time</a:t>
            </a:r>
            <a:r>
              <a:rPr lang="en-US" sz="2000" dirty="0" smtClean="0"/>
              <a:t>.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/>
              <a:t>Convert 3D medical images</a:t>
            </a:r>
            <a:r>
              <a:rPr lang="en-US" sz="2000" dirty="0"/>
              <a:t> into </a:t>
            </a:r>
            <a:r>
              <a:rPr lang="en-US" sz="2000" b="1" dirty="0"/>
              <a:t>stacked 2D slices </a:t>
            </a:r>
            <a:r>
              <a:rPr lang="en-US" sz="2000" dirty="0"/>
              <a:t>for better learning and classification</a:t>
            </a:r>
            <a:r>
              <a:rPr lang="en-US" sz="2000" dirty="0" smtClean="0"/>
              <a:t>.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/>
              <a:t>Integrate Transformer Attention</a:t>
            </a:r>
            <a:r>
              <a:rPr lang="en-US" sz="2000" dirty="0"/>
              <a:t> with ResNet3D-50 for improved spatial and contextual understanding of images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Use </a:t>
            </a:r>
            <a:r>
              <a:rPr lang="en-US" sz="2000" b="1" dirty="0" err="1"/>
              <a:t>MedMNIST</a:t>
            </a:r>
            <a:r>
              <a:rPr lang="en-US" sz="2000" b="1" dirty="0"/>
              <a:t> 3D datasets</a:t>
            </a:r>
            <a:r>
              <a:rPr lang="en-US" sz="2000" dirty="0"/>
              <a:t> (</a:t>
            </a:r>
            <a:r>
              <a:rPr lang="en-US" sz="2000" dirty="0" smtClean="0"/>
              <a:t>Adrenal and Vessel) </a:t>
            </a:r>
            <a:r>
              <a:rPr lang="en-US" sz="2000" dirty="0"/>
              <a:t>to verify the model’s robustness and adaptability</a:t>
            </a:r>
            <a:r>
              <a:rPr lang="en-US" sz="2000" dirty="0" smtClean="0"/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5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38DDBB-B0C3-818E-BF80-8DCE5D0E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E2596F-EEFF-F7BA-EB33-0C9A788C5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/>
              <a:t>Microscopic(</a:t>
            </a:r>
            <a:r>
              <a:rPr lang="en-US" b="1" dirty="0" err="1" smtClean="0"/>
              <a:t>Wanying</a:t>
            </a:r>
            <a:r>
              <a:rPr lang="en-US" b="1" dirty="0" smtClean="0"/>
              <a:t> Li)</a:t>
            </a:r>
            <a:r>
              <a:rPr lang="en-US" dirty="0" smtClean="0"/>
              <a:t> </a:t>
            </a:r>
            <a:r>
              <a:rPr lang="en-US" dirty="0"/>
              <a:t>–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/>
              <a:t>Improved </a:t>
            </a:r>
            <a:r>
              <a:rPr lang="en-US" b="1" dirty="0"/>
              <a:t>microscopic image augmentation </a:t>
            </a:r>
            <a:r>
              <a:rPr lang="en-US" dirty="0"/>
              <a:t>but failed to handle large-scale</a:t>
            </a:r>
            <a:r>
              <a:rPr lang="en-US" b="1" dirty="0"/>
              <a:t> </a:t>
            </a:r>
            <a:r>
              <a:rPr lang="en-US" dirty="0"/>
              <a:t>datasets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err="1" smtClean="0"/>
              <a:t>GraphRNN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smtClean="0"/>
              <a:t>VALENTINA SÁNCHEZ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/>
              <a:t>Proposed </a:t>
            </a:r>
            <a:r>
              <a:rPr lang="en-US" b="1" dirty="0" err="1"/>
              <a:t>GraphRNN</a:t>
            </a:r>
            <a:r>
              <a:rPr lang="en-US" dirty="0"/>
              <a:t> for fMRI image graphs, limited to time-series data only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err="1"/>
              <a:t>DuCo</a:t>
            </a:r>
            <a:r>
              <a:rPr lang="en-US" b="1" dirty="0"/>
              <a:t>-Net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/>
              <a:t>Zahid</a:t>
            </a:r>
            <a:r>
              <a:rPr lang="en-US" b="1" dirty="0"/>
              <a:t> </a:t>
            </a:r>
            <a:r>
              <a:rPr lang="en-US" b="1" dirty="0" err="1"/>
              <a:t>ur</a:t>
            </a:r>
            <a:r>
              <a:rPr lang="en-US" b="1" dirty="0"/>
              <a:t> Rahman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/>
              <a:t>Developed </a:t>
            </a:r>
            <a:r>
              <a:rPr lang="en-US" b="1" dirty="0" err="1"/>
              <a:t>DuCo</a:t>
            </a:r>
            <a:r>
              <a:rPr lang="en-US" b="1" dirty="0"/>
              <a:t>-Net</a:t>
            </a:r>
            <a:r>
              <a:rPr lang="en-US" dirty="0"/>
              <a:t>, a Dual-Contrastive Learning Network for medical reports. Faced issues with limited contrastive learning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err="1"/>
              <a:t>PRCNet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/>
              <a:t>Ahmeed</a:t>
            </a:r>
            <a:r>
              <a:rPr lang="en-US" b="1" dirty="0"/>
              <a:t> </a:t>
            </a:r>
            <a:r>
              <a:rPr lang="en-US" b="1" dirty="0" err="1"/>
              <a:t>Suliman</a:t>
            </a:r>
            <a:r>
              <a:rPr lang="en-US" b="1" dirty="0"/>
              <a:t> </a:t>
            </a:r>
            <a:r>
              <a:rPr lang="en-US" b="1" dirty="0" err="1"/>
              <a:t>Farham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/>
              <a:t>Introduced </a:t>
            </a:r>
            <a:r>
              <a:rPr lang="en-US" b="1" dirty="0" err="1"/>
              <a:t>PRCNet</a:t>
            </a:r>
            <a:r>
              <a:rPr lang="en-US" dirty="0"/>
              <a:t> for brain MRI augmentation. Improved feature extraction but suffered from low data </a:t>
            </a:r>
            <a:r>
              <a:rPr lang="en-US" dirty="0" smtClean="0"/>
              <a:t>diversity</a:t>
            </a:r>
          </a:p>
          <a:p>
            <a:pPr algn="just"/>
            <a:r>
              <a:rPr lang="en-US" b="1" dirty="0"/>
              <a:t>VGG and </a:t>
            </a:r>
            <a:r>
              <a:rPr lang="en-US" b="1" dirty="0" err="1"/>
              <a:t>cGAN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/>
              <a:t>Hafsa</a:t>
            </a:r>
            <a:r>
              <a:rPr lang="en-US" b="1" dirty="0"/>
              <a:t> </a:t>
            </a:r>
            <a:r>
              <a:rPr lang="en-US" b="1" dirty="0" err="1"/>
              <a:t>Laçi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/>
              <a:t>Used </a:t>
            </a:r>
            <a:r>
              <a:rPr lang="en-US" b="1" dirty="0"/>
              <a:t>VGG and </a:t>
            </a:r>
            <a:r>
              <a:rPr lang="en-US" b="1" dirty="0" err="1"/>
              <a:t>cGAN</a:t>
            </a:r>
            <a:r>
              <a:rPr lang="en-US" dirty="0"/>
              <a:t> for X-ray and MRI classification. Effective for 2D data but lacked multimodal 3D analysis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pPr algn="just"/>
            <a:r>
              <a:rPr lang="en-US" dirty="0"/>
              <a:t>Is </a:t>
            </a:r>
            <a:r>
              <a:rPr lang="en-US" b="1" dirty="0"/>
              <a:t>not limited to 2D medical images</a:t>
            </a:r>
            <a:r>
              <a:rPr lang="en-US" dirty="0"/>
              <a:t> and can effectively </a:t>
            </a:r>
            <a:r>
              <a:rPr lang="en-US" b="1" dirty="0"/>
              <a:t>capture the spatial depth </a:t>
            </a:r>
            <a:r>
              <a:rPr lang="en-US" b="1" dirty="0" smtClean="0"/>
              <a:t>of </a:t>
            </a:r>
            <a:r>
              <a:rPr lang="en-US" b="1" dirty="0"/>
              <a:t>3D data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/>
              <a:t>that can generalize well even with </a:t>
            </a:r>
            <a:r>
              <a:rPr lang="en-US" b="1" dirty="0"/>
              <a:t>limited </a:t>
            </a:r>
            <a:r>
              <a:rPr lang="en-US" dirty="0"/>
              <a:t>and</a:t>
            </a:r>
            <a:r>
              <a:rPr lang="en-US" b="1" dirty="0"/>
              <a:t> diverse </a:t>
            </a:r>
            <a:r>
              <a:rPr lang="en-US" dirty="0"/>
              <a:t>training </a:t>
            </a:r>
            <a:r>
              <a:rPr lang="en-US" dirty="0" smtClean="0"/>
              <a:t>data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algn="just"/>
            <a:r>
              <a:rPr lang="en-US" dirty="0"/>
              <a:t>that supports </a:t>
            </a:r>
            <a:r>
              <a:rPr lang="en-US" b="1" dirty="0"/>
              <a:t>real-time </a:t>
            </a:r>
            <a:r>
              <a:rPr lang="en-US" dirty="0"/>
              <a:t>and</a:t>
            </a:r>
            <a:r>
              <a:rPr lang="en-US" b="1" dirty="0"/>
              <a:t> clinically deployable diagnosis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69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71247A-D28B-0E5A-1488-E0F6F8F6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69856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18ACDE-3392-ADB5-834A-BADB81A96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0490"/>
            <a:ext cx="7867261" cy="57943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Name: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TransAugNet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Transformer-Aware Cyclic Augmentation for Biomedical </a:t>
            </a: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</a:t>
            </a:r>
          </a:p>
          <a:p>
            <a:pPr mar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/>
              <a:t>High-resolution </a:t>
            </a:r>
            <a:r>
              <a:rPr lang="en-US" sz="1800" b="1" dirty="0"/>
              <a:t>3D medical images 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images →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256×256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/>
              <a:t>Convert 3D images to </a:t>
            </a:r>
            <a:r>
              <a:rPr lang="en-US" sz="1800" b="1" dirty="0"/>
              <a:t>single-channel grayscale 2D </a:t>
            </a:r>
            <a:r>
              <a:rPr lang="en-US" sz="1800" b="1" dirty="0" smtClean="0"/>
              <a:t>slices</a:t>
            </a:r>
            <a:r>
              <a:rPr lang="en-US" sz="1800" dirty="0" smtClean="0"/>
              <a:t>.</a:t>
            </a:r>
          </a:p>
          <a:p>
            <a:pPr lvl="1"/>
            <a:r>
              <a:rPr lang="en-US" sz="1800" dirty="0" smtClean="0"/>
              <a:t> Applies </a:t>
            </a:r>
            <a:r>
              <a:rPr lang="en-US" sz="1800" dirty="0" err="1" smtClean="0"/>
              <a:t>Transormer</a:t>
            </a:r>
            <a:r>
              <a:rPr lang="en-US" sz="1800" dirty="0" smtClean="0"/>
              <a:t>-Aware Cyclic Augmentation.</a:t>
            </a:r>
          </a:p>
          <a:p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/>
              <a:t>The </a:t>
            </a:r>
            <a:r>
              <a:rPr lang="en-US" sz="1800" b="1" dirty="0"/>
              <a:t>ResNet3D-50</a:t>
            </a:r>
            <a:r>
              <a:rPr lang="en-US" sz="1800" dirty="0"/>
              <a:t> model extracts volumetric </a:t>
            </a:r>
            <a:r>
              <a:rPr lang="en-US" sz="1800" dirty="0" smtClean="0"/>
              <a:t>features.</a:t>
            </a:r>
          </a:p>
          <a:p>
            <a:pPr lvl="1"/>
            <a:r>
              <a:rPr lang="en-US" sz="1800" dirty="0"/>
              <a:t>The encoder consists of a </a:t>
            </a:r>
            <a:r>
              <a:rPr lang="en-US" sz="1800" b="1" dirty="0"/>
              <a:t>Stem Layer</a:t>
            </a:r>
            <a:r>
              <a:rPr lang="en-US" sz="1800" dirty="0"/>
              <a:t> followed by four </a:t>
            </a:r>
            <a:r>
              <a:rPr lang="en-US" sz="1800" b="1" dirty="0"/>
              <a:t>Residual </a:t>
            </a:r>
            <a:endParaRPr lang="en-US" sz="1800" b="1" dirty="0" smtClean="0"/>
          </a:p>
          <a:p>
            <a:pPr marL="457200" lvl="1" indent="0">
              <a:buNone/>
            </a:pPr>
            <a:r>
              <a:rPr lang="en-US" sz="1800" b="1" dirty="0"/>
              <a:t> </a:t>
            </a:r>
            <a:r>
              <a:rPr lang="en-US" sz="1800" b="1" dirty="0" smtClean="0"/>
              <a:t>   Block </a:t>
            </a:r>
            <a:r>
              <a:rPr lang="en-US" sz="1800" b="1" dirty="0"/>
              <a:t>Groups</a:t>
            </a:r>
            <a:r>
              <a:rPr lang="en-US" sz="1800" dirty="0"/>
              <a:t>.</a:t>
            </a:r>
            <a:endParaRPr lang="en-US" sz="1800" dirty="0" smtClean="0"/>
          </a:p>
          <a:p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Head:</a:t>
            </a:r>
          </a:p>
          <a:p>
            <a:pPr lvl="1"/>
            <a:r>
              <a:rPr lang="en-US" sz="1800" b="1" dirty="0"/>
              <a:t>Global Average Pooling (GAP)</a:t>
            </a:r>
            <a:r>
              <a:rPr lang="en-US" sz="1800" dirty="0"/>
              <a:t> converts 3D feature maps into a </a:t>
            </a:r>
          </a:p>
          <a:p>
            <a:pPr marL="457200" lvl="1" indent="0">
              <a:buNone/>
            </a:pPr>
            <a:r>
              <a:rPr lang="en-US" sz="1800" dirty="0" smtClean="0"/>
              <a:t>    concise </a:t>
            </a:r>
            <a:r>
              <a:rPr lang="en-US" sz="1800" dirty="0"/>
              <a:t>vector </a:t>
            </a:r>
            <a:r>
              <a:rPr lang="en-US" sz="1800" dirty="0" smtClean="0"/>
              <a:t>summary.</a:t>
            </a:r>
          </a:p>
          <a:p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/>
              <a:t>Predicted class probabilities for disease presence or absence.</a:t>
            </a:r>
          </a:p>
          <a:p>
            <a:pPr marL="0" indent="0">
              <a:buNone/>
            </a:pP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564" y="1295005"/>
            <a:ext cx="2221793" cy="422877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694" y="1209041"/>
            <a:ext cx="3502572" cy="47244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461051" y="5617235"/>
            <a:ext cx="3670060" cy="6324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0191" y="5657567"/>
            <a:ext cx="373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ResNet3D-50 and STEM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77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1192C5-5C98-8E5B-62F8-B2ED5D65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3B46D-0EDC-8F95-8F33-6E40AF440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278"/>
            <a:ext cx="7391400" cy="484268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/>
              <a:t>The overall model architecture follows a sequential flow for disease </a:t>
            </a:r>
            <a:r>
              <a:rPr lang="en-US" sz="1800" dirty="0" smtClean="0"/>
              <a:t>diagnosis: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Images(Input):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flow begins with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images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the input.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dirty="0"/>
              <a:t>Data Preprocessing</a:t>
            </a:r>
            <a:r>
              <a:rPr lang="en-US" sz="1600" dirty="0"/>
              <a:t>: The images first undergo preprocessing steps, such as Grayscale conversion, Normalization, and Resizing</a:t>
            </a:r>
            <a:r>
              <a:rPr lang="en-US" sz="1600" dirty="0" smtClean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dirty="0"/>
              <a:t>Data Augmentation</a:t>
            </a:r>
            <a:r>
              <a:rPr lang="en-US" sz="1600" dirty="0"/>
              <a:t>: The preprocessed images enter the data augmentation phase, where they are transformed using different techniques, including the primary </a:t>
            </a:r>
            <a:r>
              <a:rPr lang="en-US" sz="1600" dirty="0" smtClean="0"/>
              <a:t>Cyclic Augmentation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dirty="0"/>
              <a:t>ResNet3D-50 Model</a:t>
            </a:r>
            <a:r>
              <a:rPr lang="en-US" sz="1600" dirty="0"/>
              <a:t>: The augmented data then enters the </a:t>
            </a:r>
            <a:r>
              <a:rPr lang="en-US" sz="1600" b="1" dirty="0"/>
              <a:t>ResNet3D-50 model</a:t>
            </a:r>
            <a:r>
              <a:rPr lang="en-US" sz="1600" dirty="0"/>
              <a:t> phase</a:t>
            </a:r>
            <a:r>
              <a:rPr lang="en-US" sz="1600" dirty="0" smtClean="0"/>
              <a:t>.</a:t>
            </a:r>
          </a:p>
          <a:p>
            <a:pPr lvl="1" algn="just"/>
            <a:r>
              <a:rPr lang="en-US" sz="1600" dirty="0"/>
              <a:t>This model is the core component that extracts the </a:t>
            </a:r>
            <a:r>
              <a:rPr lang="en-US" sz="1600" b="1" dirty="0"/>
              <a:t>volumetric features</a:t>
            </a:r>
            <a:r>
              <a:rPr lang="en-US" sz="1600" dirty="0"/>
              <a:t> from the images.</a:t>
            </a:r>
          </a:p>
          <a:p>
            <a:pPr lvl="1" algn="just"/>
            <a:r>
              <a:rPr lang="en-US" sz="1600" dirty="0"/>
              <a:t>It uses a 3D variant of ResNet-50, converting 2D operations to their 3D counterparts</a:t>
            </a:r>
            <a:r>
              <a:rPr lang="en-US" sz="1600" dirty="0" smtClean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dirty="0"/>
              <a:t>Classified Data (Output)</a:t>
            </a:r>
            <a:r>
              <a:rPr lang="en-US" sz="1600" dirty="0"/>
              <a:t>: The final output is the </a:t>
            </a:r>
            <a:r>
              <a:rPr lang="en-US" sz="1600" b="1" dirty="0"/>
              <a:t>classified image</a:t>
            </a:r>
            <a:r>
              <a:rPr lang="en-US" sz="1600" dirty="0"/>
              <a:t> or prediction of the disease.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993" y="434136"/>
            <a:ext cx="3569233" cy="567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7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065C30-4445-2F85-755B-9C8135E6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BDB433-0B92-A406-21FD-1D2F3695C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The proposed model was trained using the </a:t>
            </a:r>
            <a:r>
              <a:rPr lang="en-US" sz="2000" b="1" dirty="0" err="1"/>
              <a:t>MedMNIST</a:t>
            </a:r>
            <a:r>
              <a:rPr lang="en-US" sz="2000" b="1" dirty="0"/>
              <a:t> dataset</a:t>
            </a:r>
            <a:r>
              <a:rPr lang="en-US" sz="2000" dirty="0"/>
              <a:t> — a benchmark collection for biomedical image analysis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Contains </a:t>
            </a:r>
            <a:r>
              <a:rPr lang="en-US" sz="2000" b="1" dirty="0"/>
              <a:t>12 two-dimensional subsets</a:t>
            </a:r>
            <a:r>
              <a:rPr lang="en-US" sz="2000" dirty="0"/>
              <a:t> and </a:t>
            </a:r>
            <a:r>
              <a:rPr lang="en-US" sz="2000" b="1" dirty="0"/>
              <a:t>6 three-dimensional subsets</a:t>
            </a:r>
            <a:r>
              <a:rPr lang="en-US" sz="2000" dirty="0"/>
              <a:t> of medical </a:t>
            </a:r>
            <a:r>
              <a:rPr lang="en-US" sz="2000" dirty="0" smtClean="0"/>
              <a:t>imagery</a:t>
            </a:r>
          </a:p>
          <a:p>
            <a:r>
              <a:rPr lang="en-US" sz="2000" b="1" dirty="0"/>
              <a:t>Major 3D Datasets Used:</a:t>
            </a:r>
            <a:r>
              <a:rPr lang="en-US" sz="2000" dirty="0"/>
              <a:t> </a:t>
            </a:r>
            <a:r>
              <a:rPr lang="en-US" sz="2000" dirty="0" err="1"/>
              <a:t>AdrenalMNIST</a:t>
            </a:r>
            <a:r>
              <a:rPr lang="en-US" sz="2000" dirty="0"/>
              <a:t> and </a:t>
            </a:r>
            <a:r>
              <a:rPr lang="en-US" sz="2000" dirty="0" err="1"/>
              <a:t>VesselMNIST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/>
              <a:t>Resizing:</a:t>
            </a:r>
            <a:r>
              <a:rPr lang="en-US" sz="2000" dirty="0"/>
              <a:t> All images were resized to </a:t>
            </a:r>
            <a:r>
              <a:rPr lang="en-US" sz="2000" b="1" dirty="0"/>
              <a:t>224 × 224</a:t>
            </a:r>
            <a:r>
              <a:rPr lang="en-US" sz="2000" dirty="0"/>
              <a:t> to match model input requirements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Normalization:</a:t>
            </a:r>
            <a:r>
              <a:rPr lang="en-US" sz="2000" dirty="0"/>
              <a:t> Applied </a:t>
            </a:r>
            <a:r>
              <a:rPr lang="en-US" sz="2000" dirty="0" err="1"/>
              <a:t>ImageNet</a:t>
            </a:r>
            <a:r>
              <a:rPr lang="en-US" sz="2000" dirty="0"/>
              <a:t> normalization for consistent pixel intensity distribution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Grayscale Conversion:</a:t>
            </a:r>
            <a:r>
              <a:rPr lang="en-US" sz="2000" dirty="0"/>
              <a:t> 3D images were converted to </a:t>
            </a:r>
            <a:r>
              <a:rPr lang="en-US" sz="2000" b="1" dirty="0"/>
              <a:t>single-channel grayscale</a:t>
            </a:r>
            <a:r>
              <a:rPr lang="en-US" sz="2000" dirty="0"/>
              <a:t> format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Slicing:</a:t>
            </a:r>
            <a:r>
              <a:rPr lang="en-US" sz="2000" dirty="0"/>
              <a:t> 3D volumetric images were split into </a:t>
            </a:r>
            <a:r>
              <a:rPr lang="en-US" sz="2000" b="1" dirty="0"/>
              <a:t>2D cross-sectional slices</a:t>
            </a:r>
            <a:r>
              <a:rPr lang="en-US" sz="2000" dirty="0"/>
              <a:t> to feed into the ResNet3D-50 model efficiently</a:t>
            </a:r>
            <a:r>
              <a:rPr lang="en-US" sz="2000" dirty="0" smtClean="0"/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75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C9CEB5-818D-D959-E716-C927BA79F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4" y="13186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Setup-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08224"/>
              </p:ext>
            </p:extLst>
          </p:nvPr>
        </p:nvGraphicFramePr>
        <p:xfrm>
          <a:off x="838200" y="1585913"/>
          <a:ext cx="10515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Configuration/Description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Input Size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× 64 × 64 × 64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Batch Size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Epochs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Optimizer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Adam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Learning Rate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0.0001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Loss Function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Cross Entropy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Spatial Dimensions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Smoothing</a:t>
                      </a:r>
                      <a:r>
                        <a:rPr lang="en-US" b="1" baseline="0" dirty="0" smtClean="0"/>
                        <a:t> Techniques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Gaussian Blur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Regularization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Applied to prevent </a:t>
                      </a:r>
                      <a:r>
                        <a:rPr lang="en-IN" dirty="0" err="1" smtClean="0"/>
                        <a:t>overfitting</a:t>
                      </a: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Output</a:t>
                      </a:r>
                      <a:r>
                        <a:rPr lang="en-US" b="1" baseline="0" dirty="0" smtClean="0"/>
                        <a:t> Channels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22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2CE4D1-7B73-3825-B80A-3B0D9C64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Analysis-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54" y="1845211"/>
            <a:ext cx="6335009" cy="1762371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43" y="3695391"/>
            <a:ext cx="6487430" cy="18481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373" y="48236"/>
            <a:ext cx="3826427" cy="32849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373" y="3435675"/>
            <a:ext cx="4384854" cy="342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6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AEF25E-71D2-5635-FF93-ED177A39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with Other </a:t>
            </a:r>
            <a:r>
              <a:rPr lang="en-IN" dirty="0" smtClean="0"/>
              <a:t>Works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1ED463-5CA4-905B-59FF-B8811A46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Handling 3D Data:</a:t>
            </a:r>
            <a:r>
              <a:rPr lang="en-US" dirty="0"/>
              <a:t> </a:t>
            </a:r>
            <a:r>
              <a:rPr lang="en-US" dirty="0" err="1"/>
              <a:t>TransAugNet</a:t>
            </a:r>
            <a:r>
              <a:rPr lang="en-US" dirty="0"/>
              <a:t> uses the </a:t>
            </a:r>
            <a:r>
              <a:rPr lang="en-US" b="1" dirty="0"/>
              <a:t>ResNet3D-50</a:t>
            </a:r>
            <a:r>
              <a:rPr lang="en-US" dirty="0"/>
              <a:t> backbone to overcome the limitation of models like MIN-JUN KIM's approach, which primarily focused on 2D datasets</a:t>
            </a:r>
            <a:r>
              <a:rPr lang="en-US" dirty="0" smtClean="0"/>
              <a:t>.</a:t>
            </a:r>
          </a:p>
          <a:p>
            <a:r>
              <a:rPr lang="en-US" b="1" dirty="0"/>
              <a:t>Feature Enrichment:</a:t>
            </a:r>
            <a:r>
              <a:rPr lang="en-US" dirty="0"/>
              <a:t> The approach integrates </a:t>
            </a:r>
            <a:r>
              <a:rPr lang="en-US" b="1" dirty="0"/>
              <a:t>transformer attention</a:t>
            </a:r>
            <a:r>
              <a:rPr lang="en-US" dirty="0"/>
              <a:t> into the ResNet3D-50 backbone , which helps the model understand spatial patterns better and improves diagnostic accuracy. Existing methods sometimes lacked this transformer-based segmentation</a:t>
            </a:r>
            <a:r>
              <a:rPr lang="en-US" dirty="0" smtClean="0"/>
              <a:t>.</a:t>
            </a:r>
          </a:p>
          <a:p>
            <a:r>
              <a:rPr lang="en-US" dirty="0"/>
              <a:t>The </a:t>
            </a:r>
            <a:r>
              <a:rPr lang="en-US" b="1" dirty="0" err="1"/>
              <a:t>CyclicAug</a:t>
            </a:r>
            <a:r>
              <a:rPr lang="en-US" b="1" dirty="0"/>
              <a:t> + ILR</a:t>
            </a:r>
            <a:r>
              <a:rPr lang="en-US" dirty="0"/>
              <a:t> setup provided superior or competitive results, achieving the </a:t>
            </a:r>
            <a:r>
              <a:rPr lang="en-US" dirty="0" smtClean="0"/>
              <a:t>highest </a:t>
            </a:r>
            <a:r>
              <a:rPr lang="en-US" b="1" dirty="0" smtClean="0"/>
              <a:t>ROC-AUC</a:t>
            </a:r>
            <a:r>
              <a:rPr lang="en-US" dirty="0" smtClean="0"/>
              <a:t> of </a:t>
            </a:r>
            <a:r>
              <a:rPr lang="en-US" b="1" dirty="0" smtClean="0"/>
              <a:t>0.91</a:t>
            </a:r>
            <a:r>
              <a:rPr lang="en-US" dirty="0" smtClean="0"/>
              <a:t> and the highest </a:t>
            </a:r>
            <a:r>
              <a:rPr lang="en-US" b="1" dirty="0" smtClean="0"/>
              <a:t>F1-Score</a:t>
            </a:r>
            <a:r>
              <a:rPr lang="en-US" dirty="0" smtClean="0"/>
              <a:t> of </a:t>
            </a:r>
            <a:r>
              <a:rPr lang="en-US" b="1" dirty="0" smtClean="0"/>
              <a:t>0.77</a:t>
            </a:r>
            <a:r>
              <a:rPr lang="en-US" dirty="0" smtClean="0"/>
              <a:t>.</a:t>
            </a:r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48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87F82B-6FC4-05F6-0ED3-DE2E075E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BDE246-1FBB-9A48-2A97-93D4A730D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584"/>
            <a:ext cx="10515600" cy="474937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err="1"/>
              <a:t>TransAugNet</a:t>
            </a:r>
            <a:r>
              <a:rPr lang="en-US" dirty="0"/>
              <a:t> was introduced as a deep learning technique for accurate identification of diseases through medical images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The model uses the </a:t>
            </a:r>
            <a:r>
              <a:rPr lang="en-US" b="1" dirty="0"/>
              <a:t>ResNet3D-50</a:t>
            </a:r>
            <a:r>
              <a:rPr lang="en-US" dirty="0"/>
              <a:t> backbone with </a:t>
            </a:r>
            <a:r>
              <a:rPr lang="en-US" b="1" dirty="0"/>
              <a:t>Transformer-Aware Cyclic Augmentation</a:t>
            </a:r>
            <a:r>
              <a:rPr lang="en-US" dirty="0"/>
              <a:t> for precise monitoring and diagnosis of diseases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The model demonstrated </a:t>
            </a:r>
            <a:r>
              <a:rPr lang="en-US" b="1" dirty="0"/>
              <a:t>robust performance</a:t>
            </a:r>
            <a:r>
              <a:rPr lang="en-US" dirty="0"/>
              <a:t> across </a:t>
            </a:r>
            <a:r>
              <a:rPr lang="en-US" b="1" dirty="0"/>
              <a:t>Adrenal</a:t>
            </a:r>
            <a:r>
              <a:rPr lang="en-US" dirty="0"/>
              <a:t> and </a:t>
            </a:r>
            <a:r>
              <a:rPr lang="en-US" b="1" dirty="0"/>
              <a:t>Vessel-related diseases</a:t>
            </a:r>
            <a:r>
              <a:rPr lang="en-US" dirty="0" smtClean="0"/>
              <a:t>.</a:t>
            </a:r>
          </a:p>
          <a:p>
            <a:pPr algn="just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Further Exploration of multi-model data Augmentation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images, as it was a limitation in related work.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Specialized surveys on </a:t>
            </a:r>
            <a:r>
              <a:rPr lang="en-US" b="1" dirty="0"/>
              <a:t>Diffusion Models (DMS) in augmentation</a:t>
            </a:r>
            <a:r>
              <a:rPr lang="en-US" dirty="0"/>
              <a:t> could be used to further improve the data augmentation step</a:t>
            </a:r>
            <a:r>
              <a:rPr lang="en-US" dirty="0" smtClean="0"/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69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 flipV="1">
            <a:off x="11353799" y="293298"/>
            <a:ext cx="45719" cy="7182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082" y="1027906"/>
            <a:ext cx="5473835" cy="5473835"/>
          </a:xfrm>
        </p:spPr>
      </p:pic>
    </p:spTree>
    <p:extLst>
      <p:ext uri="{BB962C8B-B14F-4D97-AF65-F5344CB8AC3E}">
        <p14:creationId xmlns:p14="http://schemas.microsoft.com/office/powerpoint/2010/main" val="389419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893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2025 6th  GLOBAL CONFERENCE FOR ADVANCEMENT IN TECHNOLOGY (GCAT 2025)</vt:lpstr>
      <vt:lpstr>Index-</vt:lpstr>
      <vt:lpstr>Introduction-</vt:lpstr>
      <vt:lpstr>Objectives-</vt:lpstr>
      <vt:lpstr>Literature Survey-</vt:lpstr>
      <vt:lpstr>Proposed Framework-</vt:lpstr>
      <vt:lpstr>Model Architecture-</vt:lpstr>
      <vt:lpstr>Dataset &amp; Preprocessing-</vt:lpstr>
      <vt:lpstr>Training Setup-</vt:lpstr>
      <vt:lpstr>Results &amp; Analysis-</vt:lpstr>
      <vt:lpstr>Comparison with Other Works</vt:lpstr>
      <vt:lpstr>Conclusion &amp; Future Scope-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Microsoft account</cp:lastModifiedBy>
  <cp:revision>30</cp:revision>
  <dcterms:created xsi:type="dcterms:W3CDTF">2021-06-10T05:32:34Z</dcterms:created>
  <dcterms:modified xsi:type="dcterms:W3CDTF">2025-10-24T08:56:37Z</dcterms:modified>
</cp:coreProperties>
</file>