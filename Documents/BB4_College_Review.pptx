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handoutMasterIdLst>
    <p:handoutMasterId r:id="rId35"/>
  </p:handoutMasterIdLst>
  <p:sldIdLst>
    <p:sldId id="280" r:id="rId2"/>
    <p:sldId id="258" r:id="rId3"/>
    <p:sldId id="260" r:id="rId4"/>
    <p:sldId id="262" r:id="rId5"/>
    <p:sldId id="279" r:id="rId6"/>
    <p:sldId id="263" r:id="rId7"/>
    <p:sldId id="298" r:id="rId8"/>
    <p:sldId id="299" r:id="rId9"/>
    <p:sldId id="300" r:id="rId10"/>
    <p:sldId id="265" r:id="rId11"/>
    <p:sldId id="270" r:id="rId12"/>
    <p:sldId id="266" r:id="rId13"/>
    <p:sldId id="268" r:id="rId14"/>
    <p:sldId id="290" r:id="rId15"/>
    <p:sldId id="291" r:id="rId16"/>
    <p:sldId id="292" r:id="rId17"/>
    <p:sldId id="293" r:id="rId18"/>
    <p:sldId id="294" r:id="rId19"/>
    <p:sldId id="295" r:id="rId20"/>
    <p:sldId id="281" r:id="rId21"/>
    <p:sldId id="301" r:id="rId22"/>
    <p:sldId id="302" r:id="rId23"/>
    <p:sldId id="303" r:id="rId24"/>
    <p:sldId id="304" r:id="rId25"/>
    <p:sldId id="296" r:id="rId26"/>
    <p:sldId id="284" r:id="rId27"/>
    <p:sldId id="297" r:id="rId28"/>
    <p:sldId id="305" r:id="rId29"/>
    <p:sldId id="288" r:id="rId30"/>
    <p:sldId id="278" r:id="rId31"/>
    <p:sldId id="277" r:id="rId32"/>
    <p:sldId id="275"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8520384-AF8C-49A8-8FE3-F5CDD2A9BDF3}">
          <p14:sldIdLst>
            <p14:sldId id="280"/>
            <p14:sldId id="258"/>
            <p14:sldId id="260"/>
            <p14:sldId id="262"/>
            <p14:sldId id="279"/>
            <p14:sldId id="263"/>
            <p14:sldId id="298"/>
            <p14:sldId id="299"/>
            <p14:sldId id="300"/>
            <p14:sldId id="265"/>
            <p14:sldId id="270"/>
            <p14:sldId id="266"/>
            <p14:sldId id="268"/>
            <p14:sldId id="290"/>
            <p14:sldId id="291"/>
            <p14:sldId id="292"/>
            <p14:sldId id="293"/>
            <p14:sldId id="294"/>
            <p14:sldId id="295"/>
            <p14:sldId id="281"/>
            <p14:sldId id="301"/>
            <p14:sldId id="302"/>
            <p14:sldId id="303"/>
            <p14:sldId id="304"/>
            <p14:sldId id="296"/>
            <p14:sldId id="284"/>
            <p14:sldId id="297"/>
            <p14:sldId id="305"/>
          </p14:sldIdLst>
        </p14:section>
        <p14:section name="Untitled Section" id="{2DC1DCD1-FCBA-4DDF-B1D8-E1F1F9B2BCC3}">
          <p14:sldIdLst>
            <p14:sldId id="288"/>
            <p14:sldId id="278"/>
            <p14:sldId id="277"/>
            <p14:sldId id="27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70D88B1-B614-4999-8EA8-07D738DA6E24}" v="210" dt="2025-11-11T07:28:06.34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8" d="100"/>
          <a:sy n="88" d="100"/>
        </p:scale>
        <p:origin x="466" y="53"/>
      </p:cViewPr>
      <p:guideLst/>
    </p:cSldViewPr>
  </p:slideViewPr>
  <p:notesTextViewPr>
    <p:cViewPr>
      <p:scale>
        <a:sx n="1" d="1"/>
        <a:sy n="1" d="1"/>
      </p:scale>
      <p:origin x="0" y="0"/>
    </p:cViewPr>
  </p:notesTextViewPr>
  <p:notesViewPr>
    <p:cSldViewPr snapToGrid="0">
      <p:cViewPr varScale="1">
        <p:scale>
          <a:sx n="57" d="100"/>
          <a:sy n="57" d="100"/>
        </p:scale>
        <p:origin x="2832"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s>
</file>

<file path=ppt/diagrams/_rels/data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4.svg"/><Relationship Id="rId1" Type="http://schemas.openxmlformats.org/officeDocument/2006/relationships/image" Target="../media/image3.png"/><Relationship Id="rId4" Type="http://schemas.openxmlformats.org/officeDocument/2006/relationships/image" Target="../media/image6.svg"/></Relationships>
</file>

<file path=ppt/diagrams/_rels/drawing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4.svg"/><Relationship Id="rId1" Type="http://schemas.openxmlformats.org/officeDocument/2006/relationships/image" Target="../media/image3.png"/><Relationship Id="rId4" Type="http://schemas.openxmlformats.org/officeDocument/2006/relationships/image" Target="../media/image6.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1E54B32-75F3-4422-B93E-E4C0D8CD3E62}" type="doc">
      <dgm:prSet loTypeId="urn:microsoft.com/office/officeart/2005/8/layout/process4" loCatId="process" qsTypeId="urn:microsoft.com/office/officeart/2005/8/quickstyle/3d3" qsCatId="3D" csTypeId="urn:microsoft.com/office/officeart/2005/8/colors/accent1_2" csCatId="accent1" phldr="1"/>
      <dgm:spPr/>
      <dgm:t>
        <a:bodyPr/>
        <a:lstStyle/>
        <a:p>
          <a:endParaRPr lang="en-IN"/>
        </a:p>
      </dgm:t>
    </dgm:pt>
    <dgm:pt modelId="{638CFFDC-33F1-46B2-880A-1F37914770B2}">
      <dgm:prSet phldrT="[Text]" custT="1"/>
      <dgm:spPr>
        <a:xfrm rot="10800000">
          <a:off x="0" y="2105"/>
          <a:ext cx="3098165" cy="954234"/>
        </a:xfrm>
      </dgm:spPr>
      <dgm:t>
        <a:bodyPr/>
        <a:lstStyle/>
        <a:p>
          <a:pPr algn="ctr">
            <a:buNone/>
          </a:pPr>
          <a:r>
            <a:rPr lang="en-IN" sz="1600" b="1"/>
            <a:t>Input 3D Medical </a:t>
          </a:r>
          <a:endParaRPr lang="en-IN" sz="1600" dirty="0">
            <a:latin typeface="Calibri" panose="020F0502020204030204"/>
            <a:ea typeface="+mn-ea"/>
            <a:cs typeface="+mn-cs"/>
          </a:endParaRPr>
        </a:p>
      </dgm:t>
    </dgm:pt>
    <dgm:pt modelId="{21D268C0-9705-480F-A8C3-9E68C2C180E2}" type="parTrans" cxnId="{6314795E-0C18-4D30-A0E6-77F50C2A7738}">
      <dgm:prSet/>
      <dgm:spPr/>
      <dgm:t>
        <a:bodyPr/>
        <a:lstStyle/>
        <a:p>
          <a:pPr algn="ctr"/>
          <a:endParaRPr lang="en-IN"/>
        </a:p>
      </dgm:t>
    </dgm:pt>
    <dgm:pt modelId="{8D8DF4DF-485B-4E48-949B-40FB96D3C961}" type="sibTrans" cxnId="{6314795E-0C18-4D30-A0E6-77F50C2A7738}">
      <dgm:prSet/>
      <dgm:spPr/>
      <dgm:t>
        <a:bodyPr/>
        <a:lstStyle/>
        <a:p>
          <a:pPr algn="ctr"/>
          <a:endParaRPr lang="en-IN"/>
        </a:p>
      </dgm:t>
    </dgm:pt>
    <dgm:pt modelId="{71D74DC8-33F0-42BF-915E-6AFAD90648D7}">
      <dgm:prSet phldrT="[Text]" custT="1"/>
      <dgm:spPr>
        <a:xfrm rot="10800000">
          <a:off x="0" y="947033"/>
          <a:ext cx="3098165" cy="954234"/>
        </a:xfrm>
      </dgm:spPr>
      <dgm:t>
        <a:bodyPr/>
        <a:lstStyle/>
        <a:p>
          <a:pPr algn="ctr">
            <a:buNone/>
          </a:pPr>
          <a:r>
            <a:rPr lang="en-IN" sz="1600">
              <a:latin typeface="Calibri" panose="020F0502020204030204"/>
              <a:ea typeface="+mn-ea"/>
              <a:cs typeface="+mn-cs"/>
            </a:rPr>
            <a:t>Pre - Processing</a:t>
          </a:r>
          <a:endParaRPr lang="en-IN" sz="1600" dirty="0">
            <a:latin typeface="Calibri" panose="020F0502020204030204"/>
            <a:ea typeface="+mn-ea"/>
            <a:cs typeface="+mn-cs"/>
          </a:endParaRPr>
        </a:p>
      </dgm:t>
    </dgm:pt>
    <dgm:pt modelId="{26F55AC4-3099-42F4-B82A-DF7F2BE6A17E}" type="parTrans" cxnId="{FA80293A-CDD9-4300-812C-50672F15709D}">
      <dgm:prSet/>
      <dgm:spPr/>
      <dgm:t>
        <a:bodyPr/>
        <a:lstStyle/>
        <a:p>
          <a:pPr algn="ctr"/>
          <a:endParaRPr lang="en-IN"/>
        </a:p>
      </dgm:t>
    </dgm:pt>
    <dgm:pt modelId="{AAE6B3E8-1840-4B33-B147-8FAC83694364}" type="sibTrans" cxnId="{FA80293A-CDD9-4300-812C-50672F15709D}">
      <dgm:prSet/>
      <dgm:spPr/>
      <dgm:t>
        <a:bodyPr/>
        <a:lstStyle/>
        <a:p>
          <a:pPr algn="ctr"/>
          <a:endParaRPr lang="en-IN"/>
        </a:p>
      </dgm:t>
    </dgm:pt>
    <dgm:pt modelId="{17D4CD85-6E76-41E4-BC16-95885F7F0A4B}">
      <dgm:prSet phldrT="[Text]"/>
      <dgm:spPr>
        <a:xfrm>
          <a:off x="0" y="1281969"/>
          <a:ext cx="1549082" cy="285316"/>
        </a:xfrm>
      </dgm:spPr>
      <dgm:t>
        <a:bodyPr/>
        <a:lstStyle/>
        <a:p>
          <a:pPr algn="ctr">
            <a:buNone/>
          </a:pPr>
          <a:r>
            <a:rPr lang="en-IN">
              <a:latin typeface="Calibri" panose="020F0502020204030204"/>
              <a:ea typeface="+mn-ea"/>
              <a:cs typeface="+mn-cs"/>
            </a:rPr>
            <a:t>Image Resizing</a:t>
          </a:r>
          <a:endParaRPr lang="en-IN" dirty="0">
            <a:latin typeface="Calibri" panose="020F0502020204030204"/>
            <a:ea typeface="+mn-ea"/>
            <a:cs typeface="+mn-cs"/>
          </a:endParaRPr>
        </a:p>
      </dgm:t>
    </dgm:pt>
    <dgm:pt modelId="{D7601120-F35E-4C39-BB3D-E1A6FE1806D2}" type="parTrans" cxnId="{5545C67F-E060-4D30-9D51-6E7F74054BFF}">
      <dgm:prSet/>
      <dgm:spPr/>
      <dgm:t>
        <a:bodyPr/>
        <a:lstStyle/>
        <a:p>
          <a:pPr algn="ctr"/>
          <a:endParaRPr lang="en-IN"/>
        </a:p>
      </dgm:t>
    </dgm:pt>
    <dgm:pt modelId="{E3EDF1ED-3A15-4842-A5D2-27E46DE534FC}" type="sibTrans" cxnId="{5545C67F-E060-4D30-9D51-6E7F74054BFF}">
      <dgm:prSet/>
      <dgm:spPr/>
      <dgm:t>
        <a:bodyPr/>
        <a:lstStyle/>
        <a:p>
          <a:pPr algn="ctr"/>
          <a:endParaRPr lang="en-IN"/>
        </a:p>
      </dgm:t>
    </dgm:pt>
    <dgm:pt modelId="{18173DBB-35E0-4755-9217-4F26DD009828}">
      <dgm:prSet phldrT="[Text]"/>
      <dgm:spPr>
        <a:xfrm>
          <a:off x="1549082" y="1281969"/>
          <a:ext cx="1549082" cy="285316"/>
        </a:xfrm>
      </dgm:spPr>
      <dgm:t>
        <a:bodyPr/>
        <a:lstStyle/>
        <a:p>
          <a:pPr algn="ctr">
            <a:buNone/>
          </a:pPr>
          <a:r>
            <a:rPr lang="en-IN">
              <a:latin typeface="Calibri" panose="020F0502020204030204"/>
              <a:ea typeface="+mn-ea"/>
              <a:cs typeface="+mn-cs"/>
            </a:rPr>
            <a:t>Normalization</a:t>
          </a:r>
          <a:endParaRPr lang="en-IN" dirty="0">
            <a:latin typeface="Calibri" panose="020F0502020204030204"/>
            <a:ea typeface="+mn-ea"/>
            <a:cs typeface="+mn-cs"/>
          </a:endParaRPr>
        </a:p>
      </dgm:t>
    </dgm:pt>
    <dgm:pt modelId="{04497C3E-65E6-4B45-A53D-854ED8F30703}" type="parTrans" cxnId="{19C6C587-2831-4096-9535-6A54BDB8A23E}">
      <dgm:prSet/>
      <dgm:spPr/>
      <dgm:t>
        <a:bodyPr/>
        <a:lstStyle/>
        <a:p>
          <a:pPr algn="ctr"/>
          <a:endParaRPr lang="en-IN"/>
        </a:p>
      </dgm:t>
    </dgm:pt>
    <dgm:pt modelId="{2ED58247-C8DC-4569-BF2E-5D49ACB45D10}" type="sibTrans" cxnId="{19C6C587-2831-4096-9535-6A54BDB8A23E}">
      <dgm:prSet/>
      <dgm:spPr/>
      <dgm:t>
        <a:bodyPr/>
        <a:lstStyle/>
        <a:p>
          <a:pPr algn="ctr"/>
          <a:endParaRPr lang="en-IN"/>
        </a:p>
      </dgm:t>
    </dgm:pt>
    <dgm:pt modelId="{322F7058-89F6-4D25-858F-0D11DF0A1059}">
      <dgm:prSet/>
      <dgm:spPr/>
      <dgm:t>
        <a:bodyPr/>
        <a:lstStyle/>
        <a:p>
          <a:pPr>
            <a:lnSpc>
              <a:spcPct val="100000"/>
            </a:lnSpc>
          </a:pPr>
          <a:r>
            <a:rPr lang="en-IN" dirty="0"/>
            <a:t>3D-to-2D Slice Conversion</a:t>
          </a:r>
        </a:p>
      </dgm:t>
    </dgm:pt>
    <dgm:pt modelId="{19F6DF71-19E7-4A62-AA64-216E00710F27}" type="parTrans" cxnId="{82C6BB51-3B35-4D60-B7CE-9F36C56D3EA1}">
      <dgm:prSet/>
      <dgm:spPr/>
      <dgm:t>
        <a:bodyPr/>
        <a:lstStyle/>
        <a:p>
          <a:endParaRPr lang="en-IN"/>
        </a:p>
      </dgm:t>
    </dgm:pt>
    <dgm:pt modelId="{FAC80183-20F5-4ABA-AEE7-5C5B6E6E9C9F}" type="sibTrans" cxnId="{82C6BB51-3B35-4D60-B7CE-9F36C56D3EA1}">
      <dgm:prSet/>
      <dgm:spPr/>
      <dgm:t>
        <a:bodyPr/>
        <a:lstStyle/>
        <a:p>
          <a:endParaRPr lang="en-IN"/>
        </a:p>
      </dgm:t>
    </dgm:pt>
    <dgm:pt modelId="{7C336DE3-92BE-414B-BE79-3DB298A8ECF2}">
      <dgm:prSet phldrT="[Text]" custT="1"/>
      <dgm:spPr>
        <a:xfrm rot="10800000">
          <a:off x="0" y="1891960"/>
          <a:ext cx="3098165" cy="954234"/>
        </a:xfrm>
      </dgm:spPr>
      <dgm:t>
        <a:bodyPr/>
        <a:lstStyle/>
        <a:p>
          <a:pPr algn="ctr">
            <a:buNone/>
          </a:pPr>
          <a:r>
            <a:rPr lang="en-IN" sz="1600">
              <a:latin typeface="Calibri" panose="020F0502020204030204"/>
              <a:ea typeface="+mn-ea"/>
              <a:cs typeface="+mn-cs"/>
            </a:rPr>
            <a:t>Data Augmentation</a:t>
          </a:r>
          <a:endParaRPr lang="en-IN" sz="1600" dirty="0">
            <a:latin typeface="Calibri" panose="020F0502020204030204"/>
            <a:ea typeface="+mn-ea"/>
            <a:cs typeface="+mn-cs"/>
          </a:endParaRPr>
        </a:p>
      </dgm:t>
    </dgm:pt>
    <dgm:pt modelId="{D4713B9A-6334-417F-ADA4-F8206F466322}" type="parTrans" cxnId="{21CEAF5B-DF97-4FA1-8B7F-0FBAA3EE9A0C}">
      <dgm:prSet/>
      <dgm:spPr/>
      <dgm:t>
        <a:bodyPr/>
        <a:lstStyle/>
        <a:p>
          <a:pPr algn="ctr"/>
          <a:endParaRPr lang="en-IN"/>
        </a:p>
      </dgm:t>
    </dgm:pt>
    <dgm:pt modelId="{3AB84B9B-4273-42EE-8ACB-94F1AE8A1FF1}" type="sibTrans" cxnId="{21CEAF5B-DF97-4FA1-8B7F-0FBAA3EE9A0C}">
      <dgm:prSet/>
      <dgm:spPr/>
      <dgm:t>
        <a:bodyPr/>
        <a:lstStyle/>
        <a:p>
          <a:pPr algn="ctr"/>
          <a:endParaRPr lang="en-IN"/>
        </a:p>
      </dgm:t>
    </dgm:pt>
    <dgm:pt modelId="{0EC1F241-32AD-4AD4-9AA7-FCD1A9E386E7}">
      <dgm:prSet phldrT="[Text]"/>
      <dgm:spPr>
        <a:xfrm>
          <a:off x="0" y="2226897"/>
          <a:ext cx="3098165" cy="285316"/>
        </a:xfrm>
      </dgm:spPr>
      <dgm:t>
        <a:bodyPr/>
        <a:lstStyle/>
        <a:p>
          <a:pPr algn="ctr">
            <a:buNone/>
          </a:pPr>
          <a:r>
            <a:rPr lang="en-IN">
              <a:latin typeface="Calibri" panose="020F0502020204030204"/>
              <a:ea typeface="+mn-ea"/>
              <a:cs typeface="+mn-cs"/>
            </a:rPr>
            <a:t>Cyclic Augmentation</a:t>
          </a:r>
          <a:endParaRPr lang="en-IN" dirty="0">
            <a:latin typeface="Calibri" panose="020F0502020204030204"/>
            <a:ea typeface="+mn-ea"/>
            <a:cs typeface="+mn-cs"/>
          </a:endParaRPr>
        </a:p>
      </dgm:t>
    </dgm:pt>
    <dgm:pt modelId="{2192D6EC-6358-4FB7-9536-73129A863AA9}" type="parTrans" cxnId="{0F98947C-6F68-4EFB-8DC8-C49F0F2F9354}">
      <dgm:prSet/>
      <dgm:spPr/>
      <dgm:t>
        <a:bodyPr/>
        <a:lstStyle/>
        <a:p>
          <a:pPr algn="ctr"/>
          <a:endParaRPr lang="en-IN"/>
        </a:p>
      </dgm:t>
    </dgm:pt>
    <dgm:pt modelId="{0EC2CE75-69C0-4030-931A-49B2ACF00144}" type="sibTrans" cxnId="{0F98947C-6F68-4EFB-8DC8-C49F0F2F9354}">
      <dgm:prSet/>
      <dgm:spPr/>
      <dgm:t>
        <a:bodyPr/>
        <a:lstStyle/>
        <a:p>
          <a:pPr algn="ctr"/>
          <a:endParaRPr lang="en-IN"/>
        </a:p>
      </dgm:t>
    </dgm:pt>
    <dgm:pt modelId="{2B94805E-2D3C-438F-AB75-CAB89694C22F}">
      <dgm:prSet/>
      <dgm:spPr/>
      <dgm:t>
        <a:bodyPr/>
        <a:lstStyle/>
        <a:p>
          <a:pPr>
            <a:lnSpc>
              <a:spcPct val="100000"/>
            </a:lnSpc>
          </a:pPr>
          <a:r>
            <a:rPr lang="en-IN" dirty="0"/>
            <a:t>Intensity Level Regularization</a:t>
          </a:r>
        </a:p>
      </dgm:t>
    </dgm:pt>
    <dgm:pt modelId="{E5C9AB5D-6D64-4F44-A4AE-E9AAB461B0A0}" type="parTrans" cxnId="{63D46520-7E6E-494D-9703-1AEB1C93D6A9}">
      <dgm:prSet/>
      <dgm:spPr/>
      <dgm:t>
        <a:bodyPr/>
        <a:lstStyle/>
        <a:p>
          <a:endParaRPr lang="en-IN"/>
        </a:p>
      </dgm:t>
    </dgm:pt>
    <dgm:pt modelId="{43D4AEBC-585C-487F-A816-C2A7B30A23C3}" type="sibTrans" cxnId="{63D46520-7E6E-494D-9703-1AEB1C93D6A9}">
      <dgm:prSet/>
      <dgm:spPr/>
      <dgm:t>
        <a:bodyPr/>
        <a:lstStyle/>
        <a:p>
          <a:endParaRPr lang="en-IN"/>
        </a:p>
      </dgm:t>
    </dgm:pt>
    <dgm:pt modelId="{C9847409-0817-4DC1-8DDD-F52A0F2E9EA6}">
      <dgm:prSet phldrT="[Text]" custT="1"/>
      <dgm:spPr>
        <a:xfrm rot="10800000">
          <a:off x="0" y="2836888"/>
          <a:ext cx="3098165" cy="954234"/>
        </a:xfrm>
      </dgm:spPr>
      <dgm:t>
        <a:bodyPr/>
        <a:lstStyle/>
        <a:p>
          <a:pPr algn="ctr">
            <a:buNone/>
          </a:pPr>
          <a:r>
            <a:rPr lang="en-IN" sz="1600">
              <a:latin typeface="Calibri" panose="020F0502020204030204"/>
              <a:ea typeface="+mn-ea"/>
              <a:cs typeface="+mn-cs"/>
            </a:rPr>
            <a:t>Feature Extraction (Encoder)</a:t>
          </a:r>
          <a:endParaRPr lang="en-IN" sz="1600" dirty="0">
            <a:latin typeface="Calibri" panose="020F0502020204030204"/>
            <a:ea typeface="+mn-ea"/>
            <a:cs typeface="+mn-cs"/>
          </a:endParaRPr>
        </a:p>
      </dgm:t>
    </dgm:pt>
    <dgm:pt modelId="{36B47FD9-2B08-4BDB-959D-B954BB55CCF0}" type="parTrans" cxnId="{DC138D8F-331B-40E9-B04B-1FD94263C22E}">
      <dgm:prSet/>
      <dgm:spPr/>
      <dgm:t>
        <a:bodyPr/>
        <a:lstStyle/>
        <a:p>
          <a:pPr algn="ctr"/>
          <a:endParaRPr lang="en-IN"/>
        </a:p>
      </dgm:t>
    </dgm:pt>
    <dgm:pt modelId="{9E5C3743-2BD0-4034-B85D-8B187C6F49F2}" type="sibTrans" cxnId="{DC138D8F-331B-40E9-B04B-1FD94263C22E}">
      <dgm:prSet/>
      <dgm:spPr/>
      <dgm:t>
        <a:bodyPr/>
        <a:lstStyle/>
        <a:p>
          <a:pPr algn="ctr"/>
          <a:endParaRPr lang="en-IN"/>
        </a:p>
      </dgm:t>
    </dgm:pt>
    <dgm:pt modelId="{D5C29DB1-9711-43D6-BC76-864DBF0E460C}">
      <dgm:prSet phldrT="[Text]"/>
      <dgm:spPr>
        <a:xfrm>
          <a:off x="0" y="3168894"/>
          <a:ext cx="3098165" cy="285316"/>
        </a:xfrm>
      </dgm:spPr>
      <dgm:t>
        <a:bodyPr/>
        <a:lstStyle/>
        <a:p>
          <a:pPr algn="ctr">
            <a:buNone/>
          </a:pPr>
          <a:r>
            <a:rPr lang="en-IN">
              <a:latin typeface="Calibri" panose="020F0502020204030204"/>
              <a:ea typeface="+mn-ea"/>
              <a:cs typeface="+mn-cs"/>
            </a:rPr>
            <a:t>ResNet3D-50 Backbone</a:t>
          </a:r>
          <a:endParaRPr lang="en-IN" dirty="0">
            <a:latin typeface="Calibri" panose="020F0502020204030204"/>
            <a:ea typeface="+mn-ea"/>
            <a:cs typeface="+mn-cs"/>
          </a:endParaRPr>
        </a:p>
      </dgm:t>
    </dgm:pt>
    <dgm:pt modelId="{867A5981-BCF6-43B3-A911-EC888F307F23}" type="parTrans" cxnId="{25547395-C234-4716-9AC5-9E62F4094282}">
      <dgm:prSet/>
      <dgm:spPr/>
      <dgm:t>
        <a:bodyPr/>
        <a:lstStyle/>
        <a:p>
          <a:pPr algn="ctr"/>
          <a:endParaRPr lang="en-IN"/>
        </a:p>
      </dgm:t>
    </dgm:pt>
    <dgm:pt modelId="{10840A40-5A4E-462C-A37B-E5B0D19F2F4D}" type="sibTrans" cxnId="{25547395-C234-4716-9AC5-9E62F4094282}">
      <dgm:prSet/>
      <dgm:spPr/>
      <dgm:t>
        <a:bodyPr/>
        <a:lstStyle/>
        <a:p>
          <a:pPr algn="ctr"/>
          <a:endParaRPr lang="en-IN"/>
        </a:p>
      </dgm:t>
    </dgm:pt>
    <dgm:pt modelId="{D5FFF8E4-A2B1-45D7-B06F-96192E3BBC03}">
      <dgm:prSet/>
      <dgm:spPr/>
      <dgm:t>
        <a:bodyPr/>
        <a:lstStyle/>
        <a:p>
          <a:pPr>
            <a:lnSpc>
              <a:spcPct val="100000"/>
            </a:lnSpc>
          </a:pPr>
          <a:r>
            <a:rPr lang="en-IN" dirty="0"/>
            <a:t>Transformer-Aware Attention Module</a:t>
          </a:r>
        </a:p>
      </dgm:t>
    </dgm:pt>
    <dgm:pt modelId="{8213D69F-70F7-41B9-B891-BDED5221E560}" type="parTrans" cxnId="{67D39604-F61A-4722-B874-0BDB5A7D16A5}">
      <dgm:prSet/>
      <dgm:spPr/>
      <dgm:t>
        <a:bodyPr/>
        <a:lstStyle/>
        <a:p>
          <a:endParaRPr lang="en-IN"/>
        </a:p>
      </dgm:t>
    </dgm:pt>
    <dgm:pt modelId="{E67B2E23-307C-4DC7-9A4A-2E63EBA26474}" type="sibTrans" cxnId="{67D39604-F61A-4722-B874-0BDB5A7D16A5}">
      <dgm:prSet/>
      <dgm:spPr/>
      <dgm:t>
        <a:bodyPr/>
        <a:lstStyle/>
        <a:p>
          <a:endParaRPr lang="en-IN"/>
        </a:p>
      </dgm:t>
    </dgm:pt>
    <dgm:pt modelId="{E9E19069-FE12-475C-89AA-0797803E7A35}">
      <dgm:prSet phldrT="[Text]" custT="1"/>
      <dgm:spPr>
        <a:xfrm>
          <a:off x="0" y="3781816"/>
          <a:ext cx="3098165" cy="620438"/>
        </a:xfrm>
      </dgm:spPr>
      <dgm:t>
        <a:bodyPr/>
        <a:lstStyle/>
        <a:p>
          <a:pPr algn="ctr">
            <a:buNone/>
          </a:pPr>
          <a:r>
            <a:rPr lang="en-IN" sz="1600">
              <a:latin typeface="Calibri" panose="020F0502020204030204"/>
              <a:ea typeface="+mn-ea"/>
              <a:cs typeface="+mn-cs"/>
            </a:rPr>
            <a:t>Classification Network</a:t>
          </a:r>
          <a:endParaRPr lang="en-IN" sz="1600" dirty="0">
            <a:latin typeface="Calibri" panose="020F0502020204030204"/>
            <a:ea typeface="+mn-ea"/>
            <a:cs typeface="+mn-cs"/>
          </a:endParaRPr>
        </a:p>
      </dgm:t>
    </dgm:pt>
    <dgm:pt modelId="{7A61C48D-9EC5-4292-ACC0-C6A6A52D9F47}" type="parTrans" cxnId="{AE53EFFB-A116-422A-AC80-F3F76EC5C487}">
      <dgm:prSet/>
      <dgm:spPr/>
      <dgm:t>
        <a:bodyPr/>
        <a:lstStyle/>
        <a:p>
          <a:pPr algn="ctr"/>
          <a:endParaRPr lang="en-IN"/>
        </a:p>
      </dgm:t>
    </dgm:pt>
    <dgm:pt modelId="{50A09473-8513-483C-9D23-0A63239E7F83}" type="sibTrans" cxnId="{AE53EFFB-A116-422A-AC80-F3F76EC5C487}">
      <dgm:prSet/>
      <dgm:spPr/>
      <dgm:t>
        <a:bodyPr/>
        <a:lstStyle/>
        <a:p>
          <a:pPr algn="ctr"/>
          <a:endParaRPr lang="en-IN"/>
        </a:p>
      </dgm:t>
    </dgm:pt>
    <dgm:pt modelId="{059BB6B2-6786-48E6-872A-6AF1FBE1410A}">
      <dgm:prSet phldrT="[Text]"/>
      <dgm:spPr>
        <a:xfrm>
          <a:off x="378" y="4104444"/>
          <a:ext cx="619481" cy="285401"/>
        </a:xfrm>
      </dgm:spPr>
      <dgm:t>
        <a:bodyPr/>
        <a:lstStyle/>
        <a:p>
          <a:pPr algn="ctr">
            <a:buNone/>
          </a:pPr>
          <a:r>
            <a:rPr lang="en-IN">
              <a:latin typeface="Calibri" panose="020F0502020204030204"/>
              <a:ea typeface="+mn-ea"/>
              <a:cs typeface="+mn-cs"/>
            </a:rPr>
            <a:t>Global Average Pooling(GAP)</a:t>
          </a:r>
          <a:endParaRPr lang="en-IN" dirty="0">
            <a:latin typeface="Calibri" panose="020F0502020204030204"/>
            <a:ea typeface="+mn-ea"/>
            <a:cs typeface="+mn-cs"/>
          </a:endParaRPr>
        </a:p>
      </dgm:t>
    </dgm:pt>
    <dgm:pt modelId="{30E9CC8E-B67E-4867-8C75-0377E3CBD35C}" type="parTrans" cxnId="{03173F63-09BE-44A8-8E55-C494FB82F5E4}">
      <dgm:prSet/>
      <dgm:spPr/>
      <dgm:t>
        <a:bodyPr/>
        <a:lstStyle/>
        <a:p>
          <a:pPr algn="ctr"/>
          <a:endParaRPr lang="en-IN"/>
        </a:p>
      </dgm:t>
    </dgm:pt>
    <dgm:pt modelId="{84E00920-CC1F-4A0E-B650-6424CAAA7FC5}" type="sibTrans" cxnId="{03173F63-09BE-44A8-8E55-C494FB82F5E4}">
      <dgm:prSet/>
      <dgm:spPr/>
      <dgm:t>
        <a:bodyPr/>
        <a:lstStyle/>
        <a:p>
          <a:pPr algn="ctr"/>
          <a:endParaRPr lang="en-IN"/>
        </a:p>
      </dgm:t>
    </dgm:pt>
    <dgm:pt modelId="{CCEA1D9A-EFD8-45A9-9846-305708EF3C6C}">
      <dgm:prSet/>
      <dgm:spPr/>
      <dgm:t>
        <a:bodyPr/>
        <a:lstStyle/>
        <a:p>
          <a:pPr>
            <a:lnSpc>
              <a:spcPct val="100000"/>
            </a:lnSpc>
          </a:pPr>
          <a:r>
            <a:rPr lang="en-IN"/>
            <a:t>Output</a:t>
          </a:r>
          <a:endParaRPr lang="en-IN" dirty="0"/>
        </a:p>
      </dgm:t>
    </dgm:pt>
    <dgm:pt modelId="{1AE75EC0-1C00-4789-869C-A4A0DA04F74C}" type="parTrans" cxnId="{5BB5ECEB-74EC-4E96-A26C-5EF94AB28C16}">
      <dgm:prSet/>
      <dgm:spPr/>
      <dgm:t>
        <a:bodyPr/>
        <a:lstStyle/>
        <a:p>
          <a:endParaRPr lang="en-IN"/>
        </a:p>
      </dgm:t>
    </dgm:pt>
    <dgm:pt modelId="{B5C330E3-8AFC-436F-B881-CC336673F3C7}" type="sibTrans" cxnId="{5BB5ECEB-74EC-4E96-A26C-5EF94AB28C16}">
      <dgm:prSet/>
      <dgm:spPr/>
      <dgm:t>
        <a:bodyPr/>
        <a:lstStyle/>
        <a:p>
          <a:endParaRPr lang="en-IN"/>
        </a:p>
      </dgm:t>
    </dgm:pt>
    <dgm:pt modelId="{16505F33-ECAA-454E-8793-AE0DE506E4D1}">
      <dgm:prSet/>
      <dgm:spPr/>
      <dgm:t>
        <a:bodyPr/>
        <a:lstStyle/>
        <a:p>
          <a:pPr>
            <a:lnSpc>
              <a:spcPct val="100000"/>
            </a:lnSpc>
          </a:pPr>
          <a:r>
            <a:rPr lang="en-IN"/>
            <a:t>Brightness/Contrast Adjustments</a:t>
          </a:r>
          <a:endParaRPr lang="en-IN" dirty="0"/>
        </a:p>
      </dgm:t>
    </dgm:pt>
    <dgm:pt modelId="{49663206-828E-4252-9990-04923260B1BD}" type="parTrans" cxnId="{EF91D13D-CB49-4135-85C1-70D1EF7F4BAC}">
      <dgm:prSet/>
      <dgm:spPr/>
      <dgm:t>
        <a:bodyPr/>
        <a:lstStyle/>
        <a:p>
          <a:endParaRPr lang="en-US"/>
        </a:p>
      </dgm:t>
    </dgm:pt>
    <dgm:pt modelId="{0D27961F-9B7D-4355-BBDD-8016DD4B5949}" type="sibTrans" cxnId="{EF91D13D-CB49-4135-85C1-70D1EF7F4BAC}">
      <dgm:prSet/>
      <dgm:spPr/>
      <dgm:t>
        <a:bodyPr/>
        <a:lstStyle/>
        <a:p>
          <a:endParaRPr lang="en-US"/>
        </a:p>
      </dgm:t>
    </dgm:pt>
    <dgm:pt modelId="{D233D8EF-121A-4518-A6EC-7BFC8CB75837}">
      <dgm:prSet/>
      <dgm:spPr/>
      <dgm:t>
        <a:bodyPr/>
        <a:lstStyle/>
        <a:p>
          <a:pPr>
            <a:lnSpc>
              <a:spcPct val="100000"/>
            </a:lnSpc>
          </a:pPr>
          <a:r>
            <a:rPr lang="en-IN"/>
            <a:t>Volumetric Feature Extraction</a:t>
          </a:r>
          <a:endParaRPr lang="en-IN" dirty="0"/>
        </a:p>
      </dgm:t>
    </dgm:pt>
    <dgm:pt modelId="{CA35494A-ADA7-47AE-856A-531F0816CD23}" type="parTrans" cxnId="{EE375351-8D5B-46BA-BFC0-3B2FA33F1B5E}">
      <dgm:prSet/>
      <dgm:spPr/>
      <dgm:t>
        <a:bodyPr/>
        <a:lstStyle/>
        <a:p>
          <a:endParaRPr lang="en-US"/>
        </a:p>
      </dgm:t>
    </dgm:pt>
    <dgm:pt modelId="{EFBF0743-0FC5-491B-A327-7CC841B58A9F}" type="sibTrans" cxnId="{EE375351-8D5B-46BA-BFC0-3B2FA33F1B5E}">
      <dgm:prSet/>
      <dgm:spPr/>
      <dgm:t>
        <a:bodyPr/>
        <a:lstStyle/>
        <a:p>
          <a:endParaRPr lang="en-US"/>
        </a:p>
      </dgm:t>
    </dgm:pt>
    <dgm:pt modelId="{6563A900-5A79-4654-855B-DD69A234A948}">
      <dgm:prSet phldrT="[Text]"/>
      <dgm:spPr>
        <a:xfrm>
          <a:off x="378" y="4104444"/>
          <a:ext cx="619481" cy="285401"/>
        </a:xfrm>
      </dgm:spPr>
      <dgm:t>
        <a:bodyPr/>
        <a:lstStyle/>
        <a:p>
          <a:pPr algn="ctr">
            <a:buNone/>
          </a:pPr>
          <a:r>
            <a:rPr lang="en-IN">
              <a:latin typeface="Calibri" panose="020F0502020204030204"/>
              <a:ea typeface="+mn-ea"/>
              <a:cs typeface="+mn-cs"/>
            </a:rPr>
            <a:t>Fully Connected Layer</a:t>
          </a:r>
          <a:endParaRPr lang="en-IN" dirty="0">
            <a:latin typeface="Calibri" panose="020F0502020204030204"/>
            <a:ea typeface="+mn-ea"/>
            <a:cs typeface="+mn-cs"/>
          </a:endParaRPr>
        </a:p>
      </dgm:t>
    </dgm:pt>
    <dgm:pt modelId="{412B786B-9815-4767-9C8E-2F4AD600DD0D}" type="parTrans" cxnId="{E8F8B3C9-BC72-4A5C-8BCC-7A9C732B3889}">
      <dgm:prSet/>
      <dgm:spPr/>
      <dgm:t>
        <a:bodyPr/>
        <a:lstStyle/>
        <a:p>
          <a:endParaRPr lang="en-US"/>
        </a:p>
      </dgm:t>
    </dgm:pt>
    <dgm:pt modelId="{96674F8A-889F-4EB7-94DE-E3D326B5EFD6}" type="sibTrans" cxnId="{E8F8B3C9-BC72-4A5C-8BCC-7A9C732B3889}">
      <dgm:prSet/>
      <dgm:spPr/>
      <dgm:t>
        <a:bodyPr/>
        <a:lstStyle/>
        <a:p>
          <a:endParaRPr lang="en-US"/>
        </a:p>
      </dgm:t>
    </dgm:pt>
    <dgm:pt modelId="{62928CD2-8BA9-410A-BFDA-EE6EF57ACA14}">
      <dgm:prSet phldrT="[Text]"/>
      <dgm:spPr>
        <a:xfrm>
          <a:off x="378" y="4104444"/>
          <a:ext cx="619481" cy="285401"/>
        </a:xfrm>
      </dgm:spPr>
      <dgm:t>
        <a:bodyPr/>
        <a:lstStyle/>
        <a:p>
          <a:pPr algn="ctr">
            <a:buNone/>
          </a:pPr>
          <a:r>
            <a:rPr lang="en-IN">
              <a:latin typeface="Calibri" panose="020F0502020204030204"/>
              <a:ea typeface="+mn-ea"/>
              <a:cs typeface="+mn-cs"/>
            </a:rPr>
            <a:t>Softmax Activation</a:t>
          </a:r>
          <a:endParaRPr lang="en-IN" dirty="0">
            <a:latin typeface="Calibri" panose="020F0502020204030204"/>
            <a:ea typeface="+mn-ea"/>
            <a:cs typeface="+mn-cs"/>
          </a:endParaRPr>
        </a:p>
      </dgm:t>
    </dgm:pt>
    <dgm:pt modelId="{0DEDB641-18D0-495A-8C0E-1EA61ECD1720}" type="parTrans" cxnId="{74A7C80E-A9D4-44D8-9E6C-4FCE0CBA5F41}">
      <dgm:prSet/>
      <dgm:spPr/>
      <dgm:t>
        <a:bodyPr/>
        <a:lstStyle/>
        <a:p>
          <a:endParaRPr lang="en-US"/>
        </a:p>
      </dgm:t>
    </dgm:pt>
    <dgm:pt modelId="{5361381D-FAA8-4AFE-84E8-D34D3268D1F0}" type="sibTrans" cxnId="{74A7C80E-A9D4-44D8-9E6C-4FCE0CBA5F41}">
      <dgm:prSet/>
      <dgm:spPr/>
      <dgm:t>
        <a:bodyPr/>
        <a:lstStyle/>
        <a:p>
          <a:endParaRPr lang="en-US"/>
        </a:p>
      </dgm:t>
    </dgm:pt>
    <dgm:pt modelId="{0237703D-DC3C-4136-B609-2D56AB41F58D}" type="pres">
      <dgm:prSet presAssocID="{61E54B32-75F3-4422-B93E-E4C0D8CD3E62}" presName="Name0" presStyleCnt="0">
        <dgm:presLayoutVars>
          <dgm:dir/>
          <dgm:animLvl val="lvl"/>
          <dgm:resizeHandles val="exact"/>
        </dgm:presLayoutVars>
      </dgm:prSet>
      <dgm:spPr/>
      <dgm:t>
        <a:bodyPr/>
        <a:lstStyle/>
        <a:p>
          <a:endParaRPr lang="en-US"/>
        </a:p>
      </dgm:t>
    </dgm:pt>
    <dgm:pt modelId="{ED7CCB8F-9FE5-41A0-9938-94EDCC28C3EA}" type="pres">
      <dgm:prSet presAssocID="{CCEA1D9A-EFD8-45A9-9846-305708EF3C6C}" presName="boxAndChildren" presStyleCnt="0"/>
      <dgm:spPr/>
    </dgm:pt>
    <dgm:pt modelId="{48B28AD9-F7BE-42B2-BDD4-E497B02F97A5}" type="pres">
      <dgm:prSet presAssocID="{CCEA1D9A-EFD8-45A9-9846-305708EF3C6C}" presName="parentTextBox" presStyleLbl="node1" presStyleIdx="0" presStyleCnt="6"/>
      <dgm:spPr/>
      <dgm:t>
        <a:bodyPr/>
        <a:lstStyle/>
        <a:p>
          <a:endParaRPr lang="en-US"/>
        </a:p>
      </dgm:t>
    </dgm:pt>
    <dgm:pt modelId="{6B85EA8A-57F4-4C10-842D-DBDFF4459466}" type="pres">
      <dgm:prSet presAssocID="{50A09473-8513-483C-9D23-0A63239E7F83}" presName="sp" presStyleCnt="0"/>
      <dgm:spPr/>
    </dgm:pt>
    <dgm:pt modelId="{84252DD3-D39E-4C40-BFCA-57A0102CFCB4}" type="pres">
      <dgm:prSet presAssocID="{E9E19069-FE12-475C-89AA-0797803E7A35}" presName="arrowAndChildren" presStyleCnt="0"/>
      <dgm:spPr/>
    </dgm:pt>
    <dgm:pt modelId="{EDB666FD-BBEC-4302-AC6F-2C2E6CD62A0E}" type="pres">
      <dgm:prSet presAssocID="{E9E19069-FE12-475C-89AA-0797803E7A35}" presName="parentTextArrow" presStyleLbl="node1" presStyleIdx="0" presStyleCnt="6"/>
      <dgm:spPr/>
      <dgm:t>
        <a:bodyPr/>
        <a:lstStyle/>
        <a:p>
          <a:endParaRPr lang="en-US"/>
        </a:p>
      </dgm:t>
    </dgm:pt>
    <dgm:pt modelId="{13FDF490-B91C-4CD6-8596-0A4AF589843C}" type="pres">
      <dgm:prSet presAssocID="{E9E19069-FE12-475C-89AA-0797803E7A35}" presName="arrow" presStyleLbl="node1" presStyleIdx="1" presStyleCnt="6"/>
      <dgm:spPr/>
      <dgm:t>
        <a:bodyPr/>
        <a:lstStyle/>
        <a:p>
          <a:endParaRPr lang="en-US"/>
        </a:p>
      </dgm:t>
    </dgm:pt>
    <dgm:pt modelId="{DEBA95E4-150D-43A0-B068-5CAF9597D7A3}" type="pres">
      <dgm:prSet presAssocID="{E9E19069-FE12-475C-89AA-0797803E7A35}" presName="descendantArrow" presStyleCnt="0"/>
      <dgm:spPr/>
    </dgm:pt>
    <dgm:pt modelId="{1703966E-4BBB-43E3-964F-93E9135FACF2}" type="pres">
      <dgm:prSet presAssocID="{059BB6B2-6786-48E6-872A-6AF1FBE1410A}" presName="childTextArrow" presStyleLbl="fgAccFollowNode1" presStyleIdx="0" presStyleCnt="12">
        <dgm:presLayoutVars>
          <dgm:bulletEnabled val="1"/>
        </dgm:presLayoutVars>
      </dgm:prSet>
      <dgm:spPr/>
      <dgm:t>
        <a:bodyPr/>
        <a:lstStyle/>
        <a:p>
          <a:endParaRPr lang="en-US"/>
        </a:p>
      </dgm:t>
    </dgm:pt>
    <dgm:pt modelId="{FD7BF822-FED9-4403-99F5-4D3858160725}" type="pres">
      <dgm:prSet presAssocID="{6563A900-5A79-4654-855B-DD69A234A948}" presName="childTextArrow" presStyleLbl="fgAccFollowNode1" presStyleIdx="1" presStyleCnt="12">
        <dgm:presLayoutVars>
          <dgm:bulletEnabled val="1"/>
        </dgm:presLayoutVars>
      </dgm:prSet>
      <dgm:spPr/>
      <dgm:t>
        <a:bodyPr/>
        <a:lstStyle/>
        <a:p>
          <a:endParaRPr lang="en-US"/>
        </a:p>
      </dgm:t>
    </dgm:pt>
    <dgm:pt modelId="{8A5D061A-598D-46B5-A394-F9E4832E367C}" type="pres">
      <dgm:prSet presAssocID="{62928CD2-8BA9-410A-BFDA-EE6EF57ACA14}" presName="childTextArrow" presStyleLbl="fgAccFollowNode1" presStyleIdx="2" presStyleCnt="12">
        <dgm:presLayoutVars>
          <dgm:bulletEnabled val="1"/>
        </dgm:presLayoutVars>
      </dgm:prSet>
      <dgm:spPr/>
      <dgm:t>
        <a:bodyPr/>
        <a:lstStyle/>
        <a:p>
          <a:endParaRPr lang="en-US"/>
        </a:p>
      </dgm:t>
    </dgm:pt>
    <dgm:pt modelId="{26A3938E-6676-4D21-85A6-09A372ECDE46}" type="pres">
      <dgm:prSet presAssocID="{9E5C3743-2BD0-4034-B85D-8B187C6F49F2}" presName="sp" presStyleCnt="0"/>
      <dgm:spPr/>
    </dgm:pt>
    <dgm:pt modelId="{DD6D9E77-E2C1-4C45-B1DA-D9E1D931E6F1}" type="pres">
      <dgm:prSet presAssocID="{C9847409-0817-4DC1-8DDD-F52A0F2E9EA6}" presName="arrowAndChildren" presStyleCnt="0"/>
      <dgm:spPr/>
    </dgm:pt>
    <dgm:pt modelId="{F8477690-4341-4D2E-80E6-A9FE71E7B985}" type="pres">
      <dgm:prSet presAssocID="{C9847409-0817-4DC1-8DDD-F52A0F2E9EA6}" presName="parentTextArrow" presStyleLbl="node1" presStyleIdx="1" presStyleCnt="6"/>
      <dgm:spPr/>
      <dgm:t>
        <a:bodyPr/>
        <a:lstStyle/>
        <a:p>
          <a:endParaRPr lang="en-US"/>
        </a:p>
      </dgm:t>
    </dgm:pt>
    <dgm:pt modelId="{8BE0FF32-B73D-45BE-8952-7B15D4DB300D}" type="pres">
      <dgm:prSet presAssocID="{C9847409-0817-4DC1-8DDD-F52A0F2E9EA6}" presName="arrow" presStyleLbl="node1" presStyleIdx="2" presStyleCnt="6"/>
      <dgm:spPr/>
      <dgm:t>
        <a:bodyPr/>
        <a:lstStyle/>
        <a:p>
          <a:endParaRPr lang="en-US"/>
        </a:p>
      </dgm:t>
    </dgm:pt>
    <dgm:pt modelId="{6D2D5889-B1DA-4150-ABAE-65C3EAE9FD4A}" type="pres">
      <dgm:prSet presAssocID="{C9847409-0817-4DC1-8DDD-F52A0F2E9EA6}" presName="descendantArrow" presStyleCnt="0"/>
      <dgm:spPr/>
    </dgm:pt>
    <dgm:pt modelId="{AEEAF0ED-782E-4247-8B61-2E72CB06E413}" type="pres">
      <dgm:prSet presAssocID="{D5C29DB1-9711-43D6-BC76-864DBF0E460C}" presName="childTextArrow" presStyleLbl="fgAccFollowNode1" presStyleIdx="3" presStyleCnt="12">
        <dgm:presLayoutVars>
          <dgm:bulletEnabled val="1"/>
        </dgm:presLayoutVars>
      </dgm:prSet>
      <dgm:spPr/>
      <dgm:t>
        <a:bodyPr/>
        <a:lstStyle/>
        <a:p>
          <a:endParaRPr lang="en-US"/>
        </a:p>
      </dgm:t>
    </dgm:pt>
    <dgm:pt modelId="{082BEA0F-B2D8-4D38-9560-2ADB4B7B9AA0}" type="pres">
      <dgm:prSet presAssocID="{D5FFF8E4-A2B1-45D7-B06F-96192E3BBC03}" presName="childTextArrow" presStyleLbl="fgAccFollowNode1" presStyleIdx="4" presStyleCnt="12">
        <dgm:presLayoutVars>
          <dgm:bulletEnabled val="1"/>
        </dgm:presLayoutVars>
      </dgm:prSet>
      <dgm:spPr/>
      <dgm:t>
        <a:bodyPr/>
        <a:lstStyle/>
        <a:p>
          <a:endParaRPr lang="en-US"/>
        </a:p>
      </dgm:t>
    </dgm:pt>
    <dgm:pt modelId="{611C14E2-C8BE-4723-8C11-05D9677E7F3A}" type="pres">
      <dgm:prSet presAssocID="{D233D8EF-121A-4518-A6EC-7BFC8CB75837}" presName="childTextArrow" presStyleLbl="fgAccFollowNode1" presStyleIdx="5" presStyleCnt="12">
        <dgm:presLayoutVars>
          <dgm:bulletEnabled val="1"/>
        </dgm:presLayoutVars>
      </dgm:prSet>
      <dgm:spPr/>
      <dgm:t>
        <a:bodyPr/>
        <a:lstStyle/>
        <a:p>
          <a:endParaRPr lang="en-US"/>
        </a:p>
      </dgm:t>
    </dgm:pt>
    <dgm:pt modelId="{9801F692-360D-4F99-AC4B-DA43DB9B6FFF}" type="pres">
      <dgm:prSet presAssocID="{3AB84B9B-4273-42EE-8ACB-94F1AE8A1FF1}" presName="sp" presStyleCnt="0"/>
      <dgm:spPr/>
    </dgm:pt>
    <dgm:pt modelId="{01BF8FF7-D416-43DB-8BD8-2DB66401E802}" type="pres">
      <dgm:prSet presAssocID="{7C336DE3-92BE-414B-BE79-3DB298A8ECF2}" presName="arrowAndChildren" presStyleCnt="0"/>
      <dgm:spPr/>
    </dgm:pt>
    <dgm:pt modelId="{7960D832-E168-4CD3-A5F5-28B1EC03238D}" type="pres">
      <dgm:prSet presAssocID="{7C336DE3-92BE-414B-BE79-3DB298A8ECF2}" presName="parentTextArrow" presStyleLbl="node1" presStyleIdx="2" presStyleCnt="6"/>
      <dgm:spPr/>
      <dgm:t>
        <a:bodyPr/>
        <a:lstStyle/>
        <a:p>
          <a:endParaRPr lang="en-US"/>
        </a:p>
      </dgm:t>
    </dgm:pt>
    <dgm:pt modelId="{68497000-2147-4EF5-8C98-70A451709E0D}" type="pres">
      <dgm:prSet presAssocID="{7C336DE3-92BE-414B-BE79-3DB298A8ECF2}" presName="arrow" presStyleLbl="node1" presStyleIdx="3" presStyleCnt="6"/>
      <dgm:spPr/>
      <dgm:t>
        <a:bodyPr/>
        <a:lstStyle/>
        <a:p>
          <a:endParaRPr lang="en-US"/>
        </a:p>
      </dgm:t>
    </dgm:pt>
    <dgm:pt modelId="{A6BFD764-B90E-4EF0-BC22-42D6B098777D}" type="pres">
      <dgm:prSet presAssocID="{7C336DE3-92BE-414B-BE79-3DB298A8ECF2}" presName="descendantArrow" presStyleCnt="0"/>
      <dgm:spPr/>
    </dgm:pt>
    <dgm:pt modelId="{A190CBB5-0450-4FDD-9FAA-7E67CCB4C828}" type="pres">
      <dgm:prSet presAssocID="{0EC1F241-32AD-4AD4-9AA7-FCD1A9E386E7}" presName="childTextArrow" presStyleLbl="fgAccFollowNode1" presStyleIdx="6" presStyleCnt="12">
        <dgm:presLayoutVars>
          <dgm:bulletEnabled val="1"/>
        </dgm:presLayoutVars>
      </dgm:prSet>
      <dgm:spPr/>
      <dgm:t>
        <a:bodyPr/>
        <a:lstStyle/>
        <a:p>
          <a:endParaRPr lang="en-US"/>
        </a:p>
      </dgm:t>
    </dgm:pt>
    <dgm:pt modelId="{80D6BD21-01B1-4CF3-9034-A72E8EF3B3B1}" type="pres">
      <dgm:prSet presAssocID="{2B94805E-2D3C-438F-AB75-CAB89694C22F}" presName="childTextArrow" presStyleLbl="fgAccFollowNode1" presStyleIdx="7" presStyleCnt="12">
        <dgm:presLayoutVars>
          <dgm:bulletEnabled val="1"/>
        </dgm:presLayoutVars>
      </dgm:prSet>
      <dgm:spPr/>
      <dgm:t>
        <a:bodyPr/>
        <a:lstStyle/>
        <a:p>
          <a:endParaRPr lang="en-US"/>
        </a:p>
      </dgm:t>
    </dgm:pt>
    <dgm:pt modelId="{D4D860A9-D2AD-4650-8521-6669BD17E151}" type="pres">
      <dgm:prSet presAssocID="{16505F33-ECAA-454E-8793-AE0DE506E4D1}" presName="childTextArrow" presStyleLbl="fgAccFollowNode1" presStyleIdx="8" presStyleCnt="12">
        <dgm:presLayoutVars>
          <dgm:bulletEnabled val="1"/>
        </dgm:presLayoutVars>
      </dgm:prSet>
      <dgm:spPr/>
      <dgm:t>
        <a:bodyPr/>
        <a:lstStyle/>
        <a:p>
          <a:endParaRPr lang="en-US"/>
        </a:p>
      </dgm:t>
    </dgm:pt>
    <dgm:pt modelId="{B96CF0B3-A1EA-43A8-AB5F-FC8E180C93FD}" type="pres">
      <dgm:prSet presAssocID="{AAE6B3E8-1840-4B33-B147-8FAC83694364}" presName="sp" presStyleCnt="0"/>
      <dgm:spPr/>
    </dgm:pt>
    <dgm:pt modelId="{2A77E336-61D4-4794-BEB6-FFEAAF472C3E}" type="pres">
      <dgm:prSet presAssocID="{71D74DC8-33F0-42BF-915E-6AFAD90648D7}" presName="arrowAndChildren" presStyleCnt="0"/>
      <dgm:spPr/>
    </dgm:pt>
    <dgm:pt modelId="{DD0F3B1E-2F8A-4F5A-AB8B-0A9F465089F3}" type="pres">
      <dgm:prSet presAssocID="{71D74DC8-33F0-42BF-915E-6AFAD90648D7}" presName="parentTextArrow" presStyleLbl="node1" presStyleIdx="3" presStyleCnt="6"/>
      <dgm:spPr/>
      <dgm:t>
        <a:bodyPr/>
        <a:lstStyle/>
        <a:p>
          <a:endParaRPr lang="en-US"/>
        </a:p>
      </dgm:t>
    </dgm:pt>
    <dgm:pt modelId="{415222FF-417E-4FC8-A342-C60AB3C92652}" type="pres">
      <dgm:prSet presAssocID="{71D74DC8-33F0-42BF-915E-6AFAD90648D7}" presName="arrow" presStyleLbl="node1" presStyleIdx="4" presStyleCnt="6"/>
      <dgm:spPr/>
      <dgm:t>
        <a:bodyPr/>
        <a:lstStyle/>
        <a:p>
          <a:endParaRPr lang="en-US"/>
        </a:p>
      </dgm:t>
    </dgm:pt>
    <dgm:pt modelId="{A948BE77-EEB6-4956-B31F-9E51658B8675}" type="pres">
      <dgm:prSet presAssocID="{71D74DC8-33F0-42BF-915E-6AFAD90648D7}" presName="descendantArrow" presStyleCnt="0"/>
      <dgm:spPr/>
    </dgm:pt>
    <dgm:pt modelId="{262B5A57-0E10-462F-8DD6-A18C277D6B26}" type="pres">
      <dgm:prSet presAssocID="{17D4CD85-6E76-41E4-BC16-95885F7F0A4B}" presName="childTextArrow" presStyleLbl="fgAccFollowNode1" presStyleIdx="9" presStyleCnt="12">
        <dgm:presLayoutVars>
          <dgm:bulletEnabled val="1"/>
        </dgm:presLayoutVars>
      </dgm:prSet>
      <dgm:spPr/>
      <dgm:t>
        <a:bodyPr/>
        <a:lstStyle/>
        <a:p>
          <a:endParaRPr lang="en-US"/>
        </a:p>
      </dgm:t>
    </dgm:pt>
    <dgm:pt modelId="{01A69043-C9F4-4F64-BBB1-A4C97F3E0F69}" type="pres">
      <dgm:prSet presAssocID="{18173DBB-35E0-4755-9217-4F26DD009828}" presName="childTextArrow" presStyleLbl="fgAccFollowNode1" presStyleIdx="10" presStyleCnt="12">
        <dgm:presLayoutVars>
          <dgm:bulletEnabled val="1"/>
        </dgm:presLayoutVars>
      </dgm:prSet>
      <dgm:spPr/>
      <dgm:t>
        <a:bodyPr/>
        <a:lstStyle/>
        <a:p>
          <a:endParaRPr lang="en-US"/>
        </a:p>
      </dgm:t>
    </dgm:pt>
    <dgm:pt modelId="{D06F81AF-3FD4-4EFB-9B2F-80D2E99D855C}" type="pres">
      <dgm:prSet presAssocID="{322F7058-89F6-4D25-858F-0D11DF0A1059}" presName="childTextArrow" presStyleLbl="fgAccFollowNode1" presStyleIdx="11" presStyleCnt="12">
        <dgm:presLayoutVars>
          <dgm:bulletEnabled val="1"/>
        </dgm:presLayoutVars>
      </dgm:prSet>
      <dgm:spPr/>
      <dgm:t>
        <a:bodyPr/>
        <a:lstStyle/>
        <a:p>
          <a:endParaRPr lang="en-US"/>
        </a:p>
      </dgm:t>
    </dgm:pt>
    <dgm:pt modelId="{3422AD21-0BDE-4E06-A545-C74370792B7D}" type="pres">
      <dgm:prSet presAssocID="{8D8DF4DF-485B-4E48-949B-40FB96D3C961}" presName="sp" presStyleCnt="0"/>
      <dgm:spPr/>
    </dgm:pt>
    <dgm:pt modelId="{7A7EFE2C-75D4-421F-8CE1-4483F69BFE27}" type="pres">
      <dgm:prSet presAssocID="{638CFFDC-33F1-46B2-880A-1F37914770B2}" presName="arrowAndChildren" presStyleCnt="0"/>
      <dgm:spPr/>
    </dgm:pt>
    <dgm:pt modelId="{1622A2FF-375E-4F0F-8324-1C759A961B89}" type="pres">
      <dgm:prSet presAssocID="{638CFFDC-33F1-46B2-880A-1F37914770B2}" presName="parentTextArrow" presStyleLbl="node1" presStyleIdx="5" presStyleCnt="6"/>
      <dgm:spPr/>
      <dgm:t>
        <a:bodyPr/>
        <a:lstStyle/>
        <a:p>
          <a:endParaRPr lang="en-US"/>
        </a:p>
      </dgm:t>
    </dgm:pt>
  </dgm:ptLst>
  <dgm:cxnLst>
    <dgm:cxn modelId="{AE53EFFB-A116-422A-AC80-F3F76EC5C487}" srcId="{61E54B32-75F3-4422-B93E-E4C0D8CD3E62}" destId="{E9E19069-FE12-475C-89AA-0797803E7A35}" srcOrd="4" destOrd="0" parTransId="{7A61C48D-9EC5-4292-ACC0-C6A6A52D9F47}" sibTransId="{50A09473-8513-483C-9D23-0A63239E7F83}"/>
    <dgm:cxn modelId="{B4FB69C5-E290-4315-B997-4BADDBC67D22}" type="presOf" srcId="{7C336DE3-92BE-414B-BE79-3DB298A8ECF2}" destId="{7960D832-E168-4CD3-A5F5-28B1EC03238D}" srcOrd="0" destOrd="0" presId="urn:microsoft.com/office/officeart/2005/8/layout/process4"/>
    <dgm:cxn modelId="{E8F8B3C9-BC72-4A5C-8BCC-7A9C732B3889}" srcId="{E9E19069-FE12-475C-89AA-0797803E7A35}" destId="{6563A900-5A79-4654-855B-DD69A234A948}" srcOrd="1" destOrd="0" parTransId="{412B786B-9815-4767-9C8E-2F4AD600DD0D}" sibTransId="{96674F8A-889F-4EB7-94DE-E3D326B5EFD6}"/>
    <dgm:cxn modelId="{03173F63-09BE-44A8-8E55-C494FB82F5E4}" srcId="{E9E19069-FE12-475C-89AA-0797803E7A35}" destId="{059BB6B2-6786-48E6-872A-6AF1FBE1410A}" srcOrd="0" destOrd="0" parTransId="{30E9CC8E-B67E-4867-8C75-0377E3CBD35C}" sibTransId="{84E00920-CC1F-4A0E-B650-6424CAAA7FC5}"/>
    <dgm:cxn modelId="{A729B8F1-56E7-45C2-AA21-DB87EE589F8C}" type="presOf" srcId="{7C336DE3-92BE-414B-BE79-3DB298A8ECF2}" destId="{68497000-2147-4EF5-8C98-70A451709E0D}" srcOrd="1" destOrd="0" presId="urn:microsoft.com/office/officeart/2005/8/layout/process4"/>
    <dgm:cxn modelId="{19C6C587-2831-4096-9535-6A54BDB8A23E}" srcId="{71D74DC8-33F0-42BF-915E-6AFAD90648D7}" destId="{18173DBB-35E0-4755-9217-4F26DD009828}" srcOrd="1" destOrd="0" parTransId="{04497C3E-65E6-4B45-A53D-854ED8F30703}" sibTransId="{2ED58247-C8DC-4569-BF2E-5D49ACB45D10}"/>
    <dgm:cxn modelId="{90619BCE-2F0E-4F71-99F4-5830B02840C2}" type="presOf" srcId="{16505F33-ECAA-454E-8793-AE0DE506E4D1}" destId="{D4D860A9-D2AD-4650-8521-6669BD17E151}" srcOrd="0" destOrd="0" presId="urn:microsoft.com/office/officeart/2005/8/layout/process4"/>
    <dgm:cxn modelId="{FC10C533-D5F7-4A68-BE57-46FC34AD82D2}" type="presOf" srcId="{18173DBB-35E0-4755-9217-4F26DD009828}" destId="{01A69043-C9F4-4F64-BBB1-A4C97F3E0F69}" srcOrd="0" destOrd="0" presId="urn:microsoft.com/office/officeart/2005/8/layout/process4"/>
    <dgm:cxn modelId="{EFC05018-4164-4E32-9CAD-6A1A2D32B15C}" type="presOf" srcId="{17D4CD85-6E76-41E4-BC16-95885F7F0A4B}" destId="{262B5A57-0E10-462F-8DD6-A18C277D6B26}" srcOrd="0" destOrd="0" presId="urn:microsoft.com/office/officeart/2005/8/layout/process4"/>
    <dgm:cxn modelId="{5BB5ECEB-74EC-4E96-A26C-5EF94AB28C16}" srcId="{61E54B32-75F3-4422-B93E-E4C0D8CD3E62}" destId="{CCEA1D9A-EFD8-45A9-9846-305708EF3C6C}" srcOrd="5" destOrd="0" parTransId="{1AE75EC0-1C00-4789-869C-A4A0DA04F74C}" sibTransId="{B5C330E3-8AFC-436F-B881-CC336673F3C7}"/>
    <dgm:cxn modelId="{21CEAF5B-DF97-4FA1-8B7F-0FBAA3EE9A0C}" srcId="{61E54B32-75F3-4422-B93E-E4C0D8CD3E62}" destId="{7C336DE3-92BE-414B-BE79-3DB298A8ECF2}" srcOrd="2" destOrd="0" parTransId="{D4713B9A-6334-417F-ADA4-F8206F466322}" sibTransId="{3AB84B9B-4273-42EE-8ACB-94F1AE8A1FF1}"/>
    <dgm:cxn modelId="{85418B2A-9CFC-44B1-8506-4F2D90C1B363}" type="presOf" srcId="{61E54B32-75F3-4422-B93E-E4C0D8CD3E62}" destId="{0237703D-DC3C-4136-B609-2D56AB41F58D}" srcOrd="0" destOrd="0" presId="urn:microsoft.com/office/officeart/2005/8/layout/process4"/>
    <dgm:cxn modelId="{6CE5F7AC-A8AA-47BA-B78B-C39ACF6ECF7C}" type="presOf" srcId="{71D74DC8-33F0-42BF-915E-6AFAD90648D7}" destId="{DD0F3B1E-2F8A-4F5A-AB8B-0A9F465089F3}" srcOrd="0" destOrd="0" presId="urn:microsoft.com/office/officeart/2005/8/layout/process4"/>
    <dgm:cxn modelId="{D7D99D54-0F36-437F-BAFA-75E4E7C3ED36}" type="presOf" srcId="{322F7058-89F6-4D25-858F-0D11DF0A1059}" destId="{D06F81AF-3FD4-4EFB-9B2F-80D2E99D855C}" srcOrd="0" destOrd="0" presId="urn:microsoft.com/office/officeart/2005/8/layout/process4"/>
    <dgm:cxn modelId="{0F98947C-6F68-4EFB-8DC8-C49F0F2F9354}" srcId="{7C336DE3-92BE-414B-BE79-3DB298A8ECF2}" destId="{0EC1F241-32AD-4AD4-9AA7-FCD1A9E386E7}" srcOrd="0" destOrd="0" parTransId="{2192D6EC-6358-4FB7-9536-73129A863AA9}" sibTransId="{0EC2CE75-69C0-4030-931A-49B2ACF00144}"/>
    <dgm:cxn modelId="{87BA1EAE-D904-419F-A77E-E486B4ECE5F1}" type="presOf" srcId="{62928CD2-8BA9-410A-BFDA-EE6EF57ACA14}" destId="{8A5D061A-598D-46B5-A394-F9E4832E367C}" srcOrd="0" destOrd="0" presId="urn:microsoft.com/office/officeart/2005/8/layout/process4"/>
    <dgm:cxn modelId="{37F73EFA-CB9C-4A45-B0CA-63F4B3680C8B}" type="presOf" srcId="{D5FFF8E4-A2B1-45D7-B06F-96192E3BBC03}" destId="{082BEA0F-B2D8-4D38-9560-2ADB4B7B9AA0}" srcOrd="0" destOrd="0" presId="urn:microsoft.com/office/officeart/2005/8/layout/process4"/>
    <dgm:cxn modelId="{7BFF770E-9719-4719-B050-BBDC498A4E53}" type="presOf" srcId="{CCEA1D9A-EFD8-45A9-9846-305708EF3C6C}" destId="{48B28AD9-F7BE-42B2-BDD4-E497B02F97A5}" srcOrd="0" destOrd="0" presId="urn:microsoft.com/office/officeart/2005/8/layout/process4"/>
    <dgm:cxn modelId="{EF91D13D-CB49-4135-85C1-70D1EF7F4BAC}" srcId="{7C336DE3-92BE-414B-BE79-3DB298A8ECF2}" destId="{16505F33-ECAA-454E-8793-AE0DE506E4D1}" srcOrd="2" destOrd="0" parTransId="{49663206-828E-4252-9990-04923260B1BD}" sibTransId="{0D27961F-9B7D-4355-BBDD-8016DD4B5949}"/>
    <dgm:cxn modelId="{2497F71A-B73E-4086-BFE3-FAC6B413F9BD}" type="presOf" srcId="{D233D8EF-121A-4518-A6EC-7BFC8CB75837}" destId="{611C14E2-C8BE-4723-8C11-05D9677E7F3A}" srcOrd="0" destOrd="0" presId="urn:microsoft.com/office/officeart/2005/8/layout/process4"/>
    <dgm:cxn modelId="{DC138D8F-331B-40E9-B04B-1FD94263C22E}" srcId="{61E54B32-75F3-4422-B93E-E4C0D8CD3E62}" destId="{C9847409-0817-4DC1-8DDD-F52A0F2E9EA6}" srcOrd="3" destOrd="0" parTransId="{36B47FD9-2B08-4BDB-959D-B954BB55CCF0}" sibTransId="{9E5C3743-2BD0-4034-B85D-8B187C6F49F2}"/>
    <dgm:cxn modelId="{5545C67F-E060-4D30-9D51-6E7F74054BFF}" srcId="{71D74DC8-33F0-42BF-915E-6AFAD90648D7}" destId="{17D4CD85-6E76-41E4-BC16-95885F7F0A4B}" srcOrd="0" destOrd="0" parTransId="{D7601120-F35E-4C39-BB3D-E1A6FE1806D2}" sibTransId="{E3EDF1ED-3A15-4842-A5D2-27E46DE534FC}"/>
    <dgm:cxn modelId="{53B073AE-8CDD-4BE7-91AD-24B0E093B4F1}" type="presOf" srcId="{D5C29DB1-9711-43D6-BC76-864DBF0E460C}" destId="{AEEAF0ED-782E-4247-8B61-2E72CB06E413}" srcOrd="0" destOrd="0" presId="urn:microsoft.com/office/officeart/2005/8/layout/process4"/>
    <dgm:cxn modelId="{74A7C80E-A9D4-44D8-9E6C-4FCE0CBA5F41}" srcId="{E9E19069-FE12-475C-89AA-0797803E7A35}" destId="{62928CD2-8BA9-410A-BFDA-EE6EF57ACA14}" srcOrd="2" destOrd="0" parTransId="{0DEDB641-18D0-495A-8C0E-1EA61ECD1720}" sibTransId="{5361381D-FAA8-4AFE-84E8-D34D3268D1F0}"/>
    <dgm:cxn modelId="{39B11194-4618-4265-91A4-BFE3B88FD3FB}" type="presOf" srcId="{E9E19069-FE12-475C-89AA-0797803E7A35}" destId="{13FDF490-B91C-4CD6-8596-0A4AF589843C}" srcOrd="1" destOrd="0" presId="urn:microsoft.com/office/officeart/2005/8/layout/process4"/>
    <dgm:cxn modelId="{18B17336-A7B7-471C-967E-1B4D50DB04CB}" type="presOf" srcId="{C9847409-0817-4DC1-8DDD-F52A0F2E9EA6}" destId="{8BE0FF32-B73D-45BE-8952-7B15D4DB300D}" srcOrd="1" destOrd="0" presId="urn:microsoft.com/office/officeart/2005/8/layout/process4"/>
    <dgm:cxn modelId="{25547395-C234-4716-9AC5-9E62F4094282}" srcId="{C9847409-0817-4DC1-8DDD-F52A0F2E9EA6}" destId="{D5C29DB1-9711-43D6-BC76-864DBF0E460C}" srcOrd="0" destOrd="0" parTransId="{867A5981-BCF6-43B3-A911-EC888F307F23}" sibTransId="{10840A40-5A4E-462C-A37B-E5B0D19F2F4D}"/>
    <dgm:cxn modelId="{3088DDD6-0EF3-40FD-A97C-2C8FC9C84121}" type="presOf" srcId="{71D74DC8-33F0-42BF-915E-6AFAD90648D7}" destId="{415222FF-417E-4FC8-A342-C60AB3C92652}" srcOrd="1" destOrd="0" presId="urn:microsoft.com/office/officeart/2005/8/layout/process4"/>
    <dgm:cxn modelId="{3F53D33B-F21A-4B51-AB6E-39D68BFB04D4}" type="presOf" srcId="{6563A900-5A79-4654-855B-DD69A234A948}" destId="{FD7BF822-FED9-4403-99F5-4D3858160725}" srcOrd="0" destOrd="0" presId="urn:microsoft.com/office/officeart/2005/8/layout/process4"/>
    <dgm:cxn modelId="{FA80293A-CDD9-4300-812C-50672F15709D}" srcId="{61E54B32-75F3-4422-B93E-E4C0D8CD3E62}" destId="{71D74DC8-33F0-42BF-915E-6AFAD90648D7}" srcOrd="1" destOrd="0" parTransId="{26F55AC4-3099-42F4-B82A-DF7F2BE6A17E}" sibTransId="{AAE6B3E8-1840-4B33-B147-8FAC83694364}"/>
    <dgm:cxn modelId="{366E0DCC-A4E1-47E9-A0C9-E107F5AAAF14}" type="presOf" srcId="{C9847409-0817-4DC1-8DDD-F52A0F2E9EA6}" destId="{F8477690-4341-4D2E-80E6-A9FE71E7B985}" srcOrd="0" destOrd="0" presId="urn:microsoft.com/office/officeart/2005/8/layout/process4"/>
    <dgm:cxn modelId="{63D46520-7E6E-494D-9703-1AEB1C93D6A9}" srcId="{7C336DE3-92BE-414B-BE79-3DB298A8ECF2}" destId="{2B94805E-2D3C-438F-AB75-CAB89694C22F}" srcOrd="1" destOrd="0" parTransId="{E5C9AB5D-6D64-4F44-A4AE-E9AAB461B0A0}" sibTransId="{43D4AEBC-585C-487F-A816-C2A7B30A23C3}"/>
    <dgm:cxn modelId="{EEDADEBD-C9CC-4E5C-A9EC-6D69E0C0EA9C}" type="presOf" srcId="{059BB6B2-6786-48E6-872A-6AF1FBE1410A}" destId="{1703966E-4BBB-43E3-964F-93E9135FACF2}" srcOrd="0" destOrd="0" presId="urn:microsoft.com/office/officeart/2005/8/layout/process4"/>
    <dgm:cxn modelId="{6314795E-0C18-4D30-A0E6-77F50C2A7738}" srcId="{61E54B32-75F3-4422-B93E-E4C0D8CD3E62}" destId="{638CFFDC-33F1-46B2-880A-1F37914770B2}" srcOrd="0" destOrd="0" parTransId="{21D268C0-9705-480F-A8C3-9E68C2C180E2}" sibTransId="{8D8DF4DF-485B-4E48-949B-40FB96D3C961}"/>
    <dgm:cxn modelId="{67D39604-F61A-4722-B874-0BDB5A7D16A5}" srcId="{C9847409-0817-4DC1-8DDD-F52A0F2E9EA6}" destId="{D5FFF8E4-A2B1-45D7-B06F-96192E3BBC03}" srcOrd="1" destOrd="0" parTransId="{8213D69F-70F7-41B9-B891-BDED5221E560}" sibTransId="{E67B2E23-307C-4DC7-9A4A-2E63EBA26474}"/>
    <dgm:cxn modelId="{7AB0A9C1-B83C-4DD1-BC70-09152F96A65B}" type="presOf" srcId="{E9E19069-FE12-475C-89AA-0797803E7A35}" destId="{EDB666FD-BBEC-4302-AC6F-2C2E6CD62A0E}" srcOrd="0" destOrd="0" presId="urn:microsoft.com/office/officeart/2005/8/layout/process4"/>
    <dgm:cxn modelId="{82C6BB51-3B35-4D60-B7CE-9F36C56D3EA1}" srcId="{71D74DC8-33F0-42BF-915E-6AFAD90648D7}" destId="{322F7058-89F6-4D25-858F-0D11DF0A1059}" srcOrd="2" destOrd="0" parTransId="{19F6DF71-19E7-4A62-AA64-216E00710F27}" sibTransId="{FAC80183-20F5-4ABA-AEE7-5C5B6E6E9C9F}"/>
    <dgm:cxn modelId="{0FF74CC6-8555-4F1A-A553-61DCCB68591E}" type="presOf" srcId="{2B94805E-2D3C-438F-AB75-CAB89694C22F}" destId="{80D6BD21-01B1-4CF3-9034-A72E8EF3B3B1}" srcOrd="0" destOrd="0" presId="urn:microsoft.com/office/officeart/2005/8/layout/process4"/>
    <dgm:cxn modelId="{78F4B77A-772A-4158-A936-4C06D6D33689}" type="presOf" srcId="{0EC1F241-32AD-4AD4-9AA7-FCD1A9E386E7}" destId="{A190CBB5-0450-4FDD-9FAA-7E67CCB4C828}" srcOrd="0" destOrd="0" presId="urn:microsoft.com/office/officeart/2005/8/layout/process4"/>
    <dgm:cxn modelId="{CCA6164F-8CA6-41E4-9561-94617D660D1C}" type="presOf" srcId="{638CFFDC-33F1-46B2-880A-1F37914770B2}" destId="{1622A2FF-375E-4F0F-8324-1C759A961B89}" srcOrd="0" destOrd="0" presId="urn:microsoft.com/office/officeart/2005/8/layout/process4"/>
    <dgm:cxn modelId="{EE375351-8D5B-46BA-BFC0-3B2FA33F1B5E}" srcId="{C9847409-0817-4DC1-8DDD-F52A0F2E9EA6}" destId="{D233D8EF-121A-4518-A6EC-7BFC8CB75837}" srcOrd="2" destOrd="0" parTransId="{CA35494A-ADA7-47AE-856A-531F0816CD23}" sibTransId="{EFBF0743-0FC5-491B-A327-7CC841B58A9F}"/>
    <dgm:cxn modelId="{15D45932-AAB7-4906-861C-CC20431094FE}" type="presParOf" srcId="{0237703D-DC3C-4136-B609-2D56AB41F58D}" destId="{ED7CCB8F-9FE5-41A0-9938-94EDCC28C3EA}" srcOrd="0" destOrd="0" presId="urn:microsoft.com/office/officeart/2005/8/layout/process4"/>
    <dgm:cxn modelId="{8C96C0C3-7EDF-4131-9EA8-6ABC0769B6E9}" type="presParOf" srcId="{ED7CCB8F-9FE5-41A0-9938-94EDCC28C3EA}" destId="{48B28AD9-F7BE-42B2-BDD4-E497B02F97A5}" srcOrd="0" destOrd="0" presId="urn:microsoft.com/office/officeart/2005/8/layout/process4"/>
    <dgm:cxn modelId="{8B7C67F7-2CCA-4825-B016-5CFAF4A8CB56}" type="presParOf" srcId="{0237703D-DC3C-4136-B609-2D56AB41F58D}" destId="{6B85EA8A-57F4-4C10-842D-DBDFF4459466}" srcOrd="1" destOrd="0" presId="urn:microsoft.com/office/officeart/2005/8/layout/process4"/>
    <dgm:cxn modelId="{DA2505C4-1F2F-4E98-8041-276500F344C6}" type="presParOf" srcId="{0237703D-DC3C-4136-B609-2D56AB41F58D}" destId="{84252DD3-D39E-4C40-BFCA-57A0102CFCB4}" srcOrd="2" destOrd="0" presId="urn:microsoft.com/office/officeart/2005/8/layout/process4"/>
    <dgm:cxn modelId="{007ABA6E-E9E2-4F84-8D80-A65637DA23F9}" type="presParOf" srcId="{84252DD3-D39E-4C40-BFCA-57A0102CFCB4}" destId="{EDB666FD-BBEC-4302-AC6F-2C2E6CD62A0E}" srcOrd="0" destOrd="0" presId="urn:microsoft.com/office/officeart/2005/8/layout/process4"/>
    <dgm:cxn modelId="{D45CF866-F5B8-466E-B1B0-B416B6AF054A}" type="presParOf" srcId="{84252DD3-D39E-4C40-BFCA-57A0102CFCB4}" destId="{13FDF490-B91C-4CD6-8596-0A4AF589843C}" srcOrd="1" destOrd="0" presId="urn:microsoft.com/office/officeart/2005/8/layout/process4"/>
    <dgm:cxn modelId="{0B73ADC4-BFB5-4767-87FC-93BBCAB0874D}" type="presParOf" srcId="{84252DD3-D39E-4C40-BFCA-57A0102CFCB4}" destId="{DEBA95E4-150D-43A0-B068-5CAF9597D7A3}" srcOrd="2" destOrd="0" presId="urn:microsoft.com/office/officeart/2005/8/layout/process4"/>
    <dgm:cxn modelId="{87037D39-0E5D-412C-8FB1-80E02B3D22DB}" type="presParOf" srcId="{DEBA95E4-150D-43A0-B068-5CAF9597D7A3}" destId="{1703966E-4BBB-43E3-964F-93E9135FACF2}" srcOrd="0" destOrd="0" presId="urn:microsoft.com/office/officeart/2005/8/layout/process4"/>
    <dgm:cxn modelId="{0C22344B-3D29-4AF0-835D-1614A6DA4DBB}" type="presParOf" srcId="{DEBA95E4-150D-43A0-B068-5CAF9597D7A3}" destId="{FD7BF822-FED9-4403-99F5-4D3858160725}" srcOrd="1" destOrd="0" presId="urn:microsoft.com/office/officeart/2005/8/layout/process4"/>
    <dgm:cxn modelId="{70889757-CCAE-443F-9D0C-5E38C774E956}" type="presParOf" srcId="{DEBA95E4-150D-43A0-B068-5CAF9597D7A3}" destId="{8A5D061A-598D-46B5-A394-F9E4832E367C}" srcOrd="2" destOrd="0" presId="urn:microsoft.com/office/officeart/2005/8/layout/process4"/>
    <dgm:cxn modelId="{84F9C436-5DCF-41AC-9DD8-A2C451A7C67F}" type="presParOf" srcId="{0237703D-DC3C-4136-B609-2D56AB41F58D}" destId="{26A3938E-6676-4D21-85A6-09A372ECDE46}" srcOrd="3" destOrd="0" presId="urn:microsoft.com/office/officeart/2005/8/layout/process4"/>
    <dgm:cxn modelId="{E7617AA8-01BC-431B-9B64-28E8FC702678}" type="presParOf" srcId="{0237703D-DC3C-4136-B609-2D56AB41F58D}" destId="{DD6D9E77-E2C1-4C45-B1DA-D9E1D931E6F1}" srcOrd="4" destOrd="0" presId="urn:microsoft.com/office/officeart/2005/8/layout/process4"/>
    <dgm:cxn modelId="{51DC8349-8CF4-4A20-A03E-9F044782E0F8}" type="presParOf" srcId="{DD6D9E77-E2C1-4C45-B1DA-D9E1D931E6F1}" destId="{F8477690-4341-4D2E-80E6-A9FE71E7B985}" srcOrd="0" destOrd="0" presId="urn:microsoft.com/office/officeart/2005/8/layout/process4"/>
    <dgm:cxn modelId="{18F1EA89-23C1-40BE-BEA7-341C67250B57}" type="presParOf" srcId="{DD6D9E77-E2C1-4C45-B1DA-D9E1D931E6F1}" destId="{8BE0FF32-B73D-45BE-8952-7B15D4DB300D}" srcOrd="1" destOrd="0" presId="urn:microsoft.com/office/officeart/2005/8/layout/process4"/>
    <dgm:cxn modelId="{CC99D64B-5EBD-4EA0-AF40-8BFFACCBC0BE}" type="presParOf" srcId="{DD6D9E77-E2C1-4C45-B1DA-D9E1D931E6F1}" destId="{6D2D5889-B1DA-4150-ABAE-65C3EAE9FD4A}" srcOrd="2" destOrd="0" presId="urn:microsoft.com/office/officeart/2005/8/layout/process4"/>
    <dgm:cxn modelId="{E682F592-AD8B-49B2-B519-D6271E70D641}" type="presParOf" srcId="{6D2D5889-B1DA-4150-ABAE-65C3EAE9FD4A}" destId="{AEEAF0ED-782E-4247-8B61-2E72CB06E413}" srcOrd="0" destOrd="0" presId="urn:microsoft.com/office/officeart/2005/8/layout/process4"/>
    <dgm:cxn modelId="{93E9E57E-59F5-466E-B547-658E8AB749FF}" type="presParOf" srcId="{6D2D5889-B1DA-4150-ABAE-65C3EAE9FD4A}" destId="{082BEA0F-B2D8-4D38-9560-2ADB4B7B9AA0}" srcOrd="1" destOrd="0" presId="urn:microsoft.com/office/officeart/2005/8/layout/process4"/>
    <dgm:cxn modelId="{8FC99E08-78C6-49B0-8283-FBE4E0FC635E}" type="presParOf" srcId="{6D2D5889-B1DA-4150-ABAE-65C3EAE9FD4A}" destId="{611C14E2-C8BE-4723-8C11-05D9677E7F3A}" srcOrd="2" destOrd="0" presId="urn:microsoft.com/office/officeart/2005/8/layout/process4"/>
    <dgm:cxn modelId="{6CB921B9-B042-45B3-AB5D-1EFC93FCD6E8}" type="presParOf" srcId="{0237703D-DC3C-4136-B609-2D56AB41F58D}" destId="{9801F692-360D-4F99-AC4B-DA43DB9B6FFF}" srcOrd="5" destOrd="0" presId="urn:microsoft.com/office/officeart/2005/8/layout/process4"/>
    <dgm:cxn modelId="{522565D4-BC6F-42D4-A254-EDE59FCBDA14}" type="presParOf" srcId="{0237703D-DC3C-4136-B609-2D56AB41F58D}" destId="{01BF8FF7-D416-43DB-8BD8-2DB66401E802}" srcOrd="6" destOrd="0" presId="urn:microsoft.com/office/officeart/2005/8/layout/process4"/>
    <dgm:cxn modelId="{761C7073-81FE-4754-9384-DCA509A1F2A8}" type="presParOf" srcId="{01BF8FF7-D416-43DB-8BD8-2DB66401E802}" destId="{7960D832-E168-4CD3-A5F5-28B1EC03238D}" srcOrd="0" destOrd="0" presId="urn:microsoft.com/office/officeart/2005/8/layout/process4"/>
    <dgm:cxn modelId="{70C616E3-3D2A-4E06-B3A4-DAD2149987D6}" type="presParOf" srcId="{01BF8FF7-D416-43DB-8BD8-2DB66401E802}" destId="{68497000-2147-4EF5-8C98-70A451709E0D}" srcOrd="1" destOrd="0" presId="urn:microsoft.com/office/officeart/2005/8/layout/process4"/>
    <dgm:cxn modelId="{0F4D4A15-4518-49A0-BC62-8D7D6127BA0F}" type="presParOf" srcId="{01BF8FF7-D416-43DB-8BD8-2DB66401E802}" destId="{A6BFD764-B90E-4EF0-BC22-42D6B098777D}" srcOrd="2" destOrd="0" presId="urn:microsoft.com/office/officeart/2005/8/layout/process4"/>
    <dgm:cxn modelId="{ED99737E-A9C3-4A88-A2C1-8DDF80AA9E5C}" type="presParOf" srcId="{A6BFD764-B90E-4EF0-BC22-42D6B098777D}" destId="{A190CBB5-0450-4FDD-9FAA-7E67CCB4C828}" srcOrd="0" destOrd="0" presId="urn:microsoft.com/office/officeart/2005/8/layout/process4"/>
    <dgm:cxn modelId="{DD020CCD-C189-43FE-B674-B82F174E3E95}" type="presParOf" srcId="{A6BFD764-B90E-4EF0-BC22-42D6B098777D}" destId="{80D6BD21-01B1-4CF3-9034-A72E8EF3B3B1}" srcOrd="1" destOrd="0" presId="urn:microsoft.com/office/officeart/2005/8/layout/process4"/>
    <dgm:cxn modelId="{75D88845-C7DF-4656-9327-1FD7980BF6D8}" type="presParOf" srcId="{A6BFD764-B90E-4EF0-BC22-42D6B098777D}" destId="{D4D860A9-D2AD-4650-8521-6669BD17E151}" srcOrd="2" destOrd="0" presId="urn:microsoft.com/office/officeart/2005/8/layout/process4"/>
    <dgm:cxn modelId="{8A0115A7-FFB6-4E95-A922-0A5A55F36204}" type="presParOf" srcId="{0237703D-DC3C-4136-B609-2D56AB41F58D}" destId="{B96CF0B3-A1EA-43A8-AB5F-FC8E180C93FD}" srcOrd="7" destOrd="0" presId="urn:microsoft.com/office/officeart/2005/8/layout/process4"/>
    <dgm:cxn modelId="{4BCDC28E-A22B-4EBC-BA11-527ADC65484F}" type="presParOf" srcId="{0237703D-DC3C-4136-B609-2D56AB41F58D}" destId="{2A77E336-61D4-4794-BEB6-FFEAAF472C3E}" srcOrd="8" destOrd="0" presId="urn:microsoft.com/office/officeart/2005/8/layout/process4"/>
    <dgm:cxn modelId="{432D2577-3177-483A-AAA8-69D4499BE85E}" type="presParOf" srcId="{2A77E336-61D4-4794-BEB6-FFEAAF472C3E}" destId="{DD0F3B1E-2F8A-4F5A-AB8B-0A9F465089F3}" srcOrd="0" destOrd="0" presId="urn:microsoft.com/office/officeart/2005/8/layout/process4"/>
    <dgm:cxn modelId="{15D85B40-4B18-4E26-AEE1-9F9CC5EF183D}" type="presParOf" srcId="{2A77E336-61D4-4794-BEB6-FFEAAF472C3E}" destId="{415222FF-417E-4FC8-A342-C60AB3C92652}" srcOrd="1" destOrd="0" presId="urn:microsoft.com/office/officeart/2005/8/layout/process4"/>
    <dgm:cxn modelId="{84A5F058-FDBC-4318-9B1E-0B4F11B7D9B8}" type="presParOf" srcId="{2A77E336-61D4-4794-BEB6-FFEAAF472C3E}" destId="{A948BE77-EEB6-4956-B31F-9E51658B8675}" srcOrd="2" destOrd="0" presId="urn:microsoft.com/office/officeart/2005/8/layout/process4"/>
    <dgm:cxn modelId="{F0F5768E-F99C-4F85-998D-90A149A2AB1D}" type="presParOf" srcId="{A948BE77-EEB6-4956-B31F-9E51658B8675}" destId="{262B5A57-0E10-462F-8DD6-A18C277D6B26}" srcOrd="0" destOrd="0" presId="urn:microsoft.com/office/officeart/2005/8/layout/process4"/>
    <dgm:cxn modelId="{E399534C-6549-4AD9-8425-FEBB8A2ED29B}" type="presParOf" srcId="{A948BE77-EEB6-4956-B31F-9E51658B8675}" destId="{01A69043-C9F4-4F64-BBB1-A4C97F3E0F69}" srcOrd="1" destOrd="0" presId="urn:microsoft.com/office/officeart/2005/8/layout/process4"/>
    <dgm:cxn modelId="{E3946348-B38C-4F40-AD76-AC9BA23EDD32}" type="presParOf" srcId="{A948BE77-EEB6-4956-B31F-9E51658B8675}" destId="{D06F81AF-3FD4-4EFB-9B2F-80D2E99D855C}" srcOrd="2" destOrd="0" presId="urn:microsoft.com/office/officeart/2005/8/layout/process4"/>
    <dgm:cxn modelId="{364C9C4D-EDA9-403D-990D-AA0E7A302404}" type="presParOf" srcId="{0237703D-DC3C-4136-B609-2D56AB41F58D}" destId="{3422AD21-0BDE-4E06-A545-C74370792B7D}" srcOrd="9" destOrd="0" presId="urn:microsoft.com/office/officeart/2005/8/layout/process4"/>
    <dgm:cxn modelId="{90136140-1999-4180-BB1B-E88E048DFE58}" type="presParOf" srcId="{0237703D-DC3C-4136-B609-2D56AB41F58D}" destId="{7A7EFE2C-75D4-421F-8CE1-4483F69BFE27}" srcOrd="10" destOrd="0" presId="urn:microsoft.com/office/officeart/2005/8/layout/process4"/>
    <dgm:cxn modelId="{DDB85F4D-ACF6-48E7-A692-3C8EA6B3D784}" type="presParOf" srcId="{7A7EFE2C-75D4-421F-8CE1-4483F69BFE27}" destId="{1622A2FF-375E-4F0F-8324-1C759A961B89}"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BAD984F-31F0-4040-8B8A-98EC76B10CDB}" type="doc">
      <dgm:prSet loTypeId="urn:microsoft.com/office/officeart/2018/2/layout/IconLabelDescriptionList" loCatId="icon" qsTypeId="urn:microsoft.com/office/officeart/2005/8/quickstyle/simple1" qsCatId="simple" csTypeId="urn:microsoft.com/office/officeart/2005/8/colors/accent2_2" csCatId="accent2" phldr="1"/>
      <dgm:spPr/>
      <dgm:t>
        <a:bodyPr/>
        <a:lstStyle/>
        <a:p>
          <a:endParaRPr lang="en-US"/>
        </a:p>
      </dgm:t>
    </dgm:pt>
    <dgm:pt modelId="{61EA7819-C8D4-4A21-B082-37ED20BF0E46}">
      <dgm:prSet/>
      <dgm:spPr/>
      <dgm:t>
        <a:bodyPr/>
        <a:lstStyle/>
        <a:p>
          <a:pPr>
            <a:defRPr b="1"/>
          </a:pPr>
          <a:r>
            <a:rPr lang="en-US" b="1"/>
            <a:t>Hardware Specifications: </a:t>
          </a:r>
          <a:endParaRPr lang="en-US"/>
        </a:p>
      </dgm:t>
    </dgm:pt>
    <dgm:pt modelId="{1ADD00CB-F150-42D1-B90C-7E8B9B40FBBC}" type="parTrans" cxnId="{4F5A8312-2D03-4050-8327-141E01BFADD9}">
      <dgm:prSet/>
      <dgm:spPr/>
      <dgm:t>
        <a:bodyPr/>
        <a:lstStyle/>
        <a:p>
          <a:endParaRPr lang="en-US"/>
        </a:p>
      </dgm:t>
    </dgm:pt>
    <dgm:pt modelId="{B35364F4-F972-4820-BFE4-1C3BAD0F4A68}" type="sibTrans" cxnId="{4F5A8312-2D03-4050-8327-141E01BFADD9}">
      <dgm:prSet/>
      <dgm:spPr/>
      <dgm:t>
        <a:bodyPr/>
        <a:lstStyle/>
        <a:p>
          <a:endParaRPr lang="en-US"/>
        </a:p>
      </dgm:t>
    </dgm:pt>
    <dgm:pt modelId="{C3A21CD4-831A-43AA-A9FD-6BE81421D99D}">
      <dgm:prSet/>
      <dgm:spPr/>
      <dgm:t>
        <a:bodyPr/>
        <a:lstStyle/>
        <a:p>
          <a:r>
            <a:rPr lang="en-IN" b="1"/>
            <a:t>Processor : </a:t>
          </a:r>
          <a:r>
            <a:rPr lang="en-IN"/>
            <a:t>Intel Core i7Gen or </a:t>
          </a:r>
          <a:r>
            <a:rPr lang="en-US"/>
            <a:t>above</a:t>
          </a:r>
        </a:p>
      </dgm:t>
    </dgm:pt>
    <dgm:pt modelId="{A32BD044-43FF-4E4A-8388-5EE5EB179696}" type="parTrans" cxnId="{82C143A7-355E-4453-A62C-5357B510407A}">
      <dgm:prSet/>
      <dgm:spPr/>
      <dgm:t>
        <a:bodyPr/>
        <a:lstStyle/>
        <a:p>
          <a:endParaRPr lang="en-US"/>
        </a:p>
      </dgm:t>
    </dgm:pt>
    <dgm:pt modelId="{C98DE3E7-FEF6-42CB-941A-BF39E4F8F92D}" type="sibTrans" cxnId="{82C143A7-355E-4453-A62C-5357B510407A}">
      <dgm:prSet/>
      <dgm:spPr/>
      <dgm:t>
        <a:bodyPr/>
        <a:lstStyle/>
        <a:p>
          <a:endParaRPr lang="en-US"/>
        </a:p>
      </dgm:t>
    </dgm:pt>
    <dgm:pt modelId="{11C33ABF-FA7F-486B-8ACC-067BE9B5DAFD}">
      <dgm:prSet/>
      <dgm:spPr/>
      <dgm:t>
        <a:bodyPr/>
        <a:lstStyle/>
        <a:p>
          <a:r>
            <a:rPr lang="en-IN" b="1"/>
            <a:t>RAM : </a:t>
          </a:r>
          <a:r>
            <a:rPr lang="en-IN"/>
            <a:t>8GB (4 GB usable) </a:t>
          </a:r>
          <a:endParaRPr lang="en-US"/>
        </a:p>
      </dgm:t>
    </dgm:pt>
    <dgm:pt modelId="{D2C1D901-68EF-46E0-8951-7EF980E4A993}" type="parTrans" cxnId="{73806962-A600-4DBE-9804-7986D5612107}">
      <dgm:prSet/>
      <dgm:spPr/>
      <dgm:t>
        <a:bodyPr/>
        <a:lstStyle/>
        <a:p>
          <a:endParaRPr lang="en-US"/>
        </a:p>
      </dgm:t>
    </dgm:pt>
    <dgm:pt modelId="{8FEC9415-FBAE-4E3D-AD0B-076B0797D238}" type="sibTrans" cxnId="{73806962-A600-4DBE-9804-7986D5612107}">
      <dgm:prSet/>
      <dgm:spPr/>
      <dgm:t>
        <a:bodyPr/>
        <a:lstStyle/>
        <a:p>
          <a:endParaRPr lang="en-US"/>
        </a:p>
      </dgm:t>
    </dgm:pt>
    <dgm:pt modelId="{AB4D1561-6EF6-419C-A098-FB4129692D8B}">
      <dgm:prSet/>
      <dgm:spPr/>
      <dgm:t>
        <a:bodyPr/>
        <a:lstStyle/>
        <a:p>
          <a:r>
            <a:rPr lang="en-IN" b="1"/>
            <a:t>System Type : </a:t>
          </a:r>
          <a:r>
            <a:rPr lang="en-IN"/>
            <a:t>64-bit operating system</a:t>
          </a:r>
          <a:endParaRPr lang="en-US"/>
        </a:p>
      </dgm:t>
    </dgm:pt>
    <dgm:pt modelId="{5B65BCEB-EA3C-4AD0-BDB8-F4FD35FB881E}" type="parTrans" cxnId="{188ECA34-ED1B-499C-B59F-D56C574CABD1}">
      <dgm:prSet/>
      <dgm:spPr/>
      <dgm:t>
        <a:bodyPr/>
        <a:lstStyle/>
        <a:p>
          <a:endParaRPr lang="en-US"/>
        </a:p>
      </dgm:t>
    </dgm:pt>
    <dgm:pt modelId="{87193E53-FC9D-4BF1-A347-728C532948A4}" type="sibTrans" cxnId="{188ECA34-ED1B-499C-B59F-D56C574CABD1}">
      <dgm:prSet/>
      <dgm:spPr/>
      <dgm:t>
        <a:bodyPr/>
        <a:lstStyle/>
        <a:p>
          <a:endParaRPr lang="en-US"/>
        </a:p>
      </dgm:t>
    </dgm:pt>
    <dgm:pt modelId="{A0C2F840-17B7-4E50-8B68-0C2AB15C1124}">
      <dgm:prSet/>
      <dgm:spPr/>
      <dgm:t>
        <a:bodyPr/>
        <a:lstStyle/>
        <a:p>
          <a:pPr>
            <a:defRPr b="1"/>
          </a:pPr>
          <a:r>
            <a:rPr lang="en-US" b="1"/>
            <a:t>Software</a:t>
          </a:r>
          <a:r>
            <a:rPr lang="en-IN" b="1"/>
            <a:t> </a:t>
          </a:r>
          <a:r>
            <a:rPr lang="en-US" b="1"/>
            <a:t>Specifications:</a:t>
          </a:r>
          <a:endParaRPr lang="en-US"/>
        </a:p>
      </dgm:t>
    </dgm:pt>
    <dgm:pt modelId="{3339F151-AC48-4BF9-A83F-14913186264D}" type="parTrans" cxnId="{C916C1EF-24DF-4D2F-8D93-6BA28DD343AB}">
      <dgm:prSet/>
      <dgm:spPr/>
      <dgm:t>
        <a:bodyPr/>
        <a:lstStyle/>
        <a:p>
          <a:endParaRPr lang="en-US"/>
        </a:p>
      </dgm:t>
    </dgm:pt>
    <dgm:pt modelId="{56FF0F05-61EF-4B03-A448-74C2EE3A4328}" type="sibTrans" cxnId="{C916C1EF-24DF-4D2F-8D93-6BA28DD343AB}">
      <dgm:prSet/>
      <dgm:spPr/>
      <dgm:t>
        <a:bodyPr/>
        <a:lstStyle/>
        <a:p>
          <a:endParaRPr lang="en-US"/>
        </a:p>
      </dgm:t>
    </dgm:pt>
    <dgm:pt modelId="{9097D5E8-BF5B-41C6-8C2E-12FB0D75F743}">
      <dgm:prSet/>
      <dgm:spPr/>
      <dgm:t>
        <a:bodyPr/>
        <a:lstStyle/>
        <a:p>
          <a:r>
            <a:rPr lang="en-US" b="1"/>
            <a:t>Operating System  :  </a:t>
          </a:r>
          <a:r>
            <a:rPr lang="en-US"/>
            <a:t>Windows 11 or above</a:t>
          </a:r>
        </a:p>
      </dgm:t>
    </dgm:pt>
    <dgm:pt modelId="{98CA2BBE-B5DA-433A-95A0-A921621DB4B7}" type="parTrans" cxnId="{B75EF295-E624-4705-93E1-3F63E83525E0}">
      <dgm:prSet/>
      <dgm:spPr/>
      <dgm:t>
        <a:bodyPr/>
        <a:lstStyle/>
        <a:p>
          <a:endParaRPr lang="en-US"/>
        </a:p>
      </dgm:t>
    </dgm:pt>
    <dgm:pt modelId="{D11EBC07-A7C2-4E39-BF7F-0C823C97F875}" type="sibTrans" cxnId="{B75EF295-E624-4705-93E1-3F63E83525E0}">
      <dgm:prSet/>
      <dgm:spPr/>
      <dgm:t>
        <a:bodyPr/>
        <a:lstStyle/>
        <a:p>
          <a:endParaRPr lang="en-US"/>
        </a:p>
      </dgm:t>
    </dgm:pt>
    <dgm:pt modelId="{A31FCB1B-A958-435C-94C8-6FB463BAFFB4}">
      <dgm:prSet/>
      <dgm:spPr/>
      <dgm:t>
        <a:bodyPr/>
        <a:lstStyle/>
        <a:p>
          <a:r>
            <a:rPr lang="en-US" b="1"/>
            <a:t>Coding Language : </a:t>
          </a:r>
          <a:r>
            <a:rPr lang="en-US"/>
            <a:t>Python </a:t>
          </a:r>
        </a:p>
      </dgm:t>
    </dgm:pt>
    <dgm:pt modelId="{69EE88F1-E944-402A-AC09-DBA53BAC1523}" type="parTrans" cxnId="{60F9D8DF-775C-4E3B-B6FC-265F75981FAF}">
      <dgm:prSet/>
      <dgm:spPr/>
      <dgm:t>
        <a:bodyPr/>
        <a:lstStyle/>
        <a:p>
          <a:endParaRPr lang="en-US"/>
        </a:p>
      </dgm:t>
    </dgm:pt>
    <dgm:pt modelId="{64ED9FB5-AB1B-49CE-A96B-8C0651A21165}" type="sibTrans" cxnId="{60F9D8DF-775C-4E3B-B6FC-265F75981FAF}">
      <dgm:prSet/>
      <dgm:spPr/>
      <dgm:t>
        <a:bodyPr/>
        <a:lstStyle/>
        <a:p>
          <a:endParaRPr lang="en-US"/>
        </a:p>
      </dgm:t>
    </dgm:pt>
    <dgm:pt modelId="{6EF2274E-83A5-4F94-9157-513C9F9790F5}">
      <dgm:prSet/>
      <dgm:spPr/>
      <dgm:t>
        <a:bodyPr/>
        <a:lstStyle/>
        <a:p>
          <a:r>
            <a:rPr lang="en-US" b="1"/>
            <a:t>Python Distribution: </a:t>
          </a:r>
          <a:r>
            <a:rPr lang="en-US"/>
            <a:t>Google COLAB </a:t>
          </a:r>
        </a:p>
      </dgm:t>
    </dgm:pt>
    <dgm:pt modelId="{271AE28B-EBA0-456A-881E-A06985B08154}" type="parTrans" cxnId="{1D84DF1D-5AF3-42B1-B4CC-34D19DA1C0AA}">
      <dgm:prSet/>
      <dgm:spPr/>
      <dgm:t>
        <a:bodyPr/>
        <a:lstStyle/>
        <a:p>
          <a:endParaRPr lang="en-US"/>
        </a:p>
      </dgm:t>
    </dgm:pt>
    <dgm:pt modelId="{CDEF5B5C-B609-4866-A62F-63DA4A21C6FE}" type="sibTrans" cxnId="{1D84DF1D-5AF3-42B1-B4CC-34D19DA1C0AA}">
      <dgm:prSet/>
      <dgm:spPr/>
      <dgm:t>
        <a:bodyPr/>
        <a:lstStyle/>
        <a:p>
          <a:endParaRPr lang="en-US"/>
        </a:p>
      </dgm:t>
    </dgm:pt>
    <dgm:pt modelId="{E4360873-BB73-47FA-A36C-EE0E46F65F77}" type="pres">
      <dgm:prSet presAssocID="{DBAD984F-31F0-4040-8B8A-98EC76B10CDB}" presName="root" presStyleCnt="0">
        <dgm:presLayoutVars>
          <dgm:dir/>
          <dgm:resizeHandles val="exact"/>
        </dgm:presLayoutVars>
      </dgm:prSet>
      <dgm:spPr/>
      <dgm:t>
        <a:bodyPr/>
        <a:lstStyle/>
        <a:p>
          <a:endParaRPr lang="en-US"/>
        </a:p>
      </dgm:t>
    </dgm:pt>
    <dgm:pt modelId="{5776F2C9-9E26-4345-BD82-CEB9EE36B58D}" type="pres">
      <dgm:prSet presAssocID="{61EA7819-C8D4-4A21-B082-37ED20BF0E46}" presName="compNode" presStyleCnt="0"/>
      <dgm:spPr/>
    </dgm:pt>
    <dgm:pt modelId="{6FFBCE8D-1D26-4B3B-B702-8559EC946E31}" type="pres">
      <dgm:prSet presAssocID="{61EA7819-C8D4-4A21-B082-37ED20BF0E46}"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cessor"/>
        </a:ext>
      </dgm:extLst>
    </dgm:pt>
    <dgm:pt modelId="{3F57365D-E5A8-4CCF-9B5E-71A7F4EB4C83}" type="pres">
      <dgm:prSet presAssocID="{61EA7819-C8D4-4A21-B082-37ED20BF0E46}" presName="iconSpace" presStyleCnt="0"/>
      <dgm:spPr/>
    </dgm:pt>
    <dgm:pt modelId="{C743CA4A-8047-44A8-A50A-A6B3D0507C56}" type="pres">
      <dgm:prSet presAssocID="{61EA7819-C8D4-4A21-B082-37ED20BF0E46}" presName="parTx" presStyleLbl="revTx" presStyleIdx="0" presStyleCnt="4">
        <dgm:presLayoutVars>
          <dgm:chMax val="0"/>
          <dgm:chPref val="0"/>
        </dgm:presLayoutVars>
      </dgm:prSet>
      <dgm:spPr/>
      <dgm:t>
        <a:bodyPr/>
        <a:lstStyle/>
        <a:p>
          <a:endParaRPr lang="en-US"/>
        </a:p>
      </dgm:t>
    </dgm:pt>
    <dgm:pt modelId="{0313B675-4B84-4ED7-8FD4-0051823572A2}" type="pres">
      <dgm:prSet presAssocID="{61EA7819-C8D4-4A21-B082-37ED20BF0E46}" presName="txSpace" presStyleCnt="0"/>
      <dgm:spPr/>
    </dgm:pt>
    <dgm:pt modelId="{703E3CD8-DF70-4D39-A3F1-7CEAFF8028E9}" type="pres">
      <dgm:prSet presAssocID="{61EA7819-C8D4-4A21-B082-37ED20BF0E46}" presName="desTx" presStyleLbl="revTx" presStyleIdx="1" presStyleCnt="4">
        <dgm:presLayoutVars/>
      </dgm:prSet>
      <dgm:spPr/>
      <dgm:t>
        <a:bodyPr/>
        <a:lstStyle/>
        <a:p>
          <a:endParaRPr lang="en-US"/>
        </a:p>
      </dgm:t>
    </dgm:pt>
    <dgm:pt modelId="{59A9E9C5-AD2E-4595-A518-1013F32E87AF}" type="pres">
      <dgm:prSet presAssocID="{B35364F4-F972-4820-BFE4-1C3BAD0F4A68}" presName="sibTrans" presStyleCnt="0"/>
      <dgm:spPr/>
    </dgm:pt>
    <dgm:pt modelId="{CCC45DBF-8E22-42AB-90D7-405C64BEAFD8}" type="pres">
      <dgm:prSet presAssocID="{A0C2F840-17B7-4E50-8B68-0C2AB15C1124}" presName="compNode" presStyleCnt="0"/>
      <dgm:spPr/>
    </dgm:pt>
    <dgm:pt modelId="{D62CAAEE-AE35-4088-8479-B33F611C8600}" type="pres">
      <dgm:prSet presAssocID="{A0C2F840-17B7-4E50-8B68-0C2AB15C1124}"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grammer"/>
        </a:ext>
      </dgm:extLst>
    </dgm:pt>
    <dgm:pt modelId="{28AE5AC0-D560-4021-B7E4-EF215F89E48E}" type="pres">
      <dgm:prSet presAssocID="{A0C2F840-17B7-4E50-8B68-0C2AB15C1124}" presName="iconSpace" presStyleCnt="0"/>
      <dgm:spPr/>
    </dgm:pt>
    <dgm:pt modelId="{1F37AEA1-6EA3-4ABF-9704-BB6F967EAA9B}" type="pres">
      <dgm:prSet presAssocID="{A0C2F840-17B7-4E50-8B68-0C2AB15C1124}" presName="parTx" presStyleLbl="revTx" presStyleIdx="2" presStyleCnt="4">
        <dgm:presLayoutVars>
          <dgm:chMax val="0"/>
          <dgm:chPref val="0"/>
        </dgm:presLayoutVars>
      </dgm:prSet>
      <dgm:spPr/>
      <dgm:t>
        <a:bodyPr/>
        <a:lstStyle/>
        <a:p>
          <a:endParaRPr lang="en-US"/>
        </a:p>
      </dgm:t>
    </dgm:pt>
    <dgm:pt modelId="{215205F8-A5CC-4F92-884C-62E6A9F91D6D}" type="pres">
      <dgm:prSet presAssocID="{A0C2F840-17B7-4E50-8B68-0C2AB15C1124}" presName="txSpace" presStyleCnt="0"/>
      <dgm:spPr/>
    </dgm:pt>
    <dgm:pt modelId="{4EEBF04F-EFA6-4D4D-A18B-DB69DBA94CC1}" type="pres">
      <dgm:prSet presAssocID="{A0C2F840-17B7-4E50-8B68-0C2AB15C1124}" presName="desTx" presStyleLbl="revTx" presStyleIdx="3" presStyleCnt="4">
        <dgm:presLayoutVars/>
      </dgm:prSet>
      <dgm:spPr/>
      <dgm:t>
        <a:bodyPr/>
        <a:lstStyle/>
        <a:p>
          <a:endParaRPr lang="en-US"/>
        </a:p>
      </dgm:t>
    </dgm:pt>
  </dgm:ptLst>
  <dgm:cxnLst>
    <dgm:cxn modelId="{4F5A8312-2D03-4050-8327-141E01BFADD9}" srcId="{DBAD984F-31F0-4040-8B8A-98EC76B10CDB}" destId="{61EA7819-C8D4-4A21-B082-37ED20BF0E46}" srcOrd="0" destOrd="0" parTransId="{1ADD00CB-F150-42D1-B90C-7E8B9B40FBBC}" sibTransId="{B35364F4-F972-4820-BFE4-1C3BAD0F4A68}"/>
    <dgm:cxn modelId="{F3541898-9BB2-4A35-8B56-76A3B6CD31CB}" type="presOf" srcId="{61EA7819-C8D4-4A21-B082-37ED20BF0E46}" destId="{C743CA4A-8047-44A8-A50A-A6B3D0507C56}" srcOrd="0" destOrd="0" presId="urn:microsoft.com/office/officeart/2018/2/layout/IconLabelDescriptionList"/>
    <dgm:cxn modelId="{63D5187A-3E50-40BF-906B-DDA2770061EE}" type="presOf" srcId="{11C33ABF-FA7F-486B-8ACC-067BE9B5DAFD}" destId="{703E3CD8-DF70-4D39-A3F1-7CEAFF8028E9}" srcOrd="0" destOrd="1" presId="urn:microsoft.com/office/officeart/2018/2/layout/IconLabelDescriptionList"/>
    <dgm:cxn modelId="{1D84DF1D-5AF3-42B1-B4CC-34D19DA1C0AA}" srcId="{A0C2F840-17B7-4E50-8B68-0C2AB15C1124}" destId="{6EF2274E-83A5-4F94-9157-513C9F9790F5}" srcOrd="2" destOrd="0" parTransId="{271AE28B-EBA0-456A-881E-A06985B08154}" sibTransId="{CDEF5B5C-B609-4866-A62F-63DA4A21C6FE}"/>
    <dgm:cxn modelId="{C916C1EF-24DF-4D2F-8D93-6BA28DD343AB}" srcId="{DBAD984F-31F0-4040-8B8A-98EC76B10CDB}" destId="{A0C2F840-17B7-4E50-8B68-0C2AB15C1124}" srcOrd="1" destOrd="0" parTransId="{3339F151-AC48-4BF9-A83F-14913186264D}" sibTransId="{56FF0F05-61EF-4B03-A448-74C2EE3A4328}"/>
    <dgm:cxn modelId="{F16DFF50-E955-4053-B299-9FF4D99ECBB2}" type="presOf" srcId="{DBAD984F-31F0-4040-8B8A-98EC76B10CDB}" destId="{E4360873-BB73-47FA-A36C-EE0E46F65F77}" srcOrd="0" destOrd="0" presId="urn:microsoft.com/office/officeart/2018/2/layout/IconLabelDescriptionList"/>
    <dgm:cxn modelId="{1BF01501-6213-4538-9B0F-AEF980BF1538}" type="presOf" srcId="{9097D5E8-BF5B-41C6-8C2E-12FB0D75F743}" destId="{4EEBF04F-EFA6-4D4D-A18B-DB69DBA94CC1}" srcOrd="0" destOrd="0" presId="urn:microsoft.com/office/officeart/2018/2/layout/IconLabelDescriptionList"/>
    <dgm:cxn modelId="{B46B694F-CF89-4F36-9580-C112F8B85905}" type="presOf" srcId="{AB4D1561-6EF6-419C-A098-FB4129692D8B}" destId="{703E3CD8-DF70-4D39-A3F1-7CEAFF8028E9}" srcOrd="0" destOrd="2" presId="urn:microsoft.com/office/officeart/2018/2/layout/IconLabelDescriptionList"/>
    <dgm:cxn modelId="{60F9D8DF-775C-4E3B-B6FC-265F75981FAF}" srcId="{A0C2F840-17B7-4E50-8B68-0C2AB15C1124}" destId="{A31FCB1B-A958-435C-94C8-6FB463BAFFB4}" srcOrd="1" destOrd="0" parTransId="{69EE88F1-E944-402A-AC09-DBA53BAC1523}" sibTransId="{64ED9FB5-AB1B-49CE-A96B-8C0651A21165}"/>
    <dgm:cxn modelId="{82C143A7-355E-4453-A62C-5357B510407A}" srcId="{61EA7819-C8D4-4A21-B082-37ED20BF0E46}" destId="{C3A21CD4-831A-43AA-A9FD-6BE81421D99D}" srcOrd="0" destOrd="0" parTransId="{A32BD044-43FF-4E4A-8388-5EE5EB179696}" sibTransId="{C98DE3E7-FEF6-42CB-941A-BF39E4F8F92D}"/>
    <dgm:cxn modelId="{188ECA34-ED1B-499C-B59F-D56C574CABD1}" srcId="{61EA7819-C8D4-4A21-B082-37ED20BF0E46}" destId="{AB4D1561-6EF6-419C-A098-FB4129692D8B}" srcOrd="2" destOrd="0" parTransId="{5B65BCEB-EA3C-4AD0-BDB8-F4FD35FB881E}" sibTransId="{87193E53-FC9D-4BF1-A347-728C532948A4}"/>
    <dgm:cxn modelId="{A6C36B0F-864B-4139-9314-14BCC96110B5}" type="presOf" srcId="{A0C2F840-17B7-4E50-8B68-0C2AB15C1124}" destId="{1F37AEA1-6EA3-4ABF-9704-BB6F967EAA9B}" srcOrd="0" destOrd="0" presId="urn:microsoft.com/office/officeart/2018/2/layout/IconLabelDescriptionList"/>
    <dgm:cxn modelId="{07B64432-02B9-4738-8900-96D9AD54B1EE}" type="presOf" srcId="{C3A21CD4-831A-43AA-A9FD-6BE81421D99D}" destId="{703E3CD8-DF70-4D39-A3F1-7CEAFF8028E9}" srcOrd="0" destOrd="0" presId="urn:microsoft.com/office/officeart/2018/2/layout/IconLabelDescriptionList"/>
    <dgm:cxn modelId="{8A1BEFAC-DFE3-42A3-886F-581E432FA625}" type="presOf" srcId="{A31FCB1B-A958-435C-94C8-6FB463BAFFB4}" destId="{4EEBF04F-EFA6-4D4D-A18B-DB69DBA94CC1}" srcOrd="0" destOrd="1" presId="urn:microsoft.com/office/officeart/2018/2/layout/IconLabelDescriptionList"/>
    <dgm:cxn modelId="{5156D6FE-512D-4F30-A470-CE415CED06F9}" type="presOf" srcId="{6EF2274E-83A5-4F94-9157-513C9F9790F5}" destId="{4EEBF04F-EFA6-4D4D-A18B-DB69DBA94CC1}" srcOrd="0" destOrd="2" presId="urn:microsoft.com/office/officeart/2018/2/layout/IconLabelDescriptionList"/>
    <dgm:cxn modelId="{B75EF295-E624-4705-93E1-3F63E83525E0}" srcId="{A0C2F840-17B7-4E50-8B68-0C2AB15C1124}" destId="{9097D5E8-BF5B-41C6-8C2E-12FB0D75F743}" srcOrd="0" destOrd="0" parTransId="{98CA2BBE-B5DA-433A-95A0-A921621DB4B7}" sibTransId="{D11EBC07-A7C2-4E39-BF7F-0C823C97F875}"/>
    <dgm:cxn modelId="{73806962-A600-4DBE-9804-7986D5612107}" srcId="{61EA7819-C8D4-4A21-B082-37ED20BF0E46}" destId="{11C33ABF-FA7F-486B-8ACC-067BE9B5DAFD}" srcOrd="1" destOrd="0" parTransId="{D2C1D901-68EF-46E0-8951-7EF980E4A993}" sibTransId="{8FEC9415-FBAE-4E3D-AD0B-076B0797D238}"/>
    <dgm:cxn modelId="{424DD2D6-974D-4AF2-86E1-958511BD2D10}" type="presParOf" srcId="{E4360873-BB73-47FA-A36C-EE0E46F65F77}" destId="{5776F2C9-9E26-4345-BD82-CEB9EE36B58D}" srcOrd="0" destOrd="0" presId="urn:microsoft.com/office/officeart/2018/2/layout/IconLabelDescriptionList"/>
    <dgm:cxn modelId="{F29DE663-BCF9-4685-979C-E1125DAB81DC}" type="presParOf" srcId="{5776F2C9-9E26-4345-BD82-CEB9EE36B58D}" destId="{6FFBCE8D-1D26-4B3B-B702-8559EC946E31}" srcOrd="0" destOrd="0" presId="urn:microsoft.com/office/officeart/2018/2/layout/IconLabelDescriptionList"/>
    <dgm:cxn modelId="{FB8094FE-FBBB-4E6C-A6FF-A71A19DC2335}" type="presParOf" srcId="{5776F2C9-9E26-4345-BD82-CEB9EE36B58D}" destId="{3F57365D-E5A8-4CCF-9B5E-71A7F4EB4C83}" srcOrd="1" destOrd="0" presId="urn:microsoft.com/office/officeart/2018/2/layout/IconLabelDescriptionList"/>
    <dgm:cxn modelId="{A7CDFF86-B1C4-4263-A684-A538E780F173}" type="presParOf" srcId="{5776F2C9-9E26-4345-BD82-CEB9EE36B58D}" destId="{C743CA4A-8047-44A8-A50A-A6B3D0507C56}" srcOrd="2" destOrd="0" presId="urn:microsoft.com/office/officeart/2018/2/layout/IconLabelDescriptionList"/>
    <dgm:cxn modelId="{A80C5770-BE8E-4F8D-9437-A09E85477198}" type="presParOf" srcId="{5776F2C9-9E26-4345-BD82-CEB9EE36B58D}" destId="{0313B675-4B84-4ED7-8FD4-0051823572A2}" srcOrd="3" destOrd="0" presId="urn:microsoft.com/office/officeart/2018/2/layout/IconLabelDescriptionList"/>
    <dgm:cxn modelId="{11D9B807-CC4B-452D-B998-EB260D21DC09}" type="presParOf" srcId="{5776F2C9-9E26-4345-BD82-CEB9EE36B58D}" destId="{703E3CD8-DF70-4D39-A3F1-7CEAFF8028E9}" srcOrd="4" destOrd="0" presId="urn:microsoft.com/office/officeart/2018/2/layout/IconLabelDescriptionList"/>
    <dgm:cxn modelId="{878FD194-E3BC-45CF-8F29-634AABC6885F}" type="presParOf" srcId="{E4360873-BB73-47FA-A36C-EE0E46F65F77}" destId="{59A9E9C5-AD2E-4595-A518-1013F32E87AF}" srcOrd="1" destOrd="0" presId="urn:microsoft.com/office/officeart/2018/2/layout/IconLabelDescriptionList"/>
    <dgm:cxn modelId="{FB936B81-14C1-4E50-8E43-42B4AF0EA493}" type="presParOf" srcId="{E4360873-BB73-47FA-A36C-EE0E46F65F77}" destId="{CCC45DBF-8E22-42AB-90D7-405C64BEAFD8}" srcOrd="2" destOrd="0" presId="urn:microsoft.com/office/officeart/2018/2/layout/IconLabelDescriptionList"/>
    <dgm:cxn modelId="{60CC9369-B959-4307-819D-6EABC8A13920}" type="presParOf" srcId="{CCC45DBF-8E22-42AB-90D7-405C64BEAFD8}" destId="{D62CAAEE-AE35-4088-8479-B33F611C8600}" srcOrd="0" destOrd="0" presId="urn:microsoft.com/office/officeart/2018/2/layout/IconLabelDescriptionList"/>
    <dgm:cxn modelId="{0C3D7227-E1D8-4011-A081-C80F594D8FAF}" type="presParOf" srcId="{CCC45DBF-8E22-42AB-90D7-405C64BEAFD8}" destId="{28AE5AC0-D560-4021-B7E4-EF215F89E48E}" srcOrd="1" destOrd="0" presId="urn:microsoft.com/office/officeart/2018/2/layout/IconLabelDescriptionList"/>
    <dgm:cxn modelId="{15638C21-BD7B-4933-931D-D1C8774AFA4E}" type="presParOf" srcId="{CCC45DBF-8E22-42AB-90D7-405C64BEAFD8}" destId="{1F37AEA1-6EA3-4ABF-9704-BB6F967EAA9B}" srcOrd="2" destOrd="0" presId="urn:microsoft.com/office/officeart/2018/2/layout/IconLabelDescriptionList"/>
    <dgm:cxn modelId="{00EB1287-4B8D-428F-BF03-E3B6A10DE2B5}" type="presParOf" srcId="{CCC45DBF-8E22-42AB-90D7-405C64BEAFD8}" destId="{215205F8-A5CC-4F92-884C-62E6A9F91D6D}" srcOrd="3" destOrd="0" presId="urn:microsoft.com/office/officeart/2018/2/layout/IconLabelDescriptionList"/>
    <dgm:cxn modelId="{457C2EC0-ACD1-4796-BB5C-6385B67B5954}" type="presParOf" srcId="{CCC45DBF-8E22-42AB-90D7-405C64BEAFD8}" destId="{4EEBF04F-EFA6-4D4D-A18B-DB69DBA94CC1}"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824866E-E994-4225-AEDD-16EC5360F997}" type="doc">
      <dgm:prSet loTypeId="urn:microsoft.com/office/officeart/2005/8/layout/vList2" loCatId="list" qsTypeId="urn:microsoft.com/office/officeart/2005/8/quickstyle/simple2" qsCatId="simple" csTypeId="urn:microsoft.com/office/officeart/2005/8/colors/accent2_2" csCatId="accent2"/>
      <dgm:spPr/>
      <dgm:t>
        <a:bodyPr/>
        <a:lstStyle/>
        <a:p>
          <a:endParaRPr lang="en-US"/>
        </a:p>
      </dgm:t>
    </dgm:pt>
    <dgm:pt modelId="{DF61380B-0AFA-4248-AF2F-AE8AE05BCEBB}">
      <dgm:prSet/>
      <dgm:spPr/>
      <dgm:t>
        <a:bodyPr/>
        <a:lstStyle/>
        <a:p>
          <a:r>
            <a:rPr lang="en-US" b="1"/>
            <a:t>Comparison – RandAugment vs CyclicAugment</a:t>
          </a:r>
          <a:endParaRPr lang="en-US"/>
        </a:p>
      </dgm:t>
    </dgm:pt>
    <dgm:pt modelId="{2CB0EF34-4D19-49F3-A0E8-75076B01D3BF}" type="parTrans" cxnId="{3740C39B-8FF4-4BC8-BBE2-D5F6B266F798}">
      <dgm:prSet/>
      <dgm:spPr/>
      <dgm:t>
        <a:bodyPr/>
        <a:lstStyle/>
        <a:p>
          <a:endParaRPr lang="en-US"/>
        </a:p>
      </dgm:t>
    </dgm:pt>
    <dgm:pt modelId="{B118FA3F-553E-4221-8AC5-08EC6998BB70}" type="sibTrans" cxnId="{3740C39B-8FF4-4BC8-BBE2-D5F6B266F798}">
      <dgm:prSet/>
      <dgm:spPr/>
      <dgm:t>
        <a:bodyPr/>
        <a:lstStyle/>
        <a:p>
          <a:endParaRPr lang="en-US"/>
        </a:p>
      </dgm:t>
    </dgm:pt>
    <dgm:pt modelId="{6BE06820-3F58-4FBA-B466-723F823A4FE7}">
      <dgm:prSet/>
      <dgm:spPr/>
      <dgm:t>
        <a:bodyPr/>
        <a:lstStyle/>
        <a:p>
          <a:r>
            <a:rPr lang="en-US"/>
            <a:t>This chart compares </a:t>
          </a:r>
          <a:r>
            <a:rPr lang="en-US" b="1"/>
            <a:t>RandAugment</a:t>
          </a:r>
          <a:r>
            <a:rPr lang="en-US"/>
            <a:t> and </a:t>
          </a:r>
          <a:r>
            <a:rPr lang="en-US" b="1"/>
            <a:t>CyclicAugment</a:t>
          </a:r>
          <a:r>
            <a:rPr lang="en-US"/>
            <a:t> in different performance metrics.</a:t>
          </a:r>
        </a:p>
      </dgm:t>
    </dgm:pt>
    <dgm:pt modelId="{14BCB081-491F-4CFA-A8B1-F619FDD05408}" type="parTrans" cxnId="{CEDCE2D2-6D83-4ABF-9E41-FACCD093796A}">
      <dgm:prSet/>
      <dgm:spPr/>
      <dgm:t>
        <a:bodyPr/>
        <a:lstStyle/>
        <a:p>
          <a:endParaRPr lang="en-US"/>
        </a:p>
      </dgm:t>
    </dgm:pt>
    <dgm:pt modelId="{E6F4766B-093A-4FD9-9DB6-1465B7E6F6F2}" type="sibTrans" cxnId="{CEDCE2D2-6D83-4ABF-9E41-FACCD093796A}">
      <dgm:prSet/>
      <dgm:spPr/>
      <dgm:t>
        <a:bodyPr/>
        <a:lstStyle/>
        <a:p>
          <a:endParaRPr lang="en-US"/>
        </a:p>
      </dgm:t>
    </dgm:pt>
    <dgm:pt modelId="{6625DFE2-1A59-4418-B28D-E1FA1144AF12}">
      <dgm:prSet/>
      <dgm:spPr/>
      <dgm:t>
        <a:bodyPr/>
        <a:lstStyle/>
        <a:p>
          <a:r>
            <a:rPr lang="en-US"/>
            <a:t>CyclicAugment gives </a:t>
          </a:r>
          <a:r>
            <a:rPr lang="en-US" b="1"/>
            <a:t>better precision, recall, and F1-score</a:t>
          </a:r>
          <a:r>
            <a:rPr lang="en-US"/>
            <a:t>, meaning it learns patterns more effectively.</a:t>
          </a:r>
        </a:p>
      </dgm:t>
    </dgm:pt>
    <dgm:pt modelId="{B8030F4F-B45F-4CB5-821B-7FE11FDFD6FB}" type="parTrans" cxnId="{BFEC4E93-A85F-4CEA-866C-FAE70F250014}">
      <dgm:prSet/>
      <dgm:spPr/>
      <dgm:t>
        <a:bodyPr/>
        <a:lstStyle/>
        <a:p>
          <a:endParaRPr lang="en-US"/>
        </a:p>
      </dgm:t>
    </dgm:pt>
    <dgm:pt modelId="{B8BCBC41-2B94-4974-814C-86F36BFA650A}" type="sibTrans" cxnId="{BFEC4E93-A85F-4CEA-866C-FAE70F250014}">
      <dgm:prSet/>
      <dgm:spPr/>
      <dgm:t>
        <a:bodyPr/>
        <a:lstStyle/>
        <a:p>
          <a:endParaRPr lang="en-US"/>
        </a:p>
      </dgm:t>
    </dgm:pt>
    <dgm:pt modelId="{ED7DE36A-31CB-4BAA-B855-B83733B3F34A}">
      <dgm:prSet/>
      <dgm:spPr/>
      <dgm:t>
        <a:bodyPr/>
        <a:lstStyle/>
        <a:p>
          <a:r>
            <a:rPr lang="en-US"/>
            <a:t>Accuracy is similar for both, but CyclicAugment has </a:t>
          </a:r>
          <a:r>
            <a:rPr lang="en-US" b="1"/>
            <a:t>higher ROC AUC</a:t>
          </a:r>
          <a:r>
            <a:rPr lang="en-US"/>
            <a:t>, showing it predicts more confidently.</a:t>
          </a:r>
        </a:p>
      </dgm:t>
    </dgm:pt>
    <dgm:pt modelId="{4087EDDE-3855-4A5A-87B8-64715C035310}" type="parTrans" cxnId="{1E00EC4F-BA7F-430E-B873-EB87F63AA63B}">
      <dgm:prSet/>
      <dgm:spPr/>
      <dgm:t>
        <a:bodyPr/>
        <a:lstStyle/>
        <a:p>
          <a:endParaRPr lang="en-US"/>
        </a:p>
      </dgm:t>
    </dgm:pt>
    <dgm:pt modelId="{542F1812-BC55-454E-843D-9343251561C5}" type="sibTrans" cxnId="{1E00EC4F-BA7F-430E-B873-EB87F63AA63B}">
      <dgm:prSet/>
      <dgm:spPr/>
      <dgm:t>
        <a:bodyPr/>
        <a:lstStyle/>
        <a:p>
          <a:endParaRPr lang="en-US"/>
        </a:p>
      </dgm:t>
    </dgm:pt>
    <dgm:pt modelId="{99B4A44C-AAC2-4195-BB50-C59E273DE7D9}">
      <dgm:prSet/>
      <dgm:spPr/>
      <dgm:t>
        <a:bodyPr/>
        <a:lstStyle/>
        <a:p>
          <a:r>
            <a:rPr lang="en-US"/>
            <a:t>In short — </a:t>
          </a:r>
          <a:r>
            <a:rPr lang="en-US" b="1"/>
            <a:t>CyclicAugment improves model quality and generalization</a:t>
          </a:r>
          <a:r>
            <a:rPr lang="en-US"/>
            <a:t> over RandAugment.</a:t>
          </a:r>
        </a:p>
      </dgm:t>
    </dgm:pt>
    <dgm:pt modelId="{D05D94B1-F542-4BE3-B020-2DA2B48DDC49}" type="parTrans" cxnId="{DA1F295A-ED50-4D3B-AA95-E70A0A5E8D6B}">
      <dgm:prSet/>
      <dgm:spPr/>
      <dgm:t>
        <a:bodyPr/>
        <a:lstStyle/>
        <a:p>
          <a:endParaRPr lang="en-US"/>
        </a:p>
      </dgm:t>
    </dgm:pt>
    <dgm:pt modelId="{9FC49C82-0DB4-431D-B3B3-CE765D0FF28B}" type="sibTrans" cxnId="{DA1F295A-ED50-4D3B-AA95-E70A0A5E8D6B}">
      <dgm:prSet/>
      <dgm:spPr/>
      <dgm:t>
        <a:bodyPr/>
        <a:lstStyle/>
        <a:p>
          <a:endParaRPr lang="en-US"/>
        </a:p>
      </dgm:t>
    </dgm:pt>
    <dgm:pt modelId="{7D98610F-7F51-4A74-98F0-9C3E5B14AE7A}" type="pres">
      <dgm:prSet presAssocID="{D824866E-E994-4225-AEDD-16EC5360F997}" presName="linear" presStyleCnt="0">
        <dgm:presLayoutVars>
          <dgm:animLvl val="lvl"/>
          <dgm:resizeHandles val="exact"/>
        </dgm:presLayoutVars>
      </dgm:prSet>
      <dgm:spPr/>
      <dgm:t>
        <a:bodyPr/>
        <a:lstStyle/>
        <a:p>
          <a:endParaRPr lang="en-US"/>
        </a:p>
      </dgm:t>
    </dgm:pt>
    <dgm:pt modelId="{849530EC-D3C6-40B2-AC46-A3AE575206A7}" type="pres">
      <dgm:prSet presAssocID="{DF61380B-0AFA-4248-AF2F-AE8AE05BCEBB}" presName="parentText" presStyleLbl="node1" presStyleIdx="0" presStyleCnt="5">
        <dgm:presLayoutVars>
          <dgm:chMax val="0"/>
          <dgm:bulletEnabled val="1"/>
        </dgm:presLayoutVars>
      </dgm:prSet>
      <dgm:spPr/>
      <dgm:t>
        <a:bodyPr/>
        <a:lstStyle/>
        <a:p>
          <a:endParaRPr lang="en-US"/>
        </a:p>
      </dgm:t>
    </dgm:pt>
    <dgm:pt modelId="{DCA2D17B-363C-46EB-8566-C47D04EA8F10}" type="pres">
      <dgm:prSet presAssocID="{B118FA3F-553E-4221-8AC5-08EC6998BB70}" presName="spacer" presStyleCnt="0"/>
      <dgm:spPr/>
    </dgm:pt>
    <dgm:pt modelId="{8D3533D6-8592-49F4-B96A-2DF7F6D4AFFA}" type="pres">
      <dgm:prSet presAssocID="{6BE06820-3F58-4FBA-B466-723F823A4FE7}" presName="parentText" presStyleLbl="node1" presStyleIdx="1" presStyleCnt="5">
        <dgm:presLayoutVars>
          <dgm:chMax val="0"/>
          <dgm:bulletEnabled val="1"/>
        </dgm:presLayoutVars>
      </dgm:prSet>
      <dgm:spPr/>
      <dgm:t>
        <a:bodyPr/>
        <a:lstStyle/>
        <a:p>
          <a:endParaRPr lang="en-US"/>
        </a:p>
      </dgm:t>
    </dgm:pt>
    <dgm:pt modelId="{BCA59CEE-8558-468E-96F2-BF9D8DFC2BC7}" type="pres">
      <dgm:prSet presAssocID="{E6F4766B-093A-4FD9-9DB6-1465B7E6F6F2}" presName="spacer" presStyleCnt="0"/>
      <dgm:spPr/>
    </dgm:pt>
    <dgm:pt modelId="{43F09EE9-9591-4522-B28D-75B06EF535B3}" type="pres">
      <dgm:prSet presAssocID="{6625DFE2-1A59-4418-B28D-E1FA1144AF12}" presName="parentText" presStyleLbl="node1" presStyleIdx="2" presStyleCnt="5">
        <dgm:presLayoutVars>
          <dgm:chMax val="0"/>
          <dgm:bulletEnabled val="1"/>
        </dgm:presLayoutVars>
      </dgm:prSet>
      <dgm:spPr/>
      <dgm:t>
        <a:bodyPr/>
        <a:lstStyle/>
        <a:p>
          <a:endParaRPr lang="en-US"/>
        </a:p>
      </dgm:t>
    </dgm:pt>
    <dgm:pt modelId="{DBE25A37-9B5E-4D48-AFA7-39CEE3E776A9}" type="pres">
      <dgm:prSet presAssocID="{B8BCBC41-2B94-4974-814C-86F36BFA650A}" presName="spacer" presStyleCnt="0"/>
      <dgm:spPr/>
    </dgm:pt>
    <dgm:pt modelId="{8A7BD627-E325-4B93-8F25-F01F2A902C3D}" type="pres">
      <dgm:prSet presAssocID="{ED7DE36A-31CB-4BAA-B855-B83733B3F34A}" presName="parentText" presStyleLbl="node1" presStyleIdx="3" presStyleCnt="5">
        <dgm:presLayoutVars>
          <dgm:chMax val="0"/>
          <dgm:bulletEnabled val="1"/>
        </dgm:presLayoutVars>
      </dgm:prSet>
      <dgm:spPr/>
      <dgm:t>
        <a:bodyPr/>
        <a:lstStyle/>
        <a:p>
          <a:endParaRPr lang="en-US"/>
        </a:p>
      </dgm:t>
    </dgm:pt>
    <dgm:pt modelId="{733320AA-EFA7-4B13-88E9-C4A1CA53BF59}" type="pres">
      <dgm:prSet presAssocID="{542F1812-BC55-454E-843D-9343251561C5}" presName="spacer" presStyleCnt="0"/>
      <dgm:spPr/>
    </dgm:pt>
    <dgm:pt modelId="{F544D681-2186-44C8-998D-EF158593C7B1}" type="pres">
      <dgm:prSet presAssocID="{99B4A44C-AAC2-4195-BB50-C59E273DE7D9}" presName="parentText" presStyleLbl="node1" presStyleIdx="4" presStyleCnt="5">
        <dgm:presLayoutVars>
          <dgm:chMax val="0"/>
          <dgm:bulletEnabled val="1"/>
        </dgm:presLayoutVars>
      </dgm:prSet>
      <dgm:spPr/>
      <dgm:t>
        <a:bodyPr/>
        <a:lstStyle/>
        <a:p>
          <a:endParaRPr lang="en-US"/>
        </a:p>
      </dgm:t>
    </dgm:pt>
  </dgm:ptLst>
  <dgm:cxnLst>
    <dgm:cxn modelId="{3B2D3FA3-BE36-495C-8E34-0F47CDCA53D2}" type="presOf" srcId="{DF61380B-0AFA-4248-AF2F-AE8AE05BCEBB}" destId="{849530EC-D3C6-40B2-AC46-A3AE575206A7}" srcOrd="0" destOrd="0" presId="urn:microsoft.com/office/officeart/2005/8/layout/vList2"/>
    <dgm:cxn modelId="{BFEC4E93-A85F-4CEA-866C-FAE70F250014}" srcId="{D824866E-E994-4225-AEDD-16EC5360F997}" destId="{6625DFE2-1A59-4418-B28D-E1FA1144AF12}" srcOrd="2" destOrd="0" parTransId="{B8030F4F-B45F-4CB5-821B-7FE11FDFD6FB}" sibTransId="{B8BCBC41-2B94-4974-814C-86F36BFA650A}"/>
    <dgm:cxn modelId="{B9E3C26F-7D4B-42CC-B7D4-6F4A3FB94F7A}" type="presOf" srcId="{6625DFE2-1A59-4418-B28D-E1FA1144AF12}" destId="{43F09EE9-9591-4522-B28D-75B06EF535B3}" srcOrd="0" destOrd="0" presId="urn:microsoft.com/office/officeart/2005/8/layout/vList2"/>
    <dgm:cxn modelId="{3740C39B-8FF4-4BC8-BBE2-D5F6B266F798}" srcId="{D824866E-E994-4225-AEDD-16EC5360F997}" destId="{DF61380B-0AFA-4248-AF2F-AE8AE05BCEBB}" srcOrd="0" destOrd="0" parTransId="{2CB0EF34-4D19-49F3-A0E8-75076B01D3BF}" sibTransId="{B118FA3F-553E-4221-8AC5-08EC6998BB70}"/>
    <dgm:cxn modelId="{1E00EC4F-BA7F-430E-B873-EB87F63AA63B}" srcId="{D824866E-E994-4225-AEDD-16EC5360F997}" destId="{ED7DE36A-31CB-4BAA-B855-B83733B3F34A}" srcOrd="3" destOrd="0" parTransId="{4087EDDE-3855-4A5A-87B8-64715C035310}" sibTransId="{542F1812-BC55-454E-843D-9343251561C5}"/>
    <dgm:cxn modelId="{837986F6-8954-4133-969F-5819ADE2B84E}" type="presOf" srcId="{D824866E-E994-4225-AEDD-16EC5360F997}" destId="{7D98610F-7F51-4A74-98F0-9C3E5B14AE7A}" srcOrd="0" destOrd="0" presId="urn:microsoft.com/office/officeart/2005/8/layout/vList2"/>
    <dgm:cxn modelId="{CEDCE2D2-6D83-4ABF-9E41-FACCD093796A}" srcId="{D824866E-E994-4225-AEDD-16EC5360F997}" destId="{6BE06820-3F58-4FBA-B466-723F823A4FE7}" srcOrd="1" destOrd="0" parTransId="{14BCB081-491F-4CFA-A8B1-F619FDD05408}" sibTransId="{E6F4766B-093A-4FD9-9DB6-1465B7E6F6F2}"/>
    <dgm:cxn modelId="{DA1F295A-ED50-4D3B-AA95-E70A0A5E8D6B}" srcId="{D824866E-E994-4225-AEDD-16EC5360F997}" destId="{99B4A44C-AAC2-4195-BB50-C59E273DE7D9}" srcOrd="4" destOrd="0" parTransId="{D05D94B1-F542-4BE3-B020-2DA2B48DDC49}" sibTransId="{9FC49C82-0DB4-431D-B3B3-CE765D0FF28B}"/>
    <dgm:cxn modelId="{EDA414ED-32F6-4729-A9D8-8176F343B00C}" type="presOf" srcId="{ED7DE36A-31CB-4BAA-B855-B83733B3F34A}" destId="{8A7BD627-E325-4B93-8F25-F01F2A902C3D}" srcOrd="0" destOrd="0" presId="urn:microsoft.com/office/officeart/2005/8/layout/vList2"/>
    <dgm:cxn modelId="{038C0DD6-85E8-4EA9-B137-CEAC145D5215}" type="presOf" srcId="{99B4A44C-AAC2-4195-BB50-C59E273DE7D9}" destId="{F544D681-2186-44C8-998D-EF158593C7B1}" srcOrd="0" destOrd="0" presId="urn:microsoft.com/office/officeart/2005/8/layout/vList2"/>
    <dgm:cxn modelId="{04E53EDF-327C-4B50-8CF2-24EDC4112013}" type="presOf" srcId="{6BE06820-3F58-4FBA-B466-723F823A4FE7}" destId="{8D3533D6-8592-49F4-B96A-2DF7F6D4AFFA}" srcOrd="0" destOrd="0" presId="urn:microsoft.com/office/officeart/2005/8/layout/vList2"/>
    <dgm:cxn modelId="{2F4878FA-D08A-422D-8C02-306F197952CA}" type="presParOf" srcId="{7D98610F-7F51-4A74-98F0-9C3E5B14AE7A}" destId="{849530EC-D3C6-40B2-AC46-A3AE575206A7}" srcOrd="0" destOrd="0" presId="urn:microsoft.com/office/officeart/2005/8/layout/vList2"/>
    <dgm:cxn modelId="{50C74E39-50A6-4FDB-80EB-400B4C4471BF}" type="presParOf" srcId="{7D98610F-7F51-4A74-98F0-9C3E5B14AE7A}" destId="{DCA2D17B-363C-46EB-8566-C47D04EA8F10}" srcOrd="1" destOrd="0" presId="urn:microsoft.com/office/officeart/2005/8/layout/vList2"/>
    <dgm:cxn modelId="{A6F67F66-1F7B-49B7-A876-2C86FDCD4C85}" type="presParOf" srcId="{7D98610F-7F51-4A74-98F0-9C3E5B14AE7A}" destId="{8D3533D6-8592-49F4-B96A-2DF7F6D4AFFA}" srcOrd="2" destOrd="0" presId="urn:microsoft.com/office/officeart/2005/8/layout/vList2"/>
    <dgm:cxn modelId="{6AFD680C-EEE5-469C-8289-19B7A8426CCE}" type="presParOf" srcId="{7D98610F-7F51-4A74-98F0-9C3E5B14AE7A}" destId="{BCA59CEE-8558-468E-96F2-BF9D8DFC2BC7}" srcOrd="3" destOrd="0" presId="urn:microsoft.com/office/officeart/2005/8/layout/vList2"/>
    <dgm:cxn modelId="{A0C55FE3-0088-4466-8F51-D725BD2EF33A}" type="presParOf" srcId="{7D98610F-7F51-4A74-98F0-9C3E5B14AE7A}" destId="{43F09EE9-9591-4522-B28D-75B06EF535B3}" srcOrd="4" destOrd="0" presId="urn:microsoft.com/office/officeart/2005/8/layout/vList2"/>
    <dgm:cxn modelId="{2310F9BE-61D0-42BC-B9B9-1E77738F1943}" type="presParOf" srcId="{7D98610F-7F51-4A74-98F0-9C3E5B14AE7A}" destId="{DBE25A37-9B5E-4D48-AFA7-39CEE3E776A9}" srcOrd="5" destOrd="0" presId="urn:microsoft.com/office/officeart/2005/8/layout/vList2"/>
    <dgm:cxn modelId="{B99DEDEA-14B2-47CC-86C6-44B421562D44}" type="presParOf" srcId="{7D98610F-7F51-4A74-98F0-9C3E5B14AE7A}" destId="{8A7BD627-E325-4B93-8F25-F01F2A902C3D}" srcOrd="6" destOrd="0" presId="urn:microsoft.com/office/officeart/2005/8/layout/vList2"/>
    <dgm:cxn modelId="{40EEB2CA-20FB-484B-9841-EACA829C0468}" type="presParOf" srcId="{7D98610F-7F51-4A74-98F0-9C3E5B14AE7A}" destId="{733320AA-EFA7-4B13-88E9-C4A1CA53BF59}" srcOrd="7" destOrd="0" presId="urn:microsoft.com/office/officeart/2005/8/layout/vList2"/>
    <dgm:cxn modelId="{A40821DF-B55C-4115-A458-73EC33461B9A}" type="presParOf" srcId="{7D98610F-7F51-4A74-98F0-9C3E5B14AE7A}" destId="{F544D681-2186-44C8-998D-EF158593C7B1}"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B28AD9-F7BE-42B2-BDD4-E497B02F97A5}">
      <dsp:nvSpPr>
        <dsp:cNvPr id="0" name=""/>
        <dsp:cNvSpPr/>
      </dsp:nvSpPr>
      <dsp:spPr>
        <a:xfrm>
          <a:off x="0" y="4214378"/>
          <a:ext cx="7251033" cy="553134"/>
        </a:xfrm>
        <a:prstGeom prst="rect">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lvl="0" algn="ctr" defTabSz="800100">
            <a:lnSpc>
              <a:spcPct val="100000"/>
            </a:lnSpc>
            <a:spcBef>
              <a:spcPct val="0"/>
            </a:spcBef>
            <a:spcAft>
              <a:spcPct val="35000"/>
            </a:spcAft>
          </a:pPr>
          <a:r>
            <a:rPr lang="en-IN" sz="1800" kern="1200"/>
            <a:t>Output</a:t>
          </a:r>
          <a:endParaRPr lang="en-IN" sz="1800" kern="1200" dirty="0"/>
        </a:p>
      </dsp:txBody>
      <dsp:txXfrm>
        <a:off x="0" y="4214378"/>
        <a:ext cx="7251033" cy="553134"/>
      </dsp:txXfrm>
    </dsp:sp>
    <dsp:sp modelId="{13FDF490-B91C-4CD6-8596-0A4AF589843C}">
      <dsp:nvSpPr>
        <dsp:cNvPr id="0" name=""/>
        <dsp:cNvSpPr/>
      </dsp:nvSpPr>
      <dsp:spPr>
        <a:xfrm rot="10800000">
          <a:off x="0" y="3371954"/>
          <a:ext cx="7251033" cy="850721"/>
        </a:xfrm>
        <a:prstGeom prst="upArrowCallout">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13792" tIns="113792" rIns="113792" bIns="113792" numCol="1" spcCol="1270" anchor="ctr" anchorCtr="0">
          <a:noAutofit/>
        </a:bodyPr>
        <a:lstStyle/>
        <a:p>
          <a:pPr lvl="0" algn="ctr" defTabSz="711200">
            <a:lnSpc>
              <a:spcPct val="90000"/>
            </a:lnSpc>
            <a:spcBef>
              <a:spcPct val="0"/>
            </a:spcBef>
            <a:spcAft>
              <a:spcPct val="35000"/>
            </a:spcAft>
            <a:buNone/>
          </a:pPr>
          <a:r>
            <a:rPr lang="en-IN" sz="1600" kern="1200">
              <a:latin typeface="Calibri" panose="020F0502020204030204"/>
              <a:ea typeface="+mn-ea"/>
              <a:cs typeface="+mn-cs"/>
            </a:rPr>
            <a:t>Classification Network</a:t>
          </a:r>
          <a:endParaRPr lang="en-IN" sz="1600" kern="1200" dirty="0">
            <a:latin typeface="Calibri" panose="020F0502020204030204"/>
            <a:ea typeface="+mn-ea"/>
            <a:cs typeface="+mn-cs"/>
          </a:endParaRPr>
        </a:p>
      </dsp:txBody>
      <dsp:txXfrm rot="-10800000">
        <a:off x="0" y="3371954"/>
        <a:ext cx="7251033" cy="298603"/>
      </dsp:txXfrm>
    </dsp:sp>
    <dsp:sp modelId="{1703966E-4BBB-43E3-964F-93E9135FACF2}">
      <dsp:nvSpPr>
        <dsp:cNvPr id="0" name=""/>
        <dsp:cNvSpPr/>
      </dsp:nvSpPr>
      <dsp:spPr>
        <a:xfrm>
          <a:off x="3540" y="3670557"/>
          <a:ext cx="2414650" cy="254365"/>
        </a:xfrm>
        <a:prstGeom prst="rect">
          <a:avLst/>
        </a:prstGeom>
        <a:solidFill>
          <a:schemeClr val="accent1">
            <a:alpha val="90000"/>
            <a:tint val="4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78232" tIns="13970" rIns="78232" bIns="13970" numCol="1" spcCol="1270" anchor="ctr" anchorCtr="0">
          <a:noAutofit/>
        </a:bodyPr>
        <a:lstStyle/>
        <a:p>
          <a:pPr lvl="0" algn="ctr" defTabSz="488950">
            <a:lnSpc>
              <a:spcPct val="90000"/>
            </a:lnSpc>
            <a:spcBef>
              <a:spcPct val="0"/>
            </a:spcBef>
            <a:spcAft>
              <a:spcPct val="35000"/>
            </a:spcAft>
            <a:buNone/>
          </a:pPr>
          <a:r>
            <a:rPr lang="en-IN" sz="1100" kern="1200">
              <a:latin typeface="Calibri" panose="020F0502020204030204"/>
              <a:ea typeface="+mn-ea"/>
              <a:cs typeface="+mn-cs"/>
            </a:rPr>
            <a:t>Global Average Pooling(GAP)</a:t>
          </a:r>
          <a:endParaRPr lang="en-IN" sz="1100" kern="1200" dirty="0">
            <a:latin typeface="Calibri" panose="020F0502020204030204"/>
            <a:ea typeface="+mn-ea"/>
            <a:cs typeface="+mn-cs"/>
          </a:endParaRPr>
        </a:p>
      </dsp:txBody>
      <dsp:txXfrm>
        <a:off x="3540" y="3670557"/>
        <a:ext cx="2414650" cy="254365"/>
      </dsp:txXfrm>
    </dsp:sp>
    <dsp:sp modelId="{FD7BF822-FED9-4403-99F5-4D3858160725}">
      <dsp:nvSpPr>
        <dsp:cNvPr id="0" name=""/>
        <dsp:cNvSpPr/>
      </dsp:nvSpPr>
      <dsp:spPr>
        <a:xfrm>
          <a:off x="2418191" y="3670557"/>
          <a:ext cx="2414650" cy="254365"/>
        </a:xfrm>
        <a:prstGeom prst="rect">
          <a:avLst/>
        </a:prstGeom>
        <a:solidFill>
          <a:schemeClr val="accent1">
            <a:alpha val="90000"/>
            <a:tint val="4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78232" tIns="13970" rIns="78232" bIns="13970" numCol="1" spcCol="1270" anchor="ctr" anchorCtr="0">
          <a:noAutofit/>
        </a:bodyPr>
        <a:lstStyle/>
        <a:p>
          <a:pPr lvl="0" algn="ctr" defTabSz="488950">
            <a:lnSpc>
              <a:spcPct val="90000"/>
            </a:lnSpc>
            <a:spcBef>
              <a:spcPct val="0"/>
            </a:spcBef>
            <a:spcAft>
              <a:spcPct val="35000"/>
            </a:spcAft>
            <a:buNone/>
          </a:pPr>
          <a:r>
            <a:rPr lang="en-IN" sz="1100" kern="1200">
              <a:latin typeface="Calibri" panose="020F0502020204030204"/>
              <a:ea typeface="+mn-ea"/>
              <a:cs typeface="+mn-cs"/>
            </a:rPr>
            <a:t>Fully Connected Layer</a:t>
          </a:r>
          <a:endParaRPr lang="en-IN" sz="1100" kern="1200" dirty="0">
            <a:latin typeface="Calibri" panose="020F0502020204030204"/>
            <a:ea typeface="+mn-ea"/>
            <a:cs typeface="+mn-cs"/>
          </a:endParaRPr>
        </a:p>
      </dsp:txBody>
      <dsp:txXfrm>
        <a:off x="2418191" y="3670557"/>
        <a:ext cx="2414650" cy="254365"/>
      </dsp:txXfrm>
    </dsp:sp>
    <dsp:sp modelId="{8A5D061A-598D-46B5-A394-F9E4832E367C}">
      <dsp:nvSpPr>
        <dsp:cNvPr id="0" name=""/>
        <dsp:cNvSpPr/>
      </dsp:nvSpPr>
      <dsp:spPr>
        <a:xfrm>
          <a:off x="4832841" y="3670557"/>
          <a:ext cx="2414650" cy="254365"/>
        </a:xfrm>
        <a:prstGeom prst="rect">
          <a:avLst/>
        </a:prstGeom>
        <a:solidFill>
          <a:schemeClr val="accent1">
            <a:alpha val="90000"/>
            <a:tint val="4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78232" tIns="13970" rIns="78232" bIns="13970" numCol="1" spcCol="1270" anchor="ctr" anchorCtr="0">
          <a:noAutofit/>
        </a:bodyPr>
        <a:lstStyle/>
        <a:p>
          <a:pPr lvl="0" algn="ctr" defTabSz="488950">
            <a:lnSpc>
              <a:spcPct val="90000"/>
            </a:lnSpc>
            <a:spcBef>
              <a:spcPct val="0"/>
            </a:spcBef>
            <a:spcAft>
              <a:spcPct val="35000"/>
            </a:spcAft>
            <a:buNone/>
          </a:pPr>
          <a:r>
            <a:rPr lang="en-IN" sz="1100" kern="1200">
              <a:latin typeface="Calibri" panose="020F0502020204030204"/>
              <a:ea typeface="+mn-ea"/>
              <a:cs typeface="+mn-cs"/>
            </a:rPr>
            <a:t>Softmax Activation</a:t>
          </a:r>
          <a:endParaRPr lang="en-IN" sz="1100" kern="1200" dirty="0">
            <a:latin typeface="Calibri" panose="020F0502020204030204"/>
            <a:ea typeface="+mn-ea"/>
            <a:cs typeface="+mn-cs"/>
          </a:endParaRPr>
        </a:p>
      </dsp:txBody>
      <dsp:txXfrm>
        <a:off x="4832841" y="3670557"/>
        <a:ext cx="2414650" cy="254365"/>
      </dsp:txXfrm>
    </dsp:sp>
    <dsp:sp modelId="{8BE0FF32-B73D-45BE-8952-7B15D4DB300D}">
      <dsp:nvSpPr>
        <dsp:cNvPr id="0" name=""/>
        <dsp:cNvSpPr/>
      </dsp:nvSpPr>
      <dsp:spPr>
        <a:xfrm rot="10800000">
          <a:off x="0" y="2529529"/>
          <a:ext cx="7251033" cy="850721"/>
        </a:xfrm>
        <a:prstGeom prst="upArrowCallout">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13792" tIns="113792" rIns="113792" bIns="113792" numCol="1" spcCol="1270" anchor="ctr" anchorCtr="0">
          <a:noAutofit/>
        </a:bodyPr>
        <a:lstStyle/>
        <a:p>
          <a:pPr lvl="0" algn="ctr" defTabSz="711200">
            <a:lnSpc>
              <a:spcPct val="90000"/>
            </a:lnSpc>
            <a:spcBef>
              <a:spcPct val="0"/>
            </a:spcBef>
            <a:spcAft>
              <a:spcPct val="35000"/>
            </a:spcAft>
            <a:buNone/>
          </a:pPr>
          <a:r>
            <a:rPr lang="en-IN" sz="1600" kern="1200">
              <a:latin typeface="Calibri" panose="020F0502020204030204"/>
              <a:ea typeface="+mn-ea"/>
              <a:cs typeface="+mn-cs"/>
            </a:rPr>
            <a:t>Feature Extraction (Encoder)</a:t>
          </a:r>
          <a:endParaRPr lang="en-IN" sz="1600" kern="1200" dirty="0">
            <a:latin typeface="Calibri" panose="020F0502020204030204"/>
            <a:ea typeface="+mn-ea"/>
            <a:cs typeface="+mn-cs"/>
          </a:endParaRPr>
        </a:p>
      </dsp:txBody>
      <dsp:txXfrm rot="-10800000">
        <a:off x="0" y="2529529"/>
        <a:ext cx="7251033" cy="298603"/>
      </dsp:txXfrm>
    </dsp:sp>
    <dsp:sp modelId="{AEEAF0ED-782E-4247-8B61-2E72CB06E413}">
      <dsp:nvSpPr>
        <dsp:cNvPr id="0" name=""/>
        <dsp:cNvSpPr/>
      </dsp:nvSpPr>
      <dsp:spPr>
        <a:xfrm>
          <a:off x="3540" y="2828133"/>
          <a:ext cx="2414650" cy="254365"/>
        </a:xfrm>
        <a:prstGeom prst="rect">
          <a:avLst/>
        </a:prstGeom>
        <a:solidFill>
          <a:schemeClr val="accent1">
            <a:alpha val="90000"/>
            <a:tint val="4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78232" tIns="13970" rIns="78232" bIns="13970" numCol="1" spcCol="1270" anchor="ctr" anchorCtr="0">
          <a:noAutofit/>
        </a:bodyPr>
        <a:lstStyle/>
        <a:p>
          <a:pPr lvl="0" algn="ctr" defTabSz="488950">
            <a:lnSpc>
              <a:spcPct val="90000"/>
            </a:lnSpc>
            <a:spcBef>
              <a:spcPct val="0"/>
            </a:spcBef>
            <a:spcAft>
              <a:spcPct val="35000"/>
            </a:spcAft>
            <a:buNone/>
          </a:pPr>
          <a:r>
            <a:rPr lang="en-IN" sz="1100" kern="1200">
              <a:latin typeface="Calibri" panose="020F0502020204030204"/>
              <a:ea typeface="+mn-ea"/>
              <a:cs typeface="+mn-cs"/>
            </a:rPr>
            <a:t>ResNet3D-50 Backbone</a:t>
          </a:r>
          <a:endParaRPr lang="en-IN" sz="1100" kern="1200" dirty="0">
            <a:latin typeface="Calibri" panose="020F0502020204030204"/>
            <a:ea typeface="+mn-ea"/>
            <a:cs typeface="+mn-cs"/>
          </a:endParaRPr>
        </a:p>
      </dsp:txBody>
      <dsp:txXfrm>
        <a:off x="3540" y="2828133"/>
        <a:ext cx="2414650" cy="254365"/>
      </dsp:txXfrm>
    </dsp:sp>
    <dsp:sp modelId="{082BEA0F-B2D8-4D38-9560-2ADB4B7B9AA0}">
      <dsp:nvSpPr>
        <dsp:cNvPr id="0" name=""/>
        <dsp:cNvSpPr/>
      </dsp:nvSpPr>
      <dsp:spPr>
        <a:xfrm>
          <a:off x="2418191" y="2828133"/>
          <a:ext cx="2414650" cy="254365"/>
        </a:xfrm>
        <a:prstGeom prst="rect">
          <a:avLst/>
        </a:prstGeom>
        <a:solidFill>
          <a:schemeClr val="accent1">
            <a:alpha val="90000"/>
            <a:tint val="4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78232" tIns="13970" rIns="78232" bIns="13970" numCol="1" spcCol="1270" anchor="ctr" anchorCtr="0">
          <a:noAutofit/>
        </a:bodyPr>
        <a:lstStyle/>
        <a:p>
          <a:pPr lvl="0" algn="ctr" defTabSz="488950">
            <a:lnSpc>
              <a:spcPct val="100000"/>
            </a:lnSpc>
            <a:spcBef>
              <a:spcPct val="0"/>
            </a:spcBef>
            <a:spcAft>
              <a:spcPct val="35000"/>
            </a:spcAft>
          </a:pPr>
          <a:r>
            <a:rPr lang="en-IN" sz="1100" kern="1200" dirty="0"/>
            <a:t>Transformer-Aware Attention Module</a:t>
          </a:r>
        </a:p>
      </dsp:txBody>
      <dsp:txXfrm>
        <a:off x="2418191" y="2828133"/>
        <a:ext cx="2414650" cy="254365"/>
      </dsp:txXfrm>
    </dsp:sp>
    <dsp:sp modelId="{611C14E2-C8BE-4723-8C11-05D9677E7F3A}">
      <dsp:nvSpPr>
        <dsp:cNvPr id="0" name=""/>
        <dsp:cNvSpPr/>
      </dsp:nvSpPr>
      <dsp:spPr>
        <a:xfrm>
          <a:off x="4832841" y="2828133"/>
          <a:ext cx="2414650" cy="254365"/>
        </a:xfrm>
        <a:prstGeom prst="rect">
          <a:avLst/>
        </a:prstGeom>
        <a:solidFill>
          <a:schemeClr val="accent1">
            <a:alpha val="90000"/>
            <a:tint val="4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78232" tIns="13970" rIns="78232" bIns="13970" numCol="1" spcCol="1270" anchor="ctr" anchorCtr="0">
          <a:noAutofit/>
        </a:bodyPr>
        <a:lstStyle/>
        <a:p>
          <a:pPr lvl="0" algn="ctr" defTabSz="488950">
            <a:lnSpc>
              <a:spcPct val="100000"/>
            </a:lnSpc>
            <a:spcBef>
              <a:spcPct val="0"/>
            </a:spcBef>
            <a:spcAft>
              <a:spcPct val="35000"/>
            </a:spcAft>
          </a:pPr>
          <a:r>
            <a:rPr lang="en-IN" sz="1100" kern="1200"/>
            <a:t>Volumetric Feature Extraction</a:t>
          </a:r>
          <a:endParaRPr lang="en-IN" sz="1100" kern="1200" dirty="0"/>
        </a:p>
      </dsp:txBody>
      <dsp:txXfrm>
        <a:off x="4832841" y="2828133"/>
        <a:ext cx="2414650" cy="254365"/>
      </dsp:txXfrm>
    </dsp:sp>
    <dsp:sp modelId="{68497000-2147-4EF5-8C98-70A451709E0D}">
      <dsp:nvSpPr>
        <dsp:cNvPr id="0" name=""/>
        <dsp:cNvSpPr/>
      </dsp:nvSpPr>
      <dsp:spPr>
        <a:xfrm rot="10800000">
          <a:off x="0" y="1687105"/>
          <a:ext cx="7251033" cy="850721"/>
        </a:xfrm>
        <a:prstGeom prst="upArrowCallout">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13792" tIns="113792" rIns="113792" bIns="113792" numCol="1" spcCol="1270" anchor="ctr" anchorCtr="0">
          <a:noAutofit/>
        </a:bodyPr>
        <a:lstStyle/>
        <a:p>
          <a:pPr lvl="0" algn="ctr" defTabSz="711200">
            <a:lnSpc>
              <a:spcPct val="90000"/>
            </a:lnSpc>
            <a:spcBef>
              <a:spcPct val="0"/>
            </a:spcBef>
            <a:spcAft>
              <a:spcPct val="35000"/>
            </a:spcAft>
            <a:buNone/>
          </a:pPr>
          <a:r>
            <a:rPr lang="en-IN" sz="1600" kern="1200">
              <a:latin typeface="Calibri" panose="020F0502020204030204"/>
              <a:ea typeface="+mn-ea"/>
              <a:cs typeface="+mn-cs"/>
            </a:rPr>
            <a:t>Data Augmentation</a:t>
          </a:r>
          <a:endParaRPr lang="en-IN" sz="1600" kern="1200" dirty="0">
            <a:latin typeface="Calibri" panose="020F0502020204030204"/>
            <a:ea typeface="+mn-ea"/>
            <a:cs typeface="+mn-cs"/>
          </a:endParaRPr>
        </a:p>
      </dsp:txBody>
      <dsp:txXfrm rot="-10800000">
        <a:off x="0" y="1687105"/>
        <a:ext cx="7251033" cy="298603"/>
      </dsp:txXfrm>
    </dsp:sp>
    <dsp:sp modelId="{A190CBB5-0450-4FDD-9FAA-7E67CCB4C828}">
      <dsp:nvSpPr>
        <dsp:cNvPr id="0" name=""/>
        <dsp:cNvSpPr/>
      </dsp:nvSpPr>
      <dsp:spPr>
        <a:xfrm>
          <a:off x="3540" y="1985708"/>
          <a:ext cx="2414650" cy="254365"/>
        </a:xfrm>
        <a:prstGeom prst="rect">
          <a:avLst/>
        </a:prstGeom>
        <a:solidFill>
          <a:schemeClr val="accent1">
            <a:alpha val="90000"/>
            <a:tint val="4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78232" tIns="13970" rIns="78232" bIns="13970" numCol="1" spcCol="1270" anchor="ctr" anchorCtr="0">
          <a:noAutofit/>
        </a:bodyPr>
        <a:lstStyle/>
        <a:p>
          <a:pPr lvl="0" algn="ctr" defTabSz="488950">
            <a:lnSpc>
              <a:spcPct val="90000"/>
            </a:lnSpc>
            <a:spcBef>
              <a:spcPct val="0"/>
            </a:spcBef>
            <a:spcAft>
              <a:spcPct val="35000"/>
            </a:spcAft>
            <a:buNone/>
          </a:pPr>
          <a:r>
            <a:rPr lang="en-IN" sz="1100" kern="1200">
              <a:latin typeface="Calibri" panose="020F0502020204030204"/>
              <a:ea typeface="+mn-ea"/>
              <a:cs typeface="+mn-cs"/>
            </a:rPr>
            <a:t>Cyclic Augmentation</a:t>
          </a:r>
          <a:endParaRPr lang="en-IN" sz="1100" kern="1200" dirty="0">
            <a:latin typeface="Calibri" panose="020F0502020204030204"/>
            <a:ea typeface="+mn-ea"/>
            <a:cs typeface="+mn-cs"/>
          </a:endParaRPr>
        </a:p>
      </dsp:txBody>
      <dsp:txXfrm>
        <a:off x="3540" y="1985708"/>
        <a:ext cx="2414650" cy="254365"/>
      </dsp:txXfrm>
    </dsp:sp>
    <dsp:sp modelId="{80D6BD21-01B1-4CF3-9034-A72E8EF3B3B1}">
      <dsp:nvSpPr>
        <dsp:cNvPr id="0" name=""/>
        <dsp:cNvSpPr/>
      </dsp:nvSpPr>
      <dsp:spPr>
        <a:xfrm>
          <a:off x="2418191" y="1985708"/>
          <a:ext cx="2414650" cy="254365"/>
        </a:xfrm>
        <a:prstGeom prst="rect">
          <a:avLst/>
        </a:prstGeom>
        <a:solidFill>
          <a:schemeClr val="accent1">
            <a:alpha val="90000"/>
            <a:tint val="4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78232" tIns="13970" rIns="78232" bIns="13970" numCol="1" spcCol="1270" anchor="ctr" anchorCtr="0">
          <a:noAutofit/>
        </a:bodyPr>
        <a:lstStyle/>
        <a:p>
          <a:pPr lvl="0" algn="ctr" defTabSz="488950">
            <a:lnSpc>
              <a:spcPct val="100000"/>
            </a:lnSpc>
            <a:spcBef>
              <a:spcPct val="0"/>
            </a:spcBef>
            <a:spcAft>
              <a:spcPct val="35000"/>
            </a:spcAft>
          </a:pPr>
          <a:r>
            <a:rPr lang="en-IN" sz="1100" kern="1200" dirty="0"/>
            <a:t>Intensity Level Regularization</a:t>
          </a:r>
        </a:p>
      </dsp:txBody>
      <dsp:txXfrm>
        <a:off x="2418191" y="1985708"/>
        <a:ext cx="2414650" cy="254365"/>
      </dsp:txXfrm>
    </dsp:sp>
    <dsp:sp modelId="{D4D860A9-D2AD-4650-8521-6669BD17E151}">
      <dsp:nvSpPr>
        <dsp:cNvPr id="0" name=""/>
        <dsp:cNvSpPr/>
      </dsp:nvSpPr>
      <dsp:spPr>
        <a:xfrm>
          <a:off x="4832841" y="1985708"/>
          <a:ext cx="2414650" cy="254365"/>
        </a:xfrm>
        <a:prstGeom prst="rect">
          <a:avLst/>
        </a:prstGeom>
        <a:solidFill>
          <a:schemeClr val="accent1">
            <a:alpha val="90000"/>
            <a:tint val="4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78232" tIns="13970" rIns="78232" bIns="13970" numCol="1" spcCol="1270" anchor="ctr" anchorCtr="0">
          <a:noAutofit/>
        </a:bodyPr>
        <a:lstStyle/>
        <a:p>
          <a:pPr lvl="0" algn="ctr" defTabSz="488950">
            <a:lnSpc>
              <a:spcPct val="100000"/>
            </a:lnSpc>
            <a:spcBef>
              <a:spcPct val="0"/>
            </a:spcBef>
            <a:spcAft>
              <a:spcPct val="35000"/>
            </a:spcAft>
          </a:pPr>
          <a:r>
            <a:rPr lang="en-IN" sz="1100" kern="1200"/>
            <a:t>Brightness/Contrast Adjustments</a:t>
          </a:r>
          <a:endParaRPr lang="en-IN" sz="1100" kern="1200" dirty="0"/>
        </a:p>
      </dsp:txBody>
      <dsp:txXfrm>
        <a:off x="4832841" y="1985708"/>
        <a:ext cx="2414650" cy="254365"/>
      </dsp:txXfrm>
    </dsp:sp>
    <dsp:sp modelId="{415222FF-417E-4FC8-A342-C60AB3C92652}">
      <dsp:nvSpPr>
        <dsp:cNvPr id="0" name=""/>
        <dsp:cNvSpPr/>
      </dsp:nvSpPr>
      <dsp:spPr>
        <a:xfrm rot="10800000">
          <a:off x="0" y="844680"/>
          <a:ext cx="7251033" cy="850721"/>
        </a:xfrm>
        <a:prstGeom prst="upArrowCallout">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13792" tIns="113792" rIns="113792" bIns="113792" numCol="1" spcCol="1270" anchor="ctr" anchorCtr="0">
          <a:noAutofit/>
        </a:bodyPr>
        <a:lstStyle/>
        <a:p>
          <a:pPr lvl="0" algn="ctr" defTabSz="711200">
            <a:lnSpc>
              <a:spcPct val="90000"/>
            </a:lnSpc>
            <a:spcBef>
              <a:spcPct val="0"/>
            </a:spcBef>
            <a:spcAft>
              <a:spcPct val="35000"/>
            </a:spcAft>
            <a:buNone/>
          </a:pPr>
          <a:r>
            <a:rPr lang="en-IN" sz="1600" kern="1200">
              <a:latin typeface="Calibri" panose="020F0502020204030204"/>
              <a:ea typeface="+mn-ea"/>
              <a:cs typeface="+mn-cs"/>
            </a:rPr>
            <a:t>Pre - Processing</a:t>
          </a:r>
          <a:endParaRPr lang="en-IN" sz="1600" kern="1200" dirty="0">
            <a:latin typeface="Calibri" panose="020F0502020204030204"/>
            <a:ea typeface="+mn-ea"/>
            <a:cs typeface="+mn-cs"/>
          </a:endParaRPr>
        </a:p>
      </dsp:txBody>
      <dsp:txXfrm rot="-10800000">
        <a:off x="0" y="844680"/>
        <a:ext cx="7251033" cy="298603"/>
      </dsp:txXfrm>
    </dsp:sp>
    <dsp:sp modelId="{262B5A57-0E10-462F-8DD6-A18C277D6B26}">
      <dsp:nvSpPr>
        <dsp:cNvPr id="0" name=""/>
        <dsp:cNvSpPr/>
      </dsp:nvSpPr>
      <dsp:spPr>
        <a:xfrm>
          <a:off x="3540" y="1143283"/>
          <a:ext cx="2414650" cy="254365"/>
        </a:xfrm>
        <a:prstGeom prst="rect">
          <a:avLst/>
        </a:prstGeom>
        <a:solidFill>
          <a:schemeClr val="accent1">
            <a:alpha val="90000"/>
            <a:tint val="4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78232" tIns="13970" rIns="78232" bIns="13970" numCol="1" spcCol="1270" anchor="ctr" anchorCtr="0">
          <a:noAutofit/>
        </a:bodyPr>
        <a:lstStyle/>
        <a:p>
          <a:pPr lvl="0" algn="ctr" defTabSz="488950">
            <a:lnSpc>
              <a:spcPct val="90000"/>
            </a:lnSpc>
            <a:spcBef>
              <a:spcPct val="0"/>
            </a:spcBef>
            <a:spcAft>
              <a:spcPct val="35000"/>
            </a:spcAft>
            <a:buNone/>
          </a:pPr>
          <a:r>
            <a:rPr lang="en-IN" sz="1100" kern="1200">
              <a:latin typeface="Calibri" panose="020F0502020204030204"/>
              <a:ea typeface="+mn-ea"/>
              <a:cs typeface="+mn-cs"/>
            </a:rPr>
            <a:t>Image Resizing</a:t>
          </a:r>
          <a:endParaRPr lang="en-IN" sz="1100" kern="1200" dirty="0">
            <a:latin typeface="Calibri" panose="020F0502020204030204"/>
            <a:ea typeface="+mn-ea"/>
            <a:cs typeface="+mn-cs"/>
          </a:endParaRPr>
        </a:p>
      </dsp:txBody>
      <dsp:txXfrm>
        <a:off x="3540" y="1143283"/>
        <a:ext cx="2414650" cy="254365"/>
      </dsp:txXfrm>
    </dsp:sp>
    <dsp:sp modelId="{01A69043-C9F4-4F64-BBB1-A4C97F3E0F69}">
      <dsp:nvSpPr>
        <dsp:cNvPr id="0" name=""/>
        <dsp:cNvSpPr/>
      </dsp:nvSpPr>
      <dsp:spPr>
        <a:xfrm>
          <a:off x="2418191" y="1143283"/>
          <a:ext cx="2414650" cy="254365"/>
        </a:xfrm>
        <a:prstGeom prst="rect">
          <a:avLst/>
        </a:prstGeom>
        <a:solidFill>
          <a:schemeClr val="accent1">
            <a:alpha val="90000"/>
            <a:tint val="4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78232" tIns="13970" rIns="78232" bIns="13970" numCol="1" spcCol="1270" anchor="ctr" anchorCtr="0">
          <a:noAutofit/>
        </a:bodyPr>
        <a:lstStyle/>
        <a:p>
          <a:pPr lvl="0" algn="ctr" defTabSz="488950">
            <a:lnSpc>
              <a:spcPct val="90000"/>
            </a:lnSpc>
            <a:spcBef>
              <a:spcPct val="0"/>
            </a:spcBef>
            <a:spcAft>
              <a:spcPct val="35000"/>
            </a:spcAft>
            <a:buNone/>
          </a:pPr>
          <a:r>
            <a:rPr lang="en-IN" sz="1100" kern="1200">
              <a:latin typeface="Calibri" panose="020F0502020204030204"/>
              <a:ea typeface="+mn-ea"/>
              <a:cs typeface="+mn-cs"/>
            </a:rPr>
            <a:t>Normalization</a:t>
          </a:r>
          <a:endParaRPr lang="en-IN" sz="1100" kern="1200" dirty="0">
            <a:latin typeface="Calibri" panose="020F0502020204030204"/>
            <a:ea typeface="+mn-ea"/>
            <a:cs typeface="+mn-cs"/>
          </a:endParaRPr>
        </a:p>
      </dsp:txBody>
      <dsp:txXfrm>
        <a:off x="2418191" y="1143283"/>
        <a:ext cx="2414650" cy="254365"/>
      </dsp:txXfrm>
    </dsp:sp>
    <dsp:sp modelId="{D06F81AF-3FD4-4EFB-9B2F-80D2E99D855C}">
      <dsp:nvSpPr>
        <dsp:cNvPr id="0" name=""/>
        <dsp:cNvSpPr/>
      </dsp:nvSpPr>
      <dsp:spPr>
        <a:xfrm>
          <a:off x="4832841" y="1143283"/>
          <a:ext cx="2414650" cy="254365"/>
        </a:xfrm>
        <a:prstGeom prst="rect">
          <a:avLst/>
        </a:prstGeom>
        <a:solidFill>
          <a:schemeClr val="accent1">
            <a:alpha val="90000"/>
            <a:tint val="4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78232" tIns="13970" rIns="78232" bIns="13970" numCol="1" spcCol="1270" anchor="ctr" anchorCtr="0">
          <a:noAutofit/>
        </a:bodyPr>
        <a:lstStyle/>
        <a:p>
          <a:pPr lvl="0" algn="ctr" defTabSz="488950">
            <a:lnSpc>
              <a:spcPct val="100000"/>
            </a:lnSpc>
            <a:spcBef>
              <a:spcPct val="0"/>
            </a:spcBef>
            <a:spcAft>
              <a:spcPct val="35000"/>
            </a:spcAft>
          </a:pPr>
          <a:r>
            <a:rPr lang="en-IN" sz="1100" kern="1200" dirty="0"/>
            <a:t>3D-to-2D Slice Conversion</a:t>
          </a:r>
        </a:p>
      </dsp:txBody>
      <dsp:txXfrm>
        <a:off x="4832841" y="1143283"/>
        <a:ext cx="2414650" cy="254365"/>
      </dsp:txXfrm>
    </dsp:sp>
    <dsp:sp modelId="{1622A2FF-375E-4F0F-8324-1C759A961B89}">
      <dsp:nvSpPr>
        <dsp:cNvPr id="0" name=""/>
        <dsp:cNvSpPr/>
      </dsp:nvSpPr>
      <dsp:spPr>
        <a:xfrm rot="10800000">
          <a:off x="0" y="2256"/>
          <a:ext cx="7251033" cy="850721"/>
        </a:xfrm>
        <a:prstGeom prst="upArrowCallout">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13792" tIns="113792" rIns="113792" bIns="113792" numCol="1" spcCol="1270" anchor="ctr" anchorCtr="0">
          <a:noAutofit/>
        </a:bodyPr>
        <a:lstStyle/>
        <a:p>
          <a:pPr lvl="0" algn="ctr" defTabSz="711200">
            <a:lnSpc>
              <a:spcPct val="90000"/>
            </a:lnSpc>
            <a:spcBef>
              <a:spcPct val="0"/>
            </a:spcBef>
            <a:spcAft>
              <a:spcPct val="35000"/>
            </a:spcAft>
            <a:buNone/>
          </a:pPr>
          <a:r>
            <a:rPr lang="en-IN" sz="1600" b="1" kern="1200"/>
            <a:t>Input 3D Medical </a:t>
          </a:r>
          <a:endParaRPr lang="en-IN" sz="1600" kern="1200" dirty="0">
            <a:latin typeface="Calibri" panose="020F0502020204030204"/>
            <a:ea typeface="+mn-ea"/>
            <a:cs typeface="+mn-cs"/>
          </a:endParaRPr>
        </a:p>
      </dsp:txBody>
      <dsp:txXfrm rot="10800000">
        <a:off x="0" y="2256"/>
        <a:ext cx="7251033" cy="55277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FBCE8D-1D26-4B3B-B702-8559EC946E31}">
      <dsp:nvSpPr>
        <dsp:cNvPr id="0" name=""/>
        <dsp:cNvSpPr/>
      </dsp:nvSpPr>
      <dsp:spPr>
        <a:xfrm>
          <a:off x="559800" y="534037"/>
          <a:ext cx="1512000" cy="1512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743CA4A-8047-44A8-A50A-A6B3D0507C56}">
      <dsp:nvSpPr>
        <dsp:cNvPr id="0" name=""/>
        <dsp:cNvSpPr/>
      </dsp:nvSpPr>
      <dsp:spPr>
        <a:xfrm>
          <a:off x="559800" y="2187217"/>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lvl="0" algn="l" defTabSz="1466850">
            <a:lnSpc>
              <a:spcPct val="90000"/>
            </a:lnSpc>
            <a:spcBef>
              <a:spcPct val="0"/>
            </a:spcBef>
            <a:spcAft>
              <a:spcPct val="35000"/>
            </a:spcAft>
            <a:defRPr b="1"/>
          </a:pPr>
          <a:r>
            <a:rPr lang="en-US" sz="3300" b="1" kern="1200"/>
            <a:t>Hardware Specifications: </a:t>
          </a:r>
          <a:endParaRPr lang="en-US" sz="3300" kern="1200"/>
        </a:p>
      </dsp:txBody>
      <dsp:txXfrm>
        <a:off x="559800" y="2187217"/>
        <a:ext cx="4320000" cy="648000"/>
      </dsp:txXfrm>
    </dsp:sp>
    <dsp:sp modelId="{703E3CD8-DF70-4D39-A3F1-7CEAFF8028E9}">
      <dsp:nvSpPr>
        <dsp:cNvPr id="0" name=""/>
        <dsp:cNvSpPr/>
      </dsp:nvSpPr>
      <dsp:spPr>
        <a:xfrm>
          <a:off x="559800" y="2900883"/>
          <a:ext cx="4320000" cy="9164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lvl="0" algn="l" defTabSz="755650">
            <a:lnSpc>
              <a:spcPct val="90000"/>
            </a:lnSpc>
            <a:spcBef>
              <a:spcPct val="0"/>
            </a:spcBef>
            <a:spcAft>
              <a:spcPct val="35000"/>
            </a:spcAft>
          </a:pPr>
          <a:r>
            <a:rPr lang="en-IN" sz="1700" b="1" kern="1200"/>
            <a:t>Processor : </a:t>
          </a:r>
          <a:r>
            <a:rPr lang="en-IN" sz="1700" kern="1200"/>
            <a:t>Intel Core i7Gen or </a:t>
          </a:r>
          <a:r>
            <a:rPr lang="en-US" sz="1700" kern="1200"/>
            <a:t>above</a:t>
          </a:r>
        </a:p>
        <a:p>
          <a:pPr lvl="0" algn="l" defTabSz="755650">
            <a:lnSpc>
              <a:spcPct val="90000"/>
            </a:lnSpc>
            <a:spcBef>
              <a:spcPct val="0"/>
            </a:spcBef>
            <a:spcAft>
              <a:spcPct val="35000"/>
            </a:spcAft>
          </a:pPr>
          <a:r>
            <a:rPr lang="en-IN" sz="1700" b="1" kern="1200"/>
            <a:t>RAM : </a:t>
          </a:r>
          <a:r>
            <a:rPr lang="en-IN" sz="1700" kern="1200"/>
            <a:t>8GB (4 GB usable) </a:t>
          </a:r>
          <a:endParaRPr lang="en-US" sz="1700" kern="1200"/>
        </a:p>
        <a:p>
          <a:pPr lvl="0" algn="l" defTabSz="755650">
            <a:lnSpc>
              <a:spcPct val="90000"/>
            </a:lnSpc>
            <a:spcBef>
              <a:spcPct val="0"/>
            </a:spcBef>
            <a:spcAft>
              <a:spcPct val="35000"/>
            </a:spcAft>
          </a:pPr>
          <a:r>
            <a:rPr lang="en-IN" sz="1700" b="1" kern="1200"/>
            <a:t>System Type : </a:t>
          </a:r>
          <a:r>
            <a:rPr lang="en-IN" sz="1700" kern="1200"/>
            <a:t>64-bit operating system</a:t>
          </a:r>
          <a:endParaRPr lang="en-US" sz="1700" kern="1200"/>
        </a:p>
      </dsp:txBody>
      <dsp:txXfrm>
        <a:off x="559800" y="2900883"/>
        <a:ext cx="4320000" cy="916417"/>
      </dsp:txXfrm>
    </dsp:sp>
    <dsp:sp modelId="{D62CAAEE-AE35-4088-8479-B33F611C8600}">
      <dsp:nvSpPr>
        <dsp:cNvPr id="0" name=""/>
        <dsp:cNvSpPr/>
      </dsp:nvSpPr>
      <dsp:spPr>
        <a:xfrm>
          <a:off x="5635800" y="534037"/>
          <a:ext cx="1512000" cy="1512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F37AEA1-6EA3-4ABF-9704-BB6F967EAA9B}">
      <dsp:nvSpPr>
        <dsp:cNvPr id="0" name=""/>
        <dsp:cNvSpPr/>
      </dsp:nvSpPr>
      <dsp:spPr>
        <a:xfrm>
          <a:off x="5635800" y="2187217"/>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lvl="0" algn="l" defTabSz="1466850">
            <a:lnSpc>
              <a:spcPct val="90000"/>
            </a:lnSpc>
            <a:spcBef>
              <a:spcPct val="0"/>
            </a:spcBef>
            <a:spcAft>
              <a:spcPct val="35000"/>
            </a:spcAft>
            <a:defRPr b="1"/>
          </a:pPr>
          <a:r>
            <a:rPr lang="en-US" sz="3300" b="1" kern="1200"/>
            <a:t>Software</a:t>
          </a:r>
          <a:r>
            <a:rPr lang="en-IN" sz="3300" b="1" kern="1200"/>
            <a:t> </a:t>
          </a:r>
          <a:r>
            <a:rPr lang="en-US" sz="3300" b="1" kern="1200"/>
            <a:t>Specifications:</a:t>
          </a:r>
          <a:endParaRPr lang="en-US" sz="3300" kern="1200"/>
        </a:p>
      </dsp:txBody>
      <dsp:txXfrm>
        <a:off x="5635800" y="2187217"/>
        <a:ext cx="4320000" cy="648000"/>
      </dsp:txXfrm>
    </dsp:sp>
    <dsp:sp modelId="{4EEBF04F-EFA6-4D4D-A18B-DB69DBA94CC1}">
      <dsp:nvSpPr>
        <dsp:cNvPr id="0" name=""/>
        <dsp:cNvSpPr/>
      </dsp:nvSpPr>
      <dsp:spPr>
        <a:xfrm>
          <a:off x="5635800" y="2900883"/>
          <a:ext cx="4320000" cy="9164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lvl="0" algn="l" defTabSz="755650">
            <a:lnSpc>
              <a:spcPct val="90000"/>
            </a:lnSpc>
            <a:spcBef>
              <a:spcPct val="0"/>
            </a:spcBef>
            <a:spcAft>
              <a:spcPct val="35000"/>
            </a:spcAft>
          </a:pPr>
          <a:r>
            <a:rPr lang="en-US" sz="1700" b="1" kern="1200"/>
            <a:t>Operating System  :  </a:t>
          </a:r>
          <a:r>
            <a:rPr lang="en-US" sz="1700" kern="1200"/>
            <a:t>Windows 11 or above</a:t>
          </a:r>
        </a:p>
        <a:p>
          <a:pPr lvl="0" algn="l" defTabSz="755650">
            <a:lnSpc>
              <a:spcPct val="90000"/>
            </a:lnSpc>
            <a:spcBef>
              <a:spcPct val="0"/>
            </a:spcBef>
            <a:spcAft>
              <a:spcPct val="35000"/>
            </a:spcAft>
          </a:pPr>
          <a:r>
            <a:rPr lang="en-US" sz="1700" b="1" kern="1200"/>
            <a:t>Coding Language : </a:t>
          </a:r>
          <a:r>
            <a:rPr lang="en-US" sz="1700" kern="1200"/>
            <a:t>Python </a:t>
          </a:r>
        </a:p>
        <a:p>
          <a:pPr lvl="0" algn="l" defTabSz="755650">
            <a:lnSpc>
              <a:spcPct val="90000"/>
            </a:lnSpc>
            <a:spcBef>
              <a:spcPct val="0"/>
            </a:spcBef>
            <a:spcAft>
              <a:spcPct val="35000"/>
            </a:spcAft>
          </a:pPr>
          <a:r>
            <a:rPr lang="en-US" sz="1700" b="1" kern="1200"/>
            <a:t>Python Distribution: </a:t>
          </a:r>
          <a:r>
            <a:rPr lang="en-US" sz="1700" kern="1200"/>
            <a:t>Google COLAB </a:t>
          </a:r>
        </a:p>
      </dsp:txBody>
      <dsp:txXfrm>
        <a:off x="5635800" y="2900883"/>
        <a:ext cx="4320000" cy="91641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9530EC-D3C6-40B2-AC46-A3AE575206A7}">
      <dsp:nvSpPr>
        <dsp:cNvPr id="0" name=""/>
        <dsp:cNvSpPr/>
      </dsp:nvSpPr>
      <dsp:spPr>
        <a:xfrm>
          <a:off x="0" y="389429"/>
          <a:ext cx="5181600" cy="675327"/>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a:lnSpc>
              <a:spcPct val="90000"/>
            </a:lnSpc>
            <a:spcBef>
              <a:spcPct val="0"/>
            </a:spcBef>
            <a:spcAft>
              <a:spcPct val="35000"/>
            </a:spcAft>
          </a:pPr>
          <a:r>
            <a:rPr lang="en-US" sz="1700" b="1" kern="1200"/>
            <a:t>Comparison – RandAugment vs CyclicAugment</a:t>
          </a:r>
          <a:endParaRPr lang="en-US" sz="1700" kern="1200"/>
        </a:p>
      </dsp:txBody>
      <dsp:txXfrm>
        <a:off x="32967" y="422396"/>
        <a:ext cx="5115666" cy="609393"/>
      </dsp:txXfrm>
    </dsp:sp>
    <dsp:sp modelId="{8D3533D6-8592-49F4-B96A-2DF7F6D4AFFA}">
      <dsp:nvSpPr>
        <dsp:cNvPr id="0" name=""/>
        <dsp:cNvSpPr/>
      </dsp:nvSpPr>
      <dsp:spPr>
        <a:xfrm>
          <a:off x="0" y="1113717"/>
          <a:ext cx="5181600" cy="675327"/>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a:lnSpc>
              <a:spcPct val="90000"/>
            </a:lnSpc>
            <a:spcBef>
              <a:spcPct val="0"/>
            </a:spcBef>
            <a:spcAft>
              <a:spcPct val="35000"/>
            </a:spcAft>
          </a:pPr>
          <a:r>
            <a:rPr lang="en-US" sz="1700" kern="1200"/>
            <a:t>This chart compares </a:t>
          </a:r>
          <a:r>
            <a:rPr lang="en-US" sz="1700" b="1" kern="1200"/>
            <a:t>RandAugment</a:t>
          </a:r>
          <a:r>
            <a:rPr lang="en-US" sz="1700" kern="1200"/>
            <a:t> and </a:t>
          </a:r>
          <a:r>
            <a:rPr lang="en-US" sz="1700" b="1" kern="1200"/>
            <a:t>CyclicAugment</a:t>
          </a:r>
          <a:r>
            <a:rPr lang="en-US" sz="1700" kern="1200"/>
            <a:t> in different performance metrics.</a:t>
          </a:r>
        </a:p>
      </dsp:txBody>
      <dsp:txXfrm>
        <a:off x="32967" y="1146684"/>
        <a:ext cx="5115666" cy="609393"/>
      </dsp:txXfrm>
    </dsp:sp>
    <dsp:sp modelId="{43F09EE9-9591-4522-B28D-75B06EF535B3}">
      <dsp:nvSpPr>
        <dsp:cNvPr id="0" name=""/>
        <dsp:cNvSpPr/>
      </dsp:nvSpPr>
      <dsp:spPr>
        <a:xfrm>
          <a:off x="0" y="1838005"/>
          <a:ext cx="5181600" cy="675327"/>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a:lnSpc>
              <a:spcPct val="90000"/>
            </a:lnSpc>
            <a:spcBef>
              <a:spcPct val="0"/>
            </a:spcBef>
            <a:spcAft>
              <a:spcPct val="35000"/>
            </a:spcAft>
          </a:pPr>
          <a:r>
            <a:rPr lang="en-US" sz="1700" kern="1200"/>
            <a:t>CyclicAugment gives </a:t>
          </a:r>
          <a:r>
            <a:rPr lang="en-US" sz="1700" b="1" kern="1200"/>
            <a:t>better precision, recall, and F1-score</a:t>
          </a:r>
          <a:r>
            <a:rPr lang="en-US" sz="1700" kern="1200"/>
            <a:t>, meaning it learns patterns more effectively.</a:t>
          </a:r>
        </a:p>
      </dsp:txBody>
      <dsp:txXfrm>
        <a:off x="32967" y="1870972"/>
        <a:ext cx="5115666" cy="609393"/>
      </dsp:txXfrm>
    </dsp:sp>
    <dsp:sp modelId="{8A7BD627-E325-4B93-8F25-F01F2A902C3D}">
      <dsp:nvSpPr>
        <dsp:cNvPr id="0" name=""/>
        <dsp:cNvSpPr/>
      </dsp:nvSpPr>
      <dsp:spPr>
        <a:xfrm>
          <a:off x="0" y="2562292"/>
          <a:ext cx="5181600" cy="675327"/>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a:lnSpc>
              <a:spcPct val="90000"/>
            </a:lnSpc>
            <a:spcBef>
              <a:spcPct val="0"/>
            </a:spcBef>
            <a:spcAft>
              <a:spcPct val="35000"/>
            </a:spcAft>
          </a:pPr>
          <a:r>
            <a:rPr lang="en-US" sz="1700" kern="1200"/>
            <a:t>Accuracy is similar for both, but CyclicAugment has </a:t>
          </a:r>
          <a:r>
            <a:rPr lang="en-US" sz="1700" b="1" kern="1200"/>
            <a:t>higher ROC AUC</a:t>
          </a:r>
          <a:r>
            <a:rPr lang="en-US" sz="1700" kern="1200"/>
            <a:t>, showing it predicts more confidently.</a:t>
          </a:r>
        </a:p>
      </dsp:txBody>
      <dsp:txXfrm>
        <a:off x="32967" y="2595259"/>
        <a:ext cx="5115666" cy="609393"/>
      </dsp:txXfrm>
    </dsp:sp>
    <dsp:sp modelId="{F544D681-2186-44C8-998D-EF158593C7B1}">
      <dsp:nvSpPr>
        <dsp:cNvPr id="0" name=""/>
        <dsp:cNvSpPr/>
      </dsp:nvSpPr>
      <dsp:spPr>
        <a:xfrm>
          <a:off x="0" y="3286580"/>
          <a:ext cx="5181600" cy="675327"/>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a:lnSpc>
              <a:spcPct val="90000"/>
            </a:lnSpc>
            <a:spcBef>
              <a:spcPct val="0"/>
            </a:spcBef>
            <a:spcAft>
              <a:spcPct val="35000"/>
            </a:spcAft>
          </a:pPr>
          <a:r>
            <a:rPr lang="en-US" sz="1700" kern="1200"/>
            <a:t>In short — </a:t>
          </a:r>
          <a:r>
            <a:rPr lang="en-US" sz="1700" b="1" kern="1200"/>
            <a:t>CyclicAugment improves model quality and generalization</a:t>
          </a:r>
          <a:r>
            <a:rPr lang="en-US" sz="1700" kern="1200"/>
            <a:t> over RandAugment.</a:t>
          </a:r>
        </a:p>
      </dsp:txBody>
      <dsp:txXfrm>
        <a:off x="32967" y="3319547"/>
        <a:ext cx="5115666" cy="609393"/>
      </dsp:txXfrm>
    </dsp:sp>
  </dsp:spTree>
</dsp:drawing>
</file>

<file path=ppt/diagrams/layout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 xmlns:dgm1612="http://schemas.microsoft.com/office/drawing/2016/12/diagram">
        <a:lvl1pPr>
          <a:lnSpc>
            <a:spcPct val="100000"/>
          </a:lnSpc>
          <a:defRPr b="1"/>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9199655-05E8-4463-9482-2D23FD405AF3}" type="datetimeFigureOut">
              <a:rPr lang="en-IN" smtClean="0"/>
              <a:t>09-02-2026</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7C9CC48-2212-46F0-B96C-6F8104E82434}" type="slidenum">
              <a:rPr lang="en-IN" smtClean="0"/>
              <a:t>‹#›</a:t>
            </a:fld>
            <a:endParaRPr lang="en-IN"/>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858000" cy="3851868"/>
          </a:xfrm>
          <a:prstGeom prst="rect">
            <a:avLst/>
          </a:prstGeom>
        </p:spPr>
      </p:pic>
    </p:spTree>
    <p:extLst>
      <p:ext uri="{BB962C8B-B14F-4D97-AF65-F5344CB8AC3E}">
        <p14:creationId xmlns:p14="http://schemas.microsoft.com/office/powerpoint/2010/main" val="12714582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DE0E28-087F-4BBF-B8BC-055CB0BBD464}" type="datetimeFigureOut">
              <a:rPr lang="en-IN" smtClean="0"/>
              <a:t>09-02-2026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5E3DF0-35B4-40E5-AC91-1A2000F81275}" type="slidenum">
              <a:rPr lang="en-IN" smtClean="0"/>
              <a:t>‹#›</a:t>
            </a:fld>
            <a:endParaRPr lang="en-IN"/>
          </a:p>
        </p:txBody>
      </p:sp>
    </p:spTree>
    <p:extLst>
      <p:ext uri="{BB962C8B-B14F-4D97-AF65-F5344CB8AC3E}">
        <p14:creationId xmlns:p14="http://schemas.microsoft.com/office/powerpoint/2010/main" val="2605513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A65E3DF0-35B4-40E5-AC91-1A2000F81275}" type="slidenum">
              <a:rPr lang="en-IN" smtClean="0"/>
              <a:t>2</a:t>
            </a:fld>
            <a:endParaRPr lang="en-IN"/>
          </a:p>
        </p:txBody>
      </p:sp>
    </p:spTree>
    <p:extLst>
      <p:ext uri="{BB962C8B-B14F-4D97-AF65-F5344CB8AC3E}">
        <p14:creationId xmlns:p14="http://schemas.microsoft.com/office/powerpoint/2010/main" val="16973837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400FB5A5-9AD5-4C5E-A5FC-411B4C382AB6}" type="datetime1">
              <a:rPr lang="en-IN" smtClean="0"/>
              <a:t>09-02-2026</a:t>
            </a:fld>
            <a:endParaRPr lang="en-IN"/>
          </a:p>
        </p:txBody>
      </p:sp>
      <p:sp>
        <p:nvSpPr>
          <p:cNvPr id="5" name="Footer Placeholder 4"/>
          <p:cNvSpPr>
            <a:spLocks noGrp="1"/>
          </p:cNvSpPr>
          <p:nvPr>
            <p:ph type="ftr" sz="quarter" idx="11"/>
          </p:nvPr>
        </p:nvSpPr>
        <p:spPr/>
        <p:txBody>
          <a:bodyPr/>
          <a:lstStyle/>
          <a:p>
            <a:r>
              <a:rPr lang="en-US" dirty="0"/>
              <a:t>Review No.  3       Batch No.   AB7       Department of CSE</a:t>
            </a:r>
            <a:endParaRPr lang="en-IN" dirty="0"/>
          </a:p>
        </p:txBody>
      </p:sp>
      <p:sp>
        <p:nvSpPr>
          <p:cNvPr id="6" name="Slide Number Placeholder 5"/>
          <p:cNvSpPr>
            <a:spLocks noGrp="1"/>
          </p:cNvSpPr>
          <p:nvPr>
            <p:ph type="sldNum" sz="quarter" idx="12"/>
          </p:nvPr>
        </p:nvSpPr>
        <p:spPr/>
        <p:txBody>
          <a:bodyPr/>
          <a:lstStyle/>
          <a:p>
            <a:fld id="{65DCBD69-296B-4D7C-AF62-9B588FC78772}" type="slidenum">
              <a:rPr lang="en-IN" smtClean="0"/>
              <a:t>‹#›</a:t>
            </a:fld>
            <a:endParaRPr lang="en-IN"/>
          </a:p>
        </p:txBody>
      </p:sp>
    </p:spTree>
    <p:extLst>
      <p:ext uri="{BB962C8B-B14F-4D97-AF65-F5344CB8AC3E}">
        <p14:creationId xmlns:p14="http://schemas.microsoft.com/office/powerpoint/2010/main" val="42316521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IN"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5E7A069-8CF8-43D5-890A-A44A98E25D4C}" type="datetime1">
              <a:rPr lang="en-IN" smtClean="0"/>
              <a:t>09-02-2026</a:t>
            </a:fld>
            <a:endParaRPr lang="en-IN"/>
          </a:p>
        </p:txBody>
      </p:sp>
      <p:sp>
        <p:nvSpPr>
          <p:cNvPr id="5" name="Footer Placeholder 4"/>
          <p:cNvSpPr>
            <a:spLocks noGrp="1"/>
          </p:cNvSpPr>
          <p:nvPr>
            <p:ph type="ftr" sz="quarter" idx="11"/>
          </p:nvPr>
        </p:nvSpPr>
        <p:spPr/>
        <p:txBody>
          <a:bodyPr/>
          <a:lstStyle/>
          <a:p>
            <a:r>
              <a:rPr lang="en-US" dirty="0"/>
              <a:t>Review No.  3       Batch No.   AB7       Department of CSE</a:t>
            </a:r>
            <a:endParaRPr lang="en-IN" dirty="0"/>
          </a:p>
        </p:txBody>
      </p:sp>
      <p:sp>
        <p:nvSpPr>
          <p:cNvPr id="6" name="Slide Number Placeholder 5"/>
          <p:cNvSpPr>
            <a:spLocks noGrp="1"/>
          </p:cNvSpPr>
          <p:nvPr>
            <p:ph type="sldNum" sz="quarter" idx="12"/>
          </p:nvPr>
        </p:nvSpPr>
        <p:spPr/>
        <p:txBody>
          <a:bodyPr/>
          <a:lstStyle/>
          <a:p>
            <a:fld id="{65DCBD69-296B-4D7C-AF62-9B588FC78772}" type="slidenum">
              <a:rPr lang="en-IN" smtClean="0"/>
              <a:t>‹#›</a:t>
            </a:fld>
            <a:endParaRPr lang="en-IN"/>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7802064" cy="4382112"/>
          </a:xfrm>
          <a:prstGeom prst="rect">
            <a:avLst/>
          </a:prstGeom>
        </p:spPr>
      </p:pic>
    </p:spTree>
    <p:extLst>
      <p:ext uri="{BB962C8B-B14F-4D97-AF65-F5344CB8AC3E}">
        <p14:creationId xmlns:p14="http://schemas.microsoft.com/office/powerpoint/2010/main" val="22623763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0AE7CB-7D39-466B-8634-DE2E8DBAAAAB}" type="datetime1">
              <a:rPr lang="en-IN" smtClean="0"/>
              <a:t>09-02-2026</a:t>
            </a:fld>
            <a:endParaRPr lang="en-IN"/>
          </a:p>
        </p:txBody>
      </p:sp>
      <p:sp>
        <p:nvSpPr>
          <p:cNvPr id="5" name="Footer Placeholder 4"/>
          <p:cNvSpPr>
            <a:spLocks noGrp="1"/>
          </p:cNvSpPr>
          <p:nvPr>
            <p:ph type="ftr" sz="quarter" idx="11"/>
          </p:nvPr>
        </p:nvSpPr>
        <p:spPr/>
        <p:txBody>
          <a:bodyPr/>
          <a:lstStyle/>
          <a:p>
            <a:r>
              <a:rPr lang="en-US" dirty="0"/>
              <a:t>Review No.  3       Batch No.   AB7       Department of CSE</a:t>
            </a:r>
            <a:endParaRPr lang="en-IN" dirty="0"/>
          </a:p>
        </p:txBody>
      </p:sp>
      <p:sp>
        <p:nvSpPr>
          <p:cNvPr id="6" name="Slide Number Placeholder 5"/>
          <p:cNvSpPr>
            <a:spLocks noGrp="1"/>
          </p:cNvSpPr>
          <p:nvPr>
            <p:ph type="sldNum" sz="quarter" idx="12"/>
          </p:nvPr>
        </p:nvSpPr>
        <p:spPr/>
        <p:txBody>
          <a:bodyPr/>
          <a:lstStyle/>
          <a:p>
            <a:fld id="{65DCBD69-296B-4D7C-AF62-9B588FC78772}" type="slidenum">
              <a:rPr lang="en-IN" smtClean="0"/>
              <a:t>‹#›</a:t>
            </a:fld>
            <a:endParaRPr lang="en-IN"/>
          </a:p>
        </p:txBody>
      </p:sp>
    </p:spTree>
    <p:extLst>
      <p:ext uri="{BB962C8B-B14F-4D97-AF65-F5344CB8AC3E}">
        <p14:creationId xmlns:p14="http://schemas.microsoft.com/office/powerpoint/2010/main" val="21327912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665D4CE5-D04D-409B-9869-5DBF0E4AD9AC}" type="datetime1">
              <a:rPr lang="en-IN" smtClean="0"/>
              <a:t>09-02-2026</a:t>
            </a:fld>
            <a:endParaRPr lang="en-IN"/>
          </a:p>
        </p:txBody>
      </p:sp>
      <p:sp>
        <p:nvSpPr>
          <p:cNvPr id="6" name="Footer Placeholder 5"/>
          <p:cNvSpPr>
            <a:spLocks noGrp="1"/>
          </p:cNvSpPr>
          <p:nvPr>
            <p:ph type="ftr" sz="quarter" idx="11"/>
          </p:nvPr>
        </p:nvSpPr>
        <p:spPr/>
        <p:txBody>
          <a:bodyPr/>
          <a:lstStyle/>
          <a:p>
            <a:r>
              <a:rPr lang="en-US" dirty="0"/>
              <a:t>Review No.  3       Batch No.   AB7       Department of CSE</a:t>
            </a:r>
            <a:endParaRPr lang="en-IN" dirty="0"/>
          </a:p>
        </p:txBody>
      </p:sp>
      <p:sp>
        <p:nvSpPr>
          <p:cNvPr id="7" name="Slide Number Placeholder 6"/>
          <p:cNvSpPr>
            <a:spLocks noGrp="1"/>
          </p:cNvSpPr>
          <p:nvPr>
            <p:ph type="sldNum" sz="quarter" idx="12"/>
          </p:nvPr>
        </p:nvSpPr>
        <p:spPr/>
        <p:txBody>
          <a:bodyPr/>
          <a:lstStyle/>
          <a:p>
            <a:fld id="{65DCBD69-296B-4D7C-AF62-9B588FC78772}" type="slidenum">
              <a:rPr lang="en-IN" smtClean="0"/>
              <a:t>‹#›</a:t>
            </a:fld>
            <a:endParaRPr lang="en-IN"/>
          </a:p>
        </p:txBody>
      </p:sp>
    </p:spTree>
    <p:extLst>
      <p:ext uri="{BB962C8B-B14F-4D97-AF65-F5344CB8AC3E}">
        <p14:creationId xmlns:p14="http://schemas.microsoft.com/office/powerpoint/2010/main" val="24027585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52F3E3F0-3239-452D-89E4-50B40260EA65}" type="datetime1">
              <a:rPr lang="en-IN" smtClean="0"/>
              <a:t>09-02-2026</a:t>
            </a:fld>
            <a:endParaRPr lang="en-IN"/>
          </a:p>
        </p:txBody>
      </p:sp>
      <p:sp>
        <p:nvSpPr>
          <p:cNvPr id="8" name="Footer Placeholder 7"/>
          <p:cNvSpPr>
            <a:spLocks noGrp="1"/>
          </p:cNvSpPr>
          <p:nvPr>
            <p:ph type="ftr" sz="quarter" idx="11"/>
          </p:nvPr>
        </p:nvSpPr>
        <p:spPr/>
        <p:txBody>
          <a:bodyPr/>
          <a:lstStyle/>
          <a:p>
            <a:r>
              <a:rPr lang="en-US" dirty="0"/>
              <a:t>Review No.  3       Batch No.   AB7       Department of CSE</a:t>
            </a:r>
            <a:endParaRPr lang="en-IN" dirty="0"/>
          </a:p>
        </p:txBody>
      </p:sp>
      <p:sp>
        <p:nvSpPr>
          <p:cNvPr id="9" name="Slide Number Placeholder 8"/>
          <p:cNvSpPr>
            <a:spLocks noGrp="1"/>
          </p:cNvSpPr>
          <p:nvPr>
            <p:ph type="sldNum" sz="quarter" idx="12"/>
          </p:nvPr>
        </p:nvSpPr>
        <p:spPr/>
        <p:txBody>
          <a:bodyPr/>
          <a:lstStyle/>
          <a:p>
            <a:fld id="{65DCBD69-296B-4D7C-AF62-9B588FC78772}" type="slidenum">
              <a:rPr lang="en-IN" smtClean="0"/>
              <a:t>‹#›</a:t>
            </a:fld>
            <a:endParaRPr lang="en-IN"/>
          </a:p>
        </p:txBody>
      </p:sp>
    </p:spTree>
    <p:extLst>
      <p:ext uri="{BB962C8B-B14F-4D97-AF65-F5344CB8AC3E}">
        <p14:creationId xmlns:p14="http://schemas.microsoft.com/office/powerpoint/2010/main" val="38592795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17351DC4-E4E5-478F-B8AD-62EAD6D9AE26}" type="datetime1">
              <a:rPr lang="en-IN" smtClean="0"/>
              <a:t>09-02-2026</a:t>
            </a:fld>
            <a:endParaRPr lang="en-IN"/>
          </a:p>
        </p:txBody>
      </p:sp>
      <p:sp>
        <p:nvSpPr>
          <p:cNvPr id="4" name="Footer Placeholder 3"/>
          <p:cNvSpPr>
            <a:spLocks noGrp="1"/>
          </p:cNvSpPr>
          <p:nvPr>
            <p:ph type="ftr" sz="quarter" idx="11"/>
          </p:nvPr>
        </p:nvSpPr>
        <p:spPr/>
        <p:txBody>
          <a:bodyPr/>
          <a:lstStyle/>
          <a:p>
            <a:r>
              <a:rPr lang="en-US" dirty="0"/>
              <a:t>Review No.  3       Batch No.   AB7       Department of CSE</a:t>
            </a:r>
            <a:endParaRPr lang="en-IN" dirty="0"/>
          </a:p>
        </p:txBody>
      </p:sp>
      <p:sp>
        <p:nvSpPr>
          <p:cNvPr id="5" name="Slide Number Placeholder 4"/>
          <p:cNvSpPr>
            <a:spLocks noGrp="1"/>
          </p:cNvSpPr>
          <p:nvPr>
            <p:ph type="sldNum" sz="quarter" idx="12"/>
          </p:nvPr>
        </p:nvSpPr>
        <p:spPr/>
        <p:txBody>
          <a:bodyPr/>
          <a:lstStyle/>
          <a:p>
            <a:fld id="{65DCBD69-296B-4D7C-AF62-9B588FC78772}" type="slidenum">
              <a:rPr lang="en-IN" smtClean="0"/>
              <a:t>‹#›</a:t>
            </a:fld>
            <a:endParaRPr lang="en-IN"/>
          </a:p>
        </p:txBody>
      </p:sp>
    </p:spTree>
    <p:extLst>
      <p:ext uri="{BB962C8B-B14F-4D97-AF65-F5344CB8AC3E}">
        <p14:creationId xmlns:p14="http://schemas.microsoft.com/office/powerpoint/2010/main" val="28264153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458CCD1-712E-439D-A2B1-47B4864D2FAB}" type="datetime1">
              <a:rPr lang="en-IN" smtClean="0"/>
              <a:t>09-02-2026</a:t>
            </a:fld>
            <a:endParaRPr lang="en-IN"/>
          </a:p>
        </p:txBody>
      </p:sp>
      <p:sp>
        <p:nvSpPr>
          <p:cNvPr id="3" name="Footer Placeholder 2"/>
          <p:cNvSpPr>
            <a:spLocks noGrp="1"/>
          </p:cNvSpPr>
          <p:nvPr>
            <p:ph type="ftr" sz="quarter" idx="11"/>
          </p:nvPr>
        </p:nvSpPr>
        <p:spPr/>
        <p:txBody>
          <a:bodyPr/>
          <a:lstStyle/>
          <a:p>
            <a:r>
              <a:rPr lang="en-US" dirty="0"/>
              <a:t>Review No.  3       Batch No.   AB7       Department of CSE</a:t>
            </a:r>
            <a:endParaRPr lang="en-IN" dirty="0"/>
          </a:p>
        </p:txBody>
      </p:sp>
      <p:sp>
        <p:nvSpPr>
          <p:cNvPr id="4" name="Slide Number Placeholder 3"/>
          <p:cNvSpPr>
            <a:spLocks noGrp="1"/>
          </p:cNvSpPr>
          <p:nvPr>
            <p:ph type="sldNum" sz="quarter" idx="12"/>
          </p:nvPr>
        </p:nvSpPr>
        <p:spPr/>
        <p:txBody>
          <a:bodyPr/>
          <a:lstStyle/>
          <a:p>
            <a:fld id="{65DCBD69-296B-4D7C-AF62-9B588FC78772}" type="slidenum">
              <a:rPr lang="en-IN" smtClean="0"/>
              <a:t>‹#›</a:t>
            </a:fld>
            <a:endParaRPr lang="en-IN"/>
          </a:p>
        </p:txBody>
      </p:sp>
    </p:spTree>
    <p:extLst>
      <p:ext uri="{BB962C8B-B14F-4D97-AF65-F5344CB8AC3E}">
        <p14:creationId xmlns:p14="http://schemas.microsoft.com/office/powerpoint/2010/main" val="4596290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7D142DC-6938-4DE2-8836-2262FC4648C6}" type="datetime1">
              <a:rPr lang="en-IN" smtClean="0"/>
              <a:t>09-02-2026</a:t>
            </a:fld>
            <a:endParaRPr lang="en-IN"/>
          </a:p>
        </p:txBody>
      </p:sp>
      <p:sp>
        <p:nvSpPr>
          <p:cNvPr id="6" name="Footer Placeholder 5"/>
          <p:cNvSpPr>
            <a:spLocks noGrp="1"/>
          </p:cNvSpPr>
          <p:nvPr>
            <p:ph type="ftr" sz="quarter" idx="11"/>
          </p:nvPr>
        </p:nvSpPr>
        <p:spPr/>
        <p:txBody>
          <a:bodyPr/>
          <a:lstStyle/>
          <a:p>
            <a:r>
              <a:rPr lang="en-US" dirty="0"/>
              <a:t>Review No.  3       Batch No.   AB7       Department of CSE</a:t>
            </a:r>
            <a:endParaRPr lang="en-IN" dirty="0"/>
          </a:p>
        </p:txBody>
      </p:sp>
      <p:sp>
        <p:nvSpPr>
          <p:cNvPr id="7" name="Slide Number Placeholder 6"/>
          <p:cNvSpPr>
            <a:spLocks noGrp="1"/>
          </p:cNvSpPr>
          <p:nvPr>
            <p:ph type="sldNum" sz="quarter" idx="12"/>
          </p:nvPr>
        </p:nvSpPr>
        <p:spPr/>
        <p:txBody>
          <a:bodyPr/>
          <a:lstStyle/>
          <a:p>
            <a:fld id="{65DCBD69-296B-4D7C-AF62-9B588FC78772}" type="slidenum">
              <a:rPr lang="en-IN" smtClean="0"/>
              <a:t>‹#›</a:t>
            </a:fld>
            <a:endParaRPr lang="en-IN"/>
          </a:p>
        </p:txBody>
      </p:sp>
    </p:spTree>
    <p:extLst>
      <p:ext uri="{BB962C8B-B14F-4D97-AF65-F5344CB8AC3E}">
        <p14:creationId xmlns:p14="http://schemas.microsoft.com/office/powerpoint/2010/main" val="6813205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D100E9A-9EA9-4B6C-B63C-A773486B3B4C}" type="datetime1">
              <a:rPr lang="en-IN" smtClean="0"/>
              <a:t>09-02-2026</a:t>
            </a:fld>
            <a:endParaRPr lang="en-IN"/>
          </a:p>
        </p:txBody>
      </p:sp>
      <p:sp>
        <p:nvSpPr>
          <p:cNvPr id="6" name="Footer Placeholder 5"/>
          <p:cNvSpPr>
            <a:spLocks noGrp="1"/>
          </p:cNvSpPr>
          <p:nvPr>
            <p:ph type="ftr" sz="quarter" idx="11"/>
          </p:nvPr>
        </p:nvSpPr>
        <p:spPr/>
        <p:txBody>
          <a:bodyPr/>
          <a:lstStyle/>
          <a:p>
            <a:r>
              <a:rPr lang="en-US" dirty="0"/>
              <a:t>Review No.  3       Batch No.   AB7       Department of CSE</a:t>
            </a:r>
            <a:endParaRPr lang="en-IN" dirty="0"/>
          </a:p>
        </p:txBody>
      </p:sp>
      <p:sp>
        <p:nvSpPr>
          <p:cNvPr id="7" name="Slide Number Placeholder 6"/>
          <p:cNvSpPr>
            <a:spLocks noGrp="1"/>
          </p:cNvSpPr>
          <p:nvPr>
            <p:ph type="sldNum" sz="quarter" idx="12"/>
          </p:nvPr>
        </p:nvSpPr>
        <p:spPr/>
        <p:txBody>
          <a:bodyPr/>
          <a:lstStyle/>
          <a:p>
            <a:fld id="{65DCBD69-296B-4D7C-AF62-9B588FC78772}" type="slidenum">
              <a:rPr lang="en-IN" smtClean="0"/>
              <a:t>‹#›</a:t>
            </a:fld>
            <a:endParaRPr lang="en-IN"/>
          </a:p>
        </p:txBody>
      </p:sp>
    </p:spTree>
    <p:extLst>
      <p:ext uri="{BB962C8B-B14F-4D97-AF65-F5344CB8AC3E}">
        <p14:creationId xmlns:p14="http://schemas.microsoft.com/office/powerpoint/2010/main" val="36022788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F8DDBB6-CEFF-4F52-85D4-2806C50501D3}" type="datetime1">
              <a:rPr lang="en-IN" smtClean="0"/>
              <a:t>09-02-2026</a:t>
            </a:fld>
            <a:endParaRPr lang="en-IN"/>
          </a:p>
        </p:txBody>
      </p:sp>
      <p:sp>
        <p:nvSpPr>
          <p:cNvPr id="5" name="Footer Placeholder 4"/>
          <p:cNvSpPr>
            <a:spLocks noGrp="1"/>
          </p:cNvSpPr>
          <p:nvPr>
            <p:ph type="ftr" sz="quarter" idx="11"/>
          </p:nvPr>
        </p:nvSpPr>
        <p:spPr/>
        <p:txBody>
          <a:bodyPr/>
          <a:lstStyle/>
          <a:p>
            <a:r>
              <a:rPr lang="en-US" dirty="0"/>
              <a:t>Review No.  3       Batch No.   AB7       Department of CSE</a:t>
            </a:r>
            <a:endParaRPr lang="en-IN" dirty="0"/>
          </a:p>
        </p:txBody>
      </p:sp>
      <p:sp>
        <p:nvSpPr>
          <p:cNvPr id="6" name="Slide Number Placeholder 5"/>
          <p:cNvSpPr>
            <a:spLocks noGrp="1"/>
          </p:cNvSpPr>
          <p:nvPr>
            <p:ph type="sldNum" sz="quarter" idx="12"/>
          </p:nvPr>
        </p:nvSpPr>
        <p:spPr/>
        <p:txBody>
          <a:bodyPr/>
          <a:lstStyle/>
          <a:p>
            <a:fld id="{65DCBD69-296B-4D7C-AF62-9B588FC78772}" type="slidenum">
              <a:rPr lang="en-IN" smtClean="0"/>
              <a:t>‹#›</a:t>
            </a:fld>
            <a:endParaRPr lang="en-IN"/>
          </a:p>
        </p:txBody>
      </p:sp>
    </p:spTree>
    <p:extLst>
      <p:ext uri="{BB962C8B-B14F-4D97-AF65-F5344CB8AC3E}">
        <p14:creationId xmlns:p14="http://schemas.microsoft.com/office/powerpoint/2010/main" val="33943571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55F3F4F-2379-4AAE-852C-45DA149BAF29}" type="datetime1">
              <a:rPr lang="en-IN" smtClean="0"/>
              <a:t>09-02-2026</a:t>
            </a:fld>
            <a:endParaRPr lang="en-IN"/>
          </a:p>
        </p:txBody>
      </p:sp>
      <p:sp>
        <p:nvSpPr>
          <p:cNvPr id="5" name="Footer Placeholder 4"/>
          <p:cNvSpPr>
            <a:spLocks noGrp="1"/>
          </p:cNvSpPr>
          <p:nvPr>
            <p:ph type="ftr" sz="quarter" idx="11"/>
          </p:nvPr>
        </p:nvSpPr>
        <p:spPr/>
        <p:txBody>
          <a:bodyPr/>
          <a:lstStyle/>
          <a:p>
            <a:r>
              <a:rPr lang="en-US" dirty="0"/>
              <a:t>Review No.  3       Batch No.   AB7       Department of CSE</a:t>
            </a:r>
            <a:endParaRPr lang="en-IN" dirty="0"/>
          </a:p>
        </p:txBody>
      </p:sp>
      <p:sp>
        <p:nvSpPr>
          <p:cNvPr id="6" name="Slide Number Placeholder 5"/>
          <p:cNvSpPr>
            <a:spLocks noGrp="1"/>
          </p:cNvSpPr>
          <p:nvPr>
            <p:ph type="sldNum" sz="quarter" idx="12"/>
          </p:nvPr>
        </p:nvSpPr>
        <p:spPr/>
        <p:txBody>
          <a:bodyPr/>
          <a:lstStyle/>
          <a:p>
            <a:fld id="{65DCBD69-296B-4D7C-AF62-9B588FC78772}" type="slidenum">
              <a:rPr lang="en-IN" smtClean="0"/>
              <a:t>‹#›</a:t>
            </a:fld>
            <a:endParaRPr lang="en-IN"/>
          </a:p>
        </p:txBody>
      </p:sp>
    </p:spTree>
    <p:extLst>
      <p:ext uri="{BB962C8B-B14F-4D97-AF65-F5344CB8AC3E}">
        <p14:creationId xmlns:p14="http://schemas.microsoft.com/office/powerpoint/2010/main" val="18392069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8D3322B-0C8F-4E46-AC65-0C697070F09E}" type="datetime1">
              <a:rPr lang="en-IN" smtClean="0"/>
              <a:t>09-02-2026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Review No.  3       Batch No.   AB7       Department of CSE</a:t>
            </a:r>
            <a:endParaRPr lang="en-IN"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DCBD69-296B-4D7C-AF62-9B588FC78772}" type="slidenum">
              <a:rPr lang="en-IN" smtClean="0"/>
              <a:t>‹#›</a:t>
            </a:fld>
            <a:endParaRPr lang="en-IN"/>
          </a:p>
        </p:txBody>
      </p:sp>
    </p:spTree>
    <p:extLst>
      <p:ext uri="{BB962C8B-B14F-4D97-AF65-F5344CB8AC3E}">
        <p14:creationId xmlns:p14="http://schemas.microsoft.com/office/powerpoint/2010/main" val="41065171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10.jpg"/><Relationship Id="rId1" Type="http://schemas.openxmlformats.org/officeDocument/2006/relationships/slideLayout" Target="../slideLayouts/slideLayout4.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C40CD1E-CE49-9C56-B94F-276875E4BD8B}"/>
              </a:ext>
            </a:extLst>
          </p:cNvPr>
          <p:cNvSpPr>
            <a:spLocks noGrp="1"/>
          </p:cNvSpPr>
          <p:nvPr>
            <p:ph type="ctrTitle"/>
          </p:nvPr>
        </p:nvSpPr>
        <p:spPr>
          <a:xfrm>
            <a:off x="1524000" y="1147010"/>
            <a:ext cx="9144000" cy="4152777"/>
          </a:xfrm>
        </p:spPr>
        <p:txBody>
          <a:bodyPr>
            <a:normAutofit fontScale="90000"/>
          </a:bodyPr>
          <a:lstStyle/>
          <a:p>
            <a:r>
              <a:rPr lang="en-US" b="1" dirty="0" err="1">
                <a:solidFill>
                  <a:srgbClr val="FF0000"/>
                </a:solidFill>
                <a:latin typeface="Times New Roman" panose="02020603050405020304" pitchFamily="18" charset="0"/>
                <a:cs typeface="Times New Roman" panose="02020603050405020304" pitchFamily="18" charset="0"/>
              </a:rPr>
              <a:t>TransAugNet</a:t>
            </a:r>
            <a:r>
              <a:rPr lang="en-US" b="1" dirty="0">
                <a:solidFill>
                  <a:srgbClr val="FF0000"/>
                </a:solidFill>
                <a:latin typeface="Times New Roman" panose="02020603050405020304" pitchFamily="18" charset="0"/>
                <a:cs typeface="Times New Roman" panose="02020603050405020304" pitchFamily="18" charset="0"/>
              </a:rPr>
              <a:t> : Transformer-Aware Cyclic Augmentation for Biomedical Image Analysis</a:t>
            </a:r>
            <a:r>
              <a:rPr lang="en-US" b="1" dirty="0">
                <a:latin typeface="Times New Roman" panose="02020603050405020304" pitchFamily="18" charset="0"/>
                <a:cs typeface="Times New Roman" panose="02020603050405020304" pitchFamily="18" charset="0"/>
              </a:rPr>
              <a:t/>
            </a:r>
            <a:br>
              <a:rPr lang="en-US" b="1" dirty="0">
                <a:latin typeface="Times New Roman" panose="02020603050405020304" pitchFamily="18" charset="0"/>
                <a:cs typeface="Times New Roman" panose="02020603050405020304" pitchFamily="18" charset="0"/>
              </a:rPr>
            </a:br>
            <a:r>
              <a:rPr lang="en-US" sz="60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a:r>
            <a:br>
              <a:rPr lang="en-US" sz="60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br>
            <a:endParaRPr lang="en-IN" b="1" dirty="0">
              <a:solidFill>
                <a:srgbClr val="FF0000"/>
              </a:solidFill>
              <a:effectLst>
                <a:outerShdw blurRad="38100" dist="38100" dir="2700000" algn="tl">
                  <a:srgbClr val="000000">
                    <a:alpha val="43137"/>
                  </a:srgbClr>
                </a:outerShdw>
              </a:effectLst>
            </a:endParaRPr>
          </a:p>
        </p:txBody>
      </p:sp>
      <p:sp>
        <p:nvSpPr>
          <p:cNvPr id="4" name="Date Placeholder 3">
            <a:extLst>
              <a:ext uri="{FF2B5EF4-FFF2-40B4-BE49-F238E27FC236}">
                <a16:creationId xmlns="" xmlns:a16="http://schemas.microsoft.com/office/drawing/2014/main" id="{6CA4A291-3840-A232-5FDD-C957319B941E}"/>
              </a:ext>
            </a:extLst>
          </p:cNvPr>
          <p:cNvSpPr>
            <a:spLocks noGrp="1"/>
          </p:cNvSpPr>
          <p:nvPr>
            <p:ph type="dt" sz="half" idx="10"/>
          </p:nvPr>
        </p:nvSpPr>
        <p:spPr/>
        <p:txBody>
          <a:bodyPr/>
          <a:lstStyle/>
          <a:p>
            <a:fld id="{CE3904FB-2836-468E-82A3-DB729264CBE4}" type="datetime1">
              <a:rPr lang="en-IN" smtClean="0"/>
              <a:t>09-02-2026</a:t>
            </a:fld>
            <a:endParaRPr lang="en-IN" dirty="0"/>
          </a:p>
        </p:txBody>
      </p:sp>
      <p:sp>
        <p:nvSpPr>
          <p:cNvPr id="5" name="Footer Placeholder 4">
            <a:extLst>
              <a:ext uri="{FF2B5EF4-FFF2-40B4-BE49-F238E27FC236}">
                <a16:creationId xmlns="" xmlns:a16="http://schemas.microsoft.com/office/drawing/2014/main" id="{0A2574E5-84A6-D65B-08F8-6ABFAD25553D}"/>
              </a:ext>
            </a:extLst>
          </p:cNvPr>
          <p:cNvSpPr>
            <a:spLocks noGrp="1"/>
          </p:cNvSpPr>
          <p:nvPr>
            <p:ph type="ftr" sz="quarter" idx="11"/>
          </p:nvPr>
        </p:nvSpPr>
        <p:spPr/>
        <p:txBody>
          <a:bodyPr/>
          <a:lstStyle/>
          <a:p>
            <a:r>
              <a:rPr lang="en-US" dirty="0"/>
              <a:t>Review No.  </a:t>
            </a:r>
            <a:r>
              <a:rPr lang="en-US" dirty="0" smtClean="0"/>
              <a:t>3      </a:t>
            </a:r>
            <a:r>
              <a:rPr lang="en-US" dirty="0"/>
              <a:t>Batch No.   BB4       Department of CSE</a:t>
            </a:r>
            <a:endParaRPr lang="en-IN" dirty="0"/>
          </a:p>
        </p:txBody>
      </p:sp>
      <p:sp>
        <p:nvSpPr>
          <p:cNvPr id="6" name="Slide Number Placeholder 5">
            <a:extLst>
              <a:ext uri="{FF2B5EF4-FFF2-40B4-BE49-F238E27FC236}">
                <a16:creationId xmlns="" xmlns:a16="http://schemas.microsoft.com/office/drawing/2014/main" id="{2F1EAE83-E101-7788-5957-F7FCBA3F0413}"/>
              </a:ext>
            </a:extLst>
          </p:cNvPr>
          <p:cNvSpPr>
            <a:spLocks noGrp="1"/>
          </p:cNvSpPr>
          <p:nvPr>
            <p:ph type="sldNum" sz="quarter" idx="12"/>
          </p:nvPr>
        </p:nvSpPr>
        <p:spPr/>
        <p:txBody>
          <a:bodyPr/>
          <a:lstStyle/>
          <a:p>
            <a:fld id="{65DCBD69-296B-4D7C-AF62-9B588FC78772}" type="slidenum">
              <a:rPr lang="en-IN" smtClean="0"/>
              <a:t>1</a:t>
            </a:fld>
            <a:endParaRPr lang="en-IN"/>
          </a:p>
        </p:txBody>
      </p:sp>
      <p:pic>
        <p:nvPicPr>
          <p:cNvPr id="7" name="Picture 6">
            <a:extLst>
              <a:ext uri="{FF2B5EF4-FFF2-40B4-BE49-F238E27FC236}">
                <a16:creationId xmlns="" xmlns:a16="http://schemas.microsoft.com/office/drawing/2014/main" id="{D41C1983-F81B-E494-6D2E-28B0DBB063C1}"/>
              </a:ext>
            </a:extLst>
          </p:cNvPr>
          <p:cNvPicPr>
            <a:picLocks noChangeAspect="1"/>
          </p:cNvPicPr>
          <p:nvPr/>
        </p:nvPicPr>
        <p:blipFill>
          <a:blip r:embed="rId2"/>
          <a:stretch>
            <a:fillRect/>
          </a:stretch>
        </p:blipFill>
        <p:spPr>
          <a:xfrm>
            <a:off x="0" y="90674"/>
            <a:ext cx="3762900" cy="579027"/>
          </a:xfrm>
          <a:prstGeom prst="rect">
            <a:avLst/>
          </a:prstGeom>
        </p:spPr>
      </p:pic>
    </p:spTree>
    <p:extLst>
      <p:ext uri="{BB962C8B-B14F-4D97-AF65-F5344CB8AC3E}">
        <p14:creationId xmlns:p14="http://schemas.microsoft.com/office/powerpoint/2010/main" val="343241550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7"/>
          <p:cNvSpPr txBox="1">
            <a:spLocks/>
          </p:cNvSpPr>
          <p:nvPr/>
        </p:nvSpPr>
        <p:spPr>
          <a:xfrm>
            <a:off x="1754154" y="705471"/>
            <a:ext cx="8915400" cy="375925"/>
          </a:xfrm>
          <a:prstGeom prst="roundRect">
            <a:avLst>
              <a:gd name="adj" fmla="val 16667"/>
            </a:avLst>
          </a:prstGeom>
          <a:ln w="25400" cap="flat" cmpd="sng" algn="ctr">
            <a:solidFill>
              <a:schemeClr val="bg1"/>
            </a:solidFill>
            <a:prstDash val="solid"/>
          </a:ln>
        </p:spPr>
        <p:style>
          <a:lnRef idx="2">
            <a:schemeClr val="accent1"/>
          </a:lnRef>
          <a:fillRef idx="1">
            <a:schemeClr val="lt1"/>
          </a:fillRef>
          <a:effectRef idx="0">
            <a:schemeClr val="accent1"/>
          </a:effectRef>
          <a:fontRef idx="minor">
            <a:schemeClr val="dk1"/>
          </a:fontRef>
        </p:style>
        <p:txBody>
          <a:bodyPr>
            <a:noAutofit/>
          </a:bodyPr>
          <a:lstStyle/>
          <a:p>
            <a:pPr lvl="0" algn="ctr">
              <a:spcBef>
                <a:spcPct val="20000"/>
              </a:spcBef>
              <a:defRPr/>
            </a:pPr>
            <a:r>
              <a:rPr lang="en-US" b="1" dirty="0">
                <a:latin typeface="Times New Roman" panose="02020603050405020304" pitchFamily="18" charset="0"/>
                <a:cs typeface="Times New Roman" pitchFamily="18" charset="0"/>
              </a:rPr>
              <a:t>Department of Computer Science and Engineering</a:t>
            </a:r>
          </a:p>
          <a:p>
            <a:pPr algn="ctr">
              <a:spcBef>
                <a:spcPct val="20000"/>
              </a:spcBef>
              <a:defRPr/>
            </a:pPr>
            <a:r>
              <a:rPr lang="en-US" sz="2400" b="1" dirty="0" err="1">
                <a:solidFill>
                  <a:srgbClr val="FF0000"/>
                </a:solidFill>
                <a:latin typeface="Times New Roman" panose="02020603050405020304" pitchFamily="18" charset="0"/>
                <a:cs typeface="Times New Roman" panose="02020603050405020304" pitchFamily="18" charset="0"/>
              </a:rPr>
              <a:t>TransAugNet</a:t>
            </a:r>
            <a:r>
              <a:rPr lang="en-US" sz="2400" b="1" dirty="0">
                <a:solidFill>
                  <a:srgbClr val="FF0000"/>
                </a:solidFill>
                <a:latin typeface="Times New Roman" panose="02020603050405020304" pitchFamily="18" charset="0"/>
                <a:cs typeface="Times New Roman" panose="02020603050405020304" pitchFamily="18" charset="0"/>
              </a:rPr>
              <a:t> : Transformer-Aware Cyclic Augmentation for Biomedical Image Analysis</a:t>
            </a:r>
          </a:p>
          <a:p>
            <a:pPr lvl="0" algn="ctr">
              <a:spcBef>
                <a:spcPct val="20000"/>
              </a:spcBef>
              <a:defRPr/>
            </a:pP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a:r>
            <a:b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br>
            <a:endPar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16" name="Subtitle 2"/>
          <p:cNvSpPr>
            <a:spLocks noGrp="1"/>
          </p:cNvSpPr>
          <p:nvPr>
            <p:ph type="subTitle" idx="1"/>
          </p:nvPr>
        </p:nvSpPr>
        <p:spPr>
          <a:xfrm>
            <a:off x="1881450" y="1968030"/>
            <a:ext cx="9144000" cy="1603428"/>
          </a:xfrm>
        </p:spPr>
        <p:txBody>
          <a:bodyPr>
            <a:normAutofit/>
          </a:bodyPr>
          <a:lstStyle/>
          <a:p>
            <a:pPr eaLnBrk="1" hangingPunct="1"/>
            <a:r>
              <a:rPr lang="en-US" altLang="en-US" sz="1600" dirty="0">
                <a:solidFill>
                  <a:schemeClr val="tx1"/>
                </a:solidFill>
                <a:latin typeface="Times New Roman" panose="02020603050405020304" pitchFamily="18" charset="0"/>
                <a:cs typeface="Times New Roman" pitchFamily="18" charset="0"/>
              </a:rPr>
              <a:t>PRESENTED BY</a:t>
            </a:r>
          </a:p>
          <a:p>
            <a:pPr algn="l" eaLnBrk="1" hangingPunct="1"/>
            <a:r>
              <a:rPr lang="en-US" altLang="en-US" sz="1600" dirty="0">
                <a:solidFill>
                  <a:schemeClr val="tx1"/>
                </a:solidFill>
                <a:latin typeface="Times New Roman" panose="02020603050405020304" pitchFamily="18" charset="0"/>
                <a:cs typeface="Times New Roman" pitchFamily="18" charset="0"/>
              </a:rPr>
              <a:t>		</a:t>
            </a:r>
            <a:r>
              <a:rPr lang="en-US" altLang="en-US" sz="1600" dirty="0">
                <a:latin typeface="Times New Roman" panose="02020603050405020304" pitchFamily="18" charset="0"/>
                <a:cs typeface="Times New Roman" pitchFamily="18" charset="0"/>
              </a:rPr>
              <a:t>Nimmala Ashok                             </a:t>
            </a:r>
            <a:r>
              <a:rPr lang="en-US" altLang="en-US" sz="1600" dirty="0">
                <a:solidFill>
                  <a:schemeClr val="tx1"/>
                </a:solidFill>
                <a:latin typeface="Times New Roman" panose="02020603050405020304" pitchFamily="18" charset="0"/>
                <a:cs typeface="Times New Roman" pitchFamily="18" charset="0"/>
              </a:rPr>
              <a:t>	</a:t>
            </a:r>
            <a:r>
              <a:rPr lang="en-US" altLang="en-US" sz="1600" dirty="0">
                <a:latin typeface="Times New Roman" panose="02020603050405020304" pitchFamily="18" charset="0"/>
                <a:cs typeface="Times New Roman" pitchFamily="18" charset="0"/>
              </a:rPr>
              <a:t>22471A05B2</a:t>
            </a:r>
            <a:endParaRPr lang="en-US" altLang="en-US" sz="1600" dirty="0">
              <a:solidFill>
                <a:schemeClr val="tx1"/>
              </a:solidFill>
              <a:latin typeface="Times New Roman" panose="02020603050405020304" pitchFamily="18" charset="0"/>
              <a:cs typeface="Times New Roman" pitchFamily="18" charset="0"/>
            </a:endParaRPr>
          </a:p>
          <a:p>
            <a:pPr algn="l"/>
            <a:r>
              <a:rPr lang="en-US" altLang="en-US" sz="1600" dirty="0">
                <a:solidFill>
                  <a:schemeClr val="tx1"/>
                </a:solidFill>
                <a:latin typeface="Times New Roman" panose="02020603050405020304" pitchFamily="18" charset="0"/>
                <a:cs typeface="Times New Roman" pitchFamily="18" charset="0"/>
              </a:rPr>
              <a:t>		</a:t>
            </a:r>
            <a:r>
              <a:rPr lang="en-US" altLang="en-US" sz="1600" dirty="0">
                <a:latin typeface="Times New Roman" panose="02020603050405020304" pitchFamily="18" charset="0"/>
                <a:cs typeface="Times New Roman" pitchFamily="18" charset="0"/>
              </a:rPr>
              <a:t>Chenna Reddy Sudheer Reddy</a:t>
            </a:r>
            <a:r>
              <a:rPr lang="en-US" altLang="en-US" sz="1600" dirty="0">
                <a:solidFill>
                  <a:schemeClr val="tx1"/>
                </a:solidFill>
                <a:latin typeface="Times New Roman" panose="02020603050405020304" pitchFamily="18" charset="0"/>
                <a:cs typeface="Times New Roman" pitchFamily="18" charset="0"/>
              </a:rPr>
              <a:t>   		</a:t>
            </a:r>
            <a:r>
              <a:rPr lang="en-US" altLang="en-US" sz="1600" dirty="0">
                <a:latin typeface="Times New Roman" panose="02020603050405020304" pitchFamily="18" charset="0"/>
                <a:cs typeface="Times New Roman" pitchFamily="18" charset="0"/>
              </a:rPr>
              <a:t>22471A0582</a:t>
            </a:r>
            <a:endParaRPr lang="en-US" altLang="en-US" sz="1600" dirty="0">
              <a:solidFill>
                <a:schemeClr val="tx1"/>
              </a:solidFill>
              <a:latin typeface="Times New Roman" panose="02020603050405020304" pitchFamily="18" charset="0"/>
              <a:cs typeface="Times New Roman" pitchFamily="18" charset="0"/>
            </a:endParaRPr>
          </a:p>
          <a:p>
            <a:pPr algn="l"/>
            <a:r>
              <a:rPr lang="en-US" altLang="en-US" sz="1600" dirty="0">
                <a:solidFill>
                  <a:schemeClr val="tx1"/>
                </a:solidFill>
                <a:latin typeface="Times New Roman" panose="02020603050405020304" pitchFamily="18" charset="0"/>
                <a:cs typeface="Times New Roman" pitchFamily="18" charset="0"/>
              </a:rPr>
              <a:t>		</a:t>
            </a:r>
            <a:r>
              <a:rPr lang="en-US" altLang="en-US" sz="1600" dirty="0" err="1">
                <a:latin typeface="Times New Roman" panose="02020603050405020304" pitchFamily="18" charset="0"/>
                <a:cs typeface="Times New Roman" pitchFamily="18" charset="0"/>
              </a:rPr>
              <a:t>Yamarthy</a:t>
            </a:r>
            <a:r>
              <a:rPr lang="en-US" altLang="en-US" sz="1600" dirty="0">
                <a:latin typeface="Times New Roman" panose="02020603050405020304" pitchFamily="18" charset="0"/>
                <a:cs typeface="Times New Roman" pitchFamily="18" charset="0"/>
              </a:rPr>
              <a:t> Venkata Krishna</a:t>
            </a:r>
            <a:r>
              <a:rPr lang="en-US" altLang="en-US" sz="1600" dirty="0">
                <a:solidFill>
                  <a:schemeClr val="tx1"/>
                </a:solidFill>
                <a:latin typeface="Times New Roman" panose="02020603050405020304" pitchFamily="18" charset="0"/>
                <a:cs typeface="Times New Roman" pitchFamily="18" charset="0"/>
              </a:rPr>
              <a:t>		</a:t>
            </a:r>
            <a:r>
              <a:rPr lang="en-US" altLang="en-US" sz="1600" dirty="0">
                <a:latin typeface="Times New Roman" panose="02020603050405020304" pitchFamily="18" charset="0"/>
                <a:cs typeface="Times New Roman" pitchFamily="18" charset="0"/>
              </a:rPr>
              <a:t>22471A05D9</a:t>
            </a:r>
          </a:p>
        </p:txBody>
      </p:sp>
      <p:sp>
        <p:nvSpPr>
          <p:cNvPr id="17" name="Subtitle 2"/>
          <p:cNvSpPr txBox="1">
            <a:spLocks/>
          </p:cNvSpPr>
          <p:nvPr/>
        </p:nvSpPr>
        <p:spPr bwMode="auto">
          <a:xfrm>
            <a:off x="2782854" y="3571458"/>
            <a:ext cx="6858000" cy="2288429"/>
          </a:xfrm>
          <a:prstGeom prst="rect">
            <a:avLst/>
          </a:prstGeom>
          <a:noFill/>
          <a:ln w="9525">
            <a:noFill/>
            <a:miter lim="800000"/>
            <a:headEnd/>
            <a:tailEnd/>
          </a:ln>
        </p:spPr>
        <p:txBody>
          <a:bodyPr/>
          <a:lstStyle/>
          <a:p>
            <a:pPr algn="ctr" eaLnBrk="1" hangingPunct="1">
              <a:spcBef>
                <a:spcPct val="20000"/>
              </a:spcBef>
              <a:buFont typeface="Wingdings" pitchFamily="2" charset="2"/>
              <a:buNone/>
            </a:pPr>
            <a:r>
              <a:rPr lang="en-US" altLang="en-US" dirty="0">
                <a:solidFill>
                  <a:srgbClr val="006600"/>
                </a:solidFill>
                <a:latin typeface="Times New Roman" panose="02020603050405020304" pitchFamily="18" charset="0"/>
                <a:cs typeface="Times New Roman" pitchFamily="18" charset="0"/>
              </a:rPr>
              <a:t>Under the Guidance of,</a:t>
            </a:r>
            <a:endParaRPr lang="en-US" altLang="en-US" b="1" dirty="0">
              <a:solidFill>
                <a:srgbClr val="006600"/>
              </a:solidFill>
              <a:latin typeface="Times New Roman" pitchFamily="18" charset="0"/>
              <a:cs typeface="Times New Roman" pitchFamily="18" charset="0"/>
            </a:endParaRPr>
          </a:p>
          <a:p>
            <a:pPr algn="ctr" eaLnBrk="1" hangingPunct="1">
              <a:spcBef>
                <a:spcPct val="20000"/>
              </a:spcBef>
              <a:buFont typeface="Wingdings" pitchFamily="2" charset="2"/>
              <a:buNone/>
            </a:pPr>
            <a:endParaRPr lang="en-US" altLang="en-US" sz="900" b="1" dirty="0">
              <a:solidFill>
                <a:schemeClr val="bg1"/>
              </a:solidFill>
              <a:latin typeface="Times New Roman" pitchFamily="18" charset="0"/>
              <a:cs typeface="Times New Roman" pitchFamily="18" charset="0"/>
            </a:endParaRPr>
          </a:p>
          <a:p>
            <a:pPr algn="ctr">
              <a:spcBef>
                <a:spcPct val="20000"/>
              </a:spcBef>
            </a:pPr>
            <a:r>
              <a:rPr lang="en-IN" sz="1600" b="1" baseline="-25000" dirty="0">
                <a:latin typeface="Times New Roman" panose="02020603050405020304" pitchFamily="18" charset="0"/>
                <a:cs typeface="Times New Roman" panose="02020603050405020304" pitchFamily="18" charset="0"/>
              </a:rPr>
              <a:t>DR. S. N. </a:t>
            </a:r>
            <a:r>
              <a:rPr lang="en-IN" sz="1600" b="1" baseline="-25000" dirty="0" err="1" smtClean="0">
                <a:latin typeface="Times New Roman" panose="02020603050405020304" pitchFamily="18" charset="0"/>
                <a:cs typeface="Times New Roman" panose="02020603050405020304" pitchFamily="18" charset="0"/>
              </a:rPr>
              <a:t>Tirumala</a:t>
            </a:r>
            <a:r>
              <a:rPr lang="en-IN" sz="1600" b="1" baseline="-25000" dirty="0" smtClean="0">
                <a:latin typeface="Times New Roman" panose="02020603050405020304" pitchFamily="18" charset="0"/>
                <a:cs typeface="Times New Roman" panose="02020603050405020304" pitchFamily="18" charset="0"/>
              </a:rPr>
              <a:t> </a:t>
            </a:r>
            <a:r>
              <a:rPr lang="en-IN" sz="1600" b="1" baseline="-25000" dirty="0" err="1">
                <a:latin typeface="Times New Roman" panose="02020603050405020304" pitchFamily="18" charset="0"/>
                <a:cs typeface="Times New Roman" panose="02020603050405020304" pitchFamily="18" charset="0"/>
              </a:rPr>
              <a:t>Rao,M.Tech</a:t>
            </a:r>
            <a:r>
              <a:rPr lang="en-IN" sz="1600" b="1" baseline="-25000" dirty="0">
                <a:latin typeface="Times New Roman" panose="02020603050405020304" pitchFamily="18" charset="0"/>
                <a:cs typeface="Times New Roman" panose="02020603050405020304" pitchFamily="18" charset="0"/>
              </a:rPr>
              <a:t>, </a:t>
            </a:r>
            <a:r>
              <a:rPr lang="en-US" sz="1600" b="1" baseline="-25000" dirty="0">
                <a:latin typeface="Times New Roman" panose="02020603050405020304" pitchFamily="18" charset="0"/>
                <a:cs typeface="Times New Roman" panose="02020603050405020304" pitchFamily="18" charset="0"/>
              </a:rPr>
              <a:t>Ph.D.,</a:t>
            </a:r>
            <a:endParaRPr lang="en-IN" sz="1600" dirty="0">
              <a:latin typeface="Times New Roman" panose="02020603050405020304" pitchFamily="18" charset="0"/>
              <a:cs typeface="Times New Roman" panose="02020603050405020304" pitchFamily="18" charset="0"/>
            </a:endParaRPr>
          </a:p>
          <a:p>
            <a:pPr algn="ctr" eaLnBrk="1" hangingPunct="1">
              <a:spcBef>
                <a:spcPct val="20000"/>
              </a:spcBef>
              <a:buFont typeface="Wingdings" pitchFamily="2" charset="2"/>
              <a:buNone/>
            </a:pPr>
            <a:r>
              <a:rPr lang="en-US" altLang="en-US" sz="1600" b="1" u="sng" dirty="0">
                <a:solidFill>
                  <a:srgbClr val="FF0000"/>
                </a:solidFill>
                <a:latin typeface="Times New Roman" pitchFamily="18" charset="0"/>
                <a:cs typeface="Times New Roman" pitchFamily="18" charset="0"/>
              </a:rPr>
              <a:t>Professor ,</a:t>
            </a:r>
          </a:p>
          <a:p>
            <a:pPr algn="ctr" eaLnBrk="1" hangingPunct="1">
              <a:lnSpc>
                <a:spcPct val="150000"/>
              </a:lnSpc>
              <a:spcBef>
                <a:spcPct val="20000"/>
              </a:spcBef>
              <a:buFont typeface="Wingdings" pitchFamily="2" charset="2"/>
              <a:buNone/>
            </a:pPr>
            <a:r>
              <a:rPr lang="en-US" altLang="en-US" sz="1600" dirty="0">
                <a:latin typeface="Times New Roman" pitchFamily="18" charset="0"/>
                <a:cs typeface="Times New Roman" pitchFamily="18" charset="0"/>
              </a:rPr>
              <a:t>Department of Computer Science and Engineering,</a:t>
            </a:r>
          </a:p>
          <a:p>
            <a:pPr algn="ctr" eaLnBrk="1" hangingPunct="1">
              <a:lnSpc>
                <a:spcPct val="150000"/>
              </a:lnSpc>
              <a:spcBef>
                <a:spcPct val="20000"/>
              </a:spcBef>
              <a:buFont typeface="Wingdings" pitchFamily="2" charset="2"/>
              <a:buNone/>
            </a:pPr>
            <a:r>
              <a:rPr lang="en-US" altLang="en-US" sz="1600" dirty="0" err="1">
                <a:latin typeface="Times New Roman" pitchFamily="18" charset="0"/>
                <a:cs typeface="Times New Roman" pitchFamily="18" charset="0"/>
              </a:rPr>
              <a:t>Narasaraopeta</a:t>
            </a:r>
            <a:r>
              <a:rPr lang="en-US" altLang="en-US" sz="1600" dirty="0">
                <a:latin typeface="Times New Roman" pitchFamily="18" charset="0"/>
                <a:cs typeface="Times New Roman" pitchFamily="18" charset="0"/>
              </a:rPr>
              <a:t> Engineering College (Autonomous),</a:t>
            </a:r>
          </a:p>
          <a:p>
            <a:pPr algn="ctr" eaLnBrk="1" hangingPunct="1">
              <a:lnSpc>
                <a:spcPct val="150000"/>
              </a:lnSpc>
              <a:spcBef>
                <a:spcPct val="20000"/>
              </a:spcBef>
              <a:buFont typeface="Wingdings" pitchFamily="2" charset="2"/>
              <a:buNone/>
            </a:pPr>
            <a:r>
              <a:rPr lang="en-US" altLang="en-US" sz="1600" dirty="0" err="1">
                <a:latin typeface="Times New Roman" pitchFamily="18" charset="0"/>
                <a:cs typeface="Times New Roman" pitchFamily="18" charset="0"/>
              </a:rPr>
              <a:t>Narasaraopet</a:t>
            </a:r>
            <a:r>
              <a:rPr lang="en-US" altLang="en-US" sz="1600" dirty="0">
                <a:latin typeface="Times New Roman" pitchFamily="18" charset="0"/>
                <a:cs typeface="Times New Roman" pitchFamily="18" charset="0"/>
              </a:rPr>
              <a:t>- 522 601.</a:t>
            </a:r>
          </a:p>
        </p:txBody>
      </p:sp>
      <p:pic>
        <p:nvPicPr>
          <p:cNvPr id="9" name="Picture 8"/>
          <p:cNvPicPr>
            <a:picLocks noChangeAspect="1"/>
          </p:cNvPicPr>
          <p:nvPr/>
        </p:nvPicPr>
        <p:blipFill>
          <a:blip r:embed="rId3"/>
          <a:stretch>
            <a:fillRect/>
          </a:stretch>
        </p:blipFill>
        <p:spPr>
          <a:xfrm>
            <a:off x="0" y="90674"/>
            <a:ext cx="3762900" cy="579027"/>
          </a:xfrm>
          <a:prstGeom prst="rect">
            <a:avLst/>
          </a:prstGeom>
        </p:spPr>
      </p:pic>
      <p:sp>
        <p:nvSpPr>
          <p:cNvPr id="2" name="Date Placeholder 1">
            <a:extLst>
              <a:ext uri="{FF2B5EF4-FFF2-40B4-BE49-F238E27FC236}">
                <a16:creationId xmlns="" xmlns:a16="http://schemas.microsoft.com/office/drawing/2014/main" id="{398E28E1-D21D-A890-E735-1BE8CECBF2D2}"/>
              </a:ext>
            </a:extLst>
          </p:cNvPr>
          <p:cNvSpPr>
            <a:spLocks noGrp="1"/>
          </p:cNvSpPr>
          <p:nvPr>
            <p:ph type="dt" sz="half" idx="10"/>
          </p:nvPr>
        </p:nvSpPr>
        <p:spPr/>
        <p:txBody>
          <a:bodyPr/>
          <a:lstStyle/>
          <a:p>
            <a:fld id="{FFA311DF-0697-4E80-836E-43DF2195984E}" type="datetime1">
              <a:rPr lang="en-IN" smtClean="0"/>
              <a:t>09-02-2026</a:t>
            </a:fld>
            <a:endParaRPr lang="en-IN" dirty="0"/>
          </a:p>
        </p:txBody>
      </p:sp>
      <p:sp>
        <p:nvSpPr>
          <p:cNvPr id="4" name="Slide Number Placeholder 3">
            <a:extLst>
              <a:ext uri="{FF2B5EF4-FFF2-40B4-BE49-F238E27FC236}">
                <a16:creationId xmlns="" xmlns:a16="http://schemas.microsoft.com/office/drawing/2014/main" id="{E0582B04-E0CD-BA5A-E603-26218D054A8A}"/>
              </a:ext>
            </a:extLst>
          </p:cNvPr>
          <p:cNvSpPr>
            <a:spLocks noGrp="1"/>
          </p:cNvSpPr>
          <p:nvPr>
            <p:ph type="sldNum" sz="quarter" idx="12"/>
          </p:nvPr>
        </p:nvSpPr>
        <p:spPr/>
        <p:txBody>
          <a:bodyPr/>
          <a:lstStyle/>
          <a:p>
            <a:fld id="{65DCBD69-296B-4D7C-AF62-9B588FC78772}" type="slidenum">
              <a:rPr lang="en-IN" smtClean="0"/>
              <a:t>2</a:t>
            </a:fld>
            <a:endParaRPr lang="en-IN"/>
          </a:p>
        </p:txBody>
      </p:sp>
      <p:sp>
        <p:nvSpPr>
          <p:cNvPr id="5" name="Footer Placeholder 4">
            <a:extLst>
              <a:ext uri="{FF2B5EF4-FFF2-40B4-BE49-F238E27FC236}">
                <a16:creationId xmlns="" xmlns:a16="http://schemas.microsoft.com/office/drawing/2014/main" id="{648715C4-0F9D-CF40-4B1F-69159DA99D5E}"/>
              </a:ext>
            </a:extLst>
          </p:cNvPr>
          <p:cNvSpPr>
            <a:spLocks noGrp="1"/>
          </p:cNvSpPr>
          <p:nvPr>
            <p:ph type="ftr" sz="quarter" idx="11"/>
          </p:nvPr>
        </p:nvSpPr>
        <p:spPr>
          <a:xfrm>
            <a:off x="4038600" y="6356350"/>
            <a:ext cx="4114800" cy="365125"/>
          </a:xfrm>
        </p:spPr>
        <p:txBody>
          <a:bodyPr/>
          <a:lstStyle/>
          <a:p>
            <a:r>
              <a:rPr lang="en-US" dirty="0"/>
              <a:t>Review No.  </a:t>
            </a:r>
            <a:r>
              <a:rPr lang="en-US" dirty="0" smtClean="0"/>
              <a:t>3      </a:t>
            </a:r>
            <a:r>
              <a:rPr lang="en-US" dirty="0"/>
              <a:t>Batch No.   BB4       Department of CSE</a:t>
            </a:r>
            <a:endParaRPr lang="en-IN" dirty="0"/>
          </a:p>
        </p:txBody>
      </p:sp>
    </p:spTree>
    <p:extLst>
      <p:ext uri="{BB962C8B-B14F-4D97-AF65-F5344CB8AC3E}">
        <p14:creationId xmlns:p14="http://schemas.microsoft.com/office/powerpoint/2010/main" val="176969104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OUTLINE</a:t>
            </a:r>
          </a:p>
        </p:txBody>
      </p:sp>
      <p:sp>
        <p:nvSpPr>
          <p:cNvPr id="9" name="Content Placeholder 8">
            <a:extLst>
              <a:ext uri="{FF2B5EF4-FFF2-40B4-BE49-F238E27FC236}">
                <a16:creationId xmlns="" xmlns:a16="http://schemas.microsoft.com/office/drawing/2014/main" id="{0BAA4F36-AB00-F2C4-B47F-6381355DE604}"/>
              </a:ext>
            </a:extLst>
          </p:cNvPr>
          <p:cNvSpPr>
            <a:spLocks noGrp="1"/>
          </p:cNvSpPr>
          <p:nvPr>
            <p:ph idx="1"/>
          </p:nvPr>
        </p:nvSpPr>
        <p:spPr>
          <a:xfrm>
            <a:off x="838200" y="1274193"/>
            <a:ext cx="10515600" cy="4683829"/>
          </a:xfrm>
        </p:spPr>
        <p:txBody>
          <a:bodyPr>
            <a:normAutofit fontScale="62500" lnSpcReduction="20000"/>
          </a:bodyPr>
          <a:lstStyle/>
          <a:p>
            <a:pPr marL="514350" indent="-514350">
              <a:buFont typeface="+mj-lt"/>
              <a:buAutoNum type="arabicPeriod"/>
            </a:pPr>
            <a:r>
              <a:rPr lang="en-IN" dirty="0">
                <a:latin typeface="Times New Roman" panose="02020603050405020304" pitchFamily="18" charset="0"/>
                <a:cs typeface="Times New Roman" panose="02020603050405020304" pitchFamily="18" charset="0"/>
              </a:rPr>
              <a:t>Abstract</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Introduction </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Literature Survey</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Research Gaps</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Problem Statement</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Objectives </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Block Diagram / Flow Diagram</a:t>
            </a:r>
            <a:endParaRPr lang="en-IN"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Methodology</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Implementation</a:t>
            </a:r>
          </a:p>
          <a:p>
            <a:pPr marL="514350" indent="-514350">
              <a:buFont typeface="+mj-lt"/>
              <a:buAutoNum type="arabicPeriod"/>
            </a:pPr>
            <a:r>
              <a:rPr lang="en-IN" sz="2800" dirty="0">
                <a:latin typeface="Times New Roman" panose="02020603050405020304" pitchFamily="18" charset="0"/>
                <a:cs typeface="Times New Roman" panose="02020603050405020304" pitchFamily="18" charset="0"/>
              </a:rPr>
              <a:t>Results and Analysis</a:t>
            </a:r>
          </a:p>
          <a:p>
            <a:pPr marL="514350" indent="-514350">
              <a:buFont typeface="+mj-lt"/>
              <a:buAutoNum type="arabicPeriod"/>
            </a:pPr>
            <a:r>
              <a:rPr lang="en-IN" sz="2800" dirty="0">
                <a:latin typeface="Times New Roman" panose="02020603050405020304" pitchFamily="18" charset="0"/>
                <a:cs typeface="Times New Roman" panose="02020603050405020304" pitchFamily="18" charset="0"/>
              </a:rPr>
              <a:t>Conclusion &amp; Future Scope</a:t>
            </a:r>
            <a:endParaRPr lang="en-IN"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References</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Question and Answers</a:t>
            </a:r>
            <a:endParaRPr lang="en-IN"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Acknowledgements</a:t>
            </a:r>
          </a:p>
          <a:p>
            <a:endParaRPr lang="en-US"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 xmlns:a16="http://schemas.microsoft.com/office/drawing/2014/main" id="{08FBD3E7-CA13-4C6D-C568-7526ADA99AB4}"/>
              </a:ext>
            </a:extLst>
          </p:cNvPr>
          <p:cNvSpPr>
            <a:spLocks noGrp="1"/>
          </p:cNvSpPr>
          <p:nvPr>
            <p:ph type="dt" sz="half" idx="10"/>
          </p:nvPr>
        </p:nvSpPr>
        <p:spPr/>
        <p:txBody>
          <a:bodyPr/>
          <a:lstStyle/>
          <a:p>
            <a:fld id="{19068C50-672A-44E3-A054-C464663F0E7E}" type="datetime1">
              <a:rPr lang="en-IN" smtClean="0"/>
              <a:t>09-02-2026</a:t>
            </a:fld>
            <a:endParaRPr lang="en-IN"/>
          </a:p>
        </p:txBody>
      </p:sp>
      <p:sp>
        <p:nvSpPr>
          <p:cNvPr id="3" name="Footer Placeholder 2">
            <a:extLst>
              <a:ext uri="{FF2B5EF4-FFF2-40B4-BE49-F238E27FC236}">
                <a16:creationId xmlns="" xmlns:a16="http://schemas.microsoft.com/office/drawing/2014/main" id="{0BF6A06A-AB34-B643-BCA7-915CF97DC051}"/>
              </a:ext>
            </a:extLst>
          </p:cNvPr>
          <p:cNvSpPr>
            <a:spLocks noGrp="1"/>
          </p:cNvSpPr>
          <p:nvPr>
            <p:ph type="ftr" sz="quarter" idx="11"/>
          </p:nvPr>
        </p:nvSpPr>
        <p:spPr/>
        <p:txBody>
          <a:bodyPr/>
          <a:lstStyle/>
          <a:p>
            <a:r>
              <a:rPr lang="en-US" dirty="0"/>
              <a:t>Review No.  3       Batch No.   </a:t>
            </a:r>
            <a:r>
              <a:rPr lang="en-US" smtClean="0"/>
              <a:t>BB</a:t>
            </a:r>
            <a:r>
              <a:rPr lang="en-US"/>
              <a:t>4</a:t>
            </a:r>
            <a:r>
              <a:rPr lang="en-US" smtClean="0"/>
              <a:t>       </a:t>
            </a:r>
            <a:r>
              <a:rPr lang="en-US" dirty="0"/>
              <a:t>Department of CSE</a:t>
            </a:r>
            <a:endParaRPr lang="en-IN" dirty="0"/>
          </a:p>
        </p:txBody>
      </p:sp>
      <p:sp>
        <p:nvSpPr>
          <p:cNvPr id="4" name="Slide Number Placeholder 3">
            <a:extLst>
              <a:ext uri="{FF2B5EF4-FFF2-40B4-BE49-F238E27FC236}">
                <a16:creationId xmlns="" xmlns:a16="http://schemas.microsoft.com/office/drawing/2014/main" id="{F1C51766-A140-B3BD-55F8-E8376912C2DC}"/>
              </a:ext>
            </a:extLst>
          </p:cNvPr>
          <p:cNvSpPr>
            <a:spLocks noGrp="1"/>
          </p:cNvSpPr>
          <p:nvPr>
            <p:ph type="sldNum" sz="quarter" idx="12"/>
          </p:nvPr>
        </p:nvSpPr>
        <p:spPr/>
        <p:txBody>
          <a:bodyPr/>
          <a:lstStyle/>
          <a:p>
            <a:fld id="{65DCBD69-296B-4D7C-AF62-9B588FC78772}" type="slidenum">
              <a:rPr lang="en-IN" smtClean="0"/>
              <a:t>3</a:t>
            </a:fld>
            <a:endParaRPr lang="en-IN"/>
          </a:p>
        </p:txBody>
      </p:sp>
    </p:spTree>
    <p:extLst>
      <p:ext uri="{BB962C8B-B14F-4D97-AF65-F5344CB8AC3E}">
        <p14:creationId xmlns:p14="http://schemas.microsoft.com/office/powerpoint/2010/main" val="300675262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ABSTRACT</a:t>
            </a:r>
          </a:p>
        </p:txBody>
      </p:sp>
      <p:sp>
        <p:nvSpPr>
          <p:cNvPr id="9" name="Content Placeholder 8">
            <a:extLst>
              <a:ext uri="{FF2B5EF4-FFF2-40B4-BE49-F238E27FC236}">
                <a16:creationId xmlns="" xmlns:a16="http://schemas.microsoft.com/office/drawing/2014/main" id="{0BAA4F36-AB00-F2C4-B47F-6381355DE604}"/>
              </a:ext>
            </a:extLst>
          </p:cNvPr>
          <p:cNvSpPr>
            <a:spLocks noGrp="1"/>
          </p:cNvSpPr>
          <p:nvPr>
            <p:ph idx="1"/>
          </p:nvPr>
        </p:nvSpPr>
        <p:spPr/>
        <p:txBody>
          <a:bodyPr>
            <a:noAutofit/>
          </a:bodyPr>
          <a:lstStyle/>
          <a:p>
            <a:pPr algn="just"/>
            <a:r>
              <a:rPr lang="en-US" sz="2000" dirty="0"/>
              <a:t>Accurate identification of medical conditions is an important aspect of disease diagnosis. Over time, the doctors themselves need to analyze the disease of the patient. Doctors might not be able to detect the exact disease quite often. This leads to major damage to the patient, like delaying of diagnosis of the disease. In the worst case, this may lead to life-threatening conditions. To overcome these scenarios a deep learning technique named </a:t>
            </a:r>
            <a:r>
              <a:rPr lang="en-US" sz="2000" b="1" dirty="0" err="1"/>
              <a:t>TransAugNet</a:t>
            </a:r>
            <a:r>
              <a:rPr lang="en-US" sz="2000" dirty="0"/>
              <a:t> was introduced for accurate monitoring of disease through medical images. In recent times, due to advancements in AI, we can detect the disease accurately by using these deep learning techniques. It uses an approach of </a:t>
            </a:r>
            <a:r>
              <a:rPr lang="en-US" sz="2000" b="1" dirty="0"/>
              <a:t>Cyclic Augmentation</a:t>
            </a:r>
            <a:r>
              <a:rPr lang="en-US" sz="2000" dirty="0"/>
              <a:t> through the </a:t>
            </a:r>
            <a:r>
              <a:rPr lang="en-US" sz="2000" b="1" dirty="0"/>
              <a:t>ResNet3D-50</a:t>
            </a:r>
            <a:r>
              <a:rPr lang="en-US" sz="2000" dirty="0"/>
              <a:t> model for precise monitoring and helps in diagnosing the disease. This ResNet3D-50 model mainly converts the three-dimensional image to a stack of two-dimensional image slices. These slices are being worked together and help in the prediction of the disease. By using this deep learning technique, the response time will be low, and it supports the doctor in identifying the disease faster. The response time was much lower when compared to older methods, which were introduced earlier. Our model uses </a:t>
            </a:r>
            <a:r>
              <a:rPr lang="en-US" sz="2000" b="1" dirty="0"/>
              <a:t>Transformer-Aware Cyclic Augmentation</a:t>
            </a:r>
            <a:r>
              <a:rPr lang="en-US" sz="2000" dirty="0"/>
              <a:t>, combining attention with cyclic intensity to better understand biomedical images and improve classification accuracy.</a:t>
            </a:r>
            <a:endParaRPr lang="en-US" sz="3200"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 xmlns:a16="http://schemas.microsoft.com/office/drawing/2014/main" id="{D088ED89-6CE2-1878-F958-F5F16C614D61}"/>
              </a:ext>
            </a:extLst>
          </p:cNvPr>
          <p:cNvSpPr>
            <a:spLocks noGrp="1"/>
          </p:cNvSpPr>
          <p:nvPr>
            <p:ph type="dt" sz="half" idx="10"/>
          </p:nvPr>
        </p:nvSpPr>
        <p:spPr/>
        <p:txBody>
          <a:bodyPr/>
          <a:lstStyle/>
          <a:p>
            <a:fld id="{E05D17A6-429A-4FAB-A13B-335914022B74}" type="datetime1">
              <a:rPr lang="en-IN" smtClean="0"/>
              <a:t>09-02-2026</a:t>
            </a:fld>
            <a:endParaRPr lang="en-IN"/>
          </a:p>
        </p:txBody>
      </p:sp>
      <p:sp>
        <p:nvSpPr>
          <p:cNvPr id="4" name="Slide Number Placeholder 3">
            <a:extLst>
              <a:ext uri="{FF2B5EF4-FFF2-40B4-BE49-F238E27FC236}">
                <a16:creationId xmlns="" xmlns:a16="http://schemas.microsoft.com/office/drawing/2014/main" id="{84BE4974-64E8-3029-AF29-2817BC350AE3}"/>
              </a:ext>
            </a:extLst>
          </p:cNvPr>
          <p:cNvSpPr>
            <a:spLocks noGrp="1"/>
          </p:cNvSpPr>
          <p:nvPr>
            <p:ph type="sldNum" sz="quarter" idx="12"/>
          </p:nvPr>
        </p:nvSpPr>
        <p:spPr/>
        <p:txBody>
          <a:bodyPr/>
          <a:lstStyle/>
          <a:p>
            <a:fld id="{65DCBD69-296B-4D7C-AF62-9B588FC78772}" type="slidenum">
              <a:rPr lang="en-IN" smtClean="0"/>
              <a:t>4</a:t>
            </a:fld>
            <a:endParaRPr lang="en-IN"/>
          </a:p>
        </p:txBody>
      </p:sp>
      <p:sp>
        <p:nvSpPr>
          <p:cNvPr id="5" name="Footer Placeholder 4">
            <a:extLst>
              <a:ext uri="{FF2B5EF4-FFF2-40B4-BE49-F238E27FC236}">
                <a16:creationId xmlns="" xmlns:a16="http://schemas.microsoft.com/office/drawing/2014/main" id="{D9784CF7-6A1B-03B7-5331-961A43E734D3}"/>
              </a:ext>
            </a:extLst>
          </p:cNvPr>
          <p:cNvSpPr>
            <a:spLocks noGrp="1"/>
          </p:cNvSpPr>
          <p:nvPr>
            <p:ph type="ftr" sz="quarter" idx="11"/>
          </p:nvPr>
        </p:nvSpPr>
        <p:spPr>
          <a:xfrm>
            <a:off x="4038600" y="6356350"/>
            <a:ext cx="4114800" cy="365125"/>
          </a:xfrm>
        </p:spPr>
        <p:txBody>
          <a:bodyPr/>
          <a:lstStyle/>
          <a:p>
            <a:r>
              <a:rPr lang="en-US" dirty="0"/>
              <a:t>Review No.  </a:t>
            </a:r>
            <a:r>
              <a:rPr lang="en-US" dirty="0" smtClean="0"/>
              <a:t>3      </a:t>
            </a:r>
            <a:r>
              <a:rPr lang="en-US" dirty="0"/>
              <a:t>Batch No.   BB4       Department of CSE</a:t>
            </a:r>
            <a:endParaRPr lang="en-IN" dirty="0"/>
          </a:p>
        </p:txBody>
      </p:sp>
    </p:spTree>
    <p:extLst>
      <p:ext uri="{BB962C8B-B14F-4D97-AF65-F5344CB8AC3E}">
        <p14:creationId xmlns:p14="http://schemas.microsoft.com/office/powerpoint/2010/main" val="136910891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INTRODUCTION</a:t>
            </a:r>
          </a:p>
        </p:txBody>
      </p:sp>
      <p:sp>
        <p:nvSpPr>
          <p:cNvPr id="2" name="Date Placeholder 1">
            <a:extLst>
              <a:ext uri="{FF2B5EF4-FFF2-40B4-BE49-F238E27FC236}">
                <a16:creationId xmlns="" xmlns:a16="http://schemas.microsoft.com/office/drawing/2014/main" id="{DA41334F-F304-F402-6BCD-557819BA46D8}"/>
              </a:ext>
            </a:extLst>
          </p:cNvPr>
          <p:cNvSpPr>
            <a:spLocks noGrp="1"/>
          </p:cNvSpPr>
          <p:nvPr>
            <p:ph type="dt" sz="half" idx="10"/>
          </p:nvPr>
        </p:nvSpPr>
        <p:spPr/>
        <p:txBody>
          <a:bodyPr/>
          <a:lstStyle/>
          <a:p>
            <a:fld id="{D43FBEF9-A74C-451A-8DE3-9ECB10565EBA}" type="datetime1">
              <a:rPr lang="en-IN" smtClean="0"/>
              <a:t>09-02-2026</a:t>
            </a:fld>
            <a:endParaRPr lang="en-IN"/>
          </a:p>
        </p:txBody>
      </p:sp>
      <p:sp>
        <p:nvSpPr>
          <p:cNvPr id="4" name="Slide Number Placeholder 3">
            <a:extLst>
              <a:ext uri="{FF2B5EF4-FFF2-40B4-BE49-F238E27FC236}">
                <a16:creationId xmlns="" xmlns:a16="http://schemas.microsoft.com/office/drawing/2014/main" id="{D3735026-E66F-12F5-FDDA-5C8F6ADB17AC}"/>
              </a:ext>
            </a:extLst>
          </p:cNvPr>
          <p:cNvSpPr>
            <a:spLocks noGrp="1"/>
          </p:cNvSpPr>
          <p:nvPr>
            <p:ph type="sldNum" sz="quarter" idx="12"/>
          </p:nvPr>
        </p:nvSpPr>
        <p:spPr/>
        <p:txBody>
          <a:bodyPr/>
          <a:lstStyle/>
          <a:p>
            <a:fld id="{65DCBD69-296B-4D7C-AF62-9B588FC78772}" type="slidenum">
              <a:rPr lang="en-IN" smtClean="0"/>
              <a:t>5</a:t>
            </a:fld>
            <a:endParaRPr lang="en-IN"/>
          </a:p>
        </p:txBody>
      </p:sp>
      <p:sp>
        <p:nvSpPr>
          <p:cNvPr id="11" name="Rectangle 5">
            <a:extLst>
              <a:ext uri="{FF2B5EF4-FFF2-40B4-BE49-F238E27FC236}">
                <a16:creationId xmlns="" xmlns:a16="http://schemas.microsoft.com/office/drawing/2014/main" id="{2207CA21-25E2-AC71-D84F-E1FEE522C9B0}"/>
              </a:ext>
            </a:extLst>
          </p:cNvPr>
          <p:cNvSpPr>
            <a:spLocks noGrp="1" noChangeArrowheads="1"/>
          </p:cNvSpPr>
          <p:nvPr>
            <p:ph idx="1"/>
          </p:nvPr>
        </p:nvSpPr>
        <p:spPr bwMode="auto">
          <a:xfrm>
            <a:off x="838200" y="1433902"/>
            <a:ext cx="10977881" cy="46115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Medical imaging</a:t>
            </a:r>
            <a:r>
              <a:rPr kumimoji="0" lang="en-US" altLang="en-US" sz="1800" b="0" i="0" u="none" strike="noStrike" cap="none" normalizeH="0" baseline="0" dirty="0">
                <a:ln>
                  <a:noFill/>
                </a:ln>
                <a:solidFill>
                  <a:schemeClr val="tx1"/>
                </a:solidFill>
                <a:effectLst/>
                <a:latin typeface="Arial" panose="020B0604020202020204" pitchFamily="34" charset="0"/>
              </a:rPr>
              <a:t> (X-ray, MRI, CT) is vital for disease diagnosis but manual interpretation by specialists is </a:t>
            </a:r>
            <a:r>
              <a:rPr kumimoji="0" lang="en-US" altLang="en-US" sz="1800" b="1" i="0" u="none" strike="noStrike" cap="none" normalizeH="0" baseline="0" dirty="0">
                <a:ln>
                  <a:noFill/>
                </a:ln>
                <a:solidFill>
                  <a:schemeClr val="tx1"/>
                </a:solidFill>
                <a:effectLst/>
                <a:latin typeface="Arial" panose="020B0604020202020204" pitchFamily="34" charset="0"/>
              </a:rPr>
              <a:t>time-consuming, subjective</a:t>
            </a:r>
            <a:r>
              <a:rPr kumimoji="0" lang="en-US" altLang="en-US" sz="1800" b="0" i="0" u="none" strike="noStrike" cap="none" normalizeH="0" baseline="0" dirty="0">
                <a:ln>
                  <a:noFill/>
                </a:ln>
                <a:solidFill>
                  <a:schemeClr val="tx1"/>
                </a:solidFill>
                <a:effectLst/>
                <a:latin typeface="Arial" panose="020B0604020202020204" pitchFamily="34" charset="0"/>
              </a:rPr>
              <a:t>, and often misses early-stage symptoms.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Such </a:t>
            </a:r>
            <a:r>
              <a:rPr kumimoji="0" lang="en-US" altLang="en-US" sz="1800" b="1" i="0" u="none" strike="noStrike" cap="none" normalizeH="0" baseline="0" dirty="0">
                <a:ln>
                  <a:noFill/>
                </a:ln>
                <a:solidFill>
                  <a:schemeClr val="tx1"/>
                </a:solidFill>
                <a:effectLst/>
                <a:latin typeface="Arial" panose="020B0604020202020204" pitchFamily="34" charset="0"/>
              </a:rPr>
              <a:t>delayed or inaccurate detection</a:t>
            </a:r>
            <a:r>
              <a:rPr kumimoji="0" lang="en-US" altLang="en-US" sz="1800" b="0" i="0" u="none" strike="noStrike" cap="none" normalizeH="0" baseline="0" dirty="0">
                <a:ln>
                  <a:noFill/>
                </a:ln>
                <a:solidFill>
                  <a:schemeClr val="tx1"/>
                </a:solidFill>
                <a:effectLst/>
                <a:latin typeface="Arial" panose="020B0604020202020204" pitchFamily="34" charset="0"/>
              </a:rPr>
              <a:t> can lead to severe or life-threatening outcomes.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 overcome this, we propose </a:t>
            </a:r>
            <a:r>
              <a:rPr kumimoji="0" lang="en-US" altLang="en-US" sz="1800" b="1" i="0" u="none" strike="noStrike" cap="none" normalizeH="0" baseline="0" dirty="0" err="1">
                <a:ln>
                  <a:noFill/>
                </a:ln>
                <a:solidFill>
                  <a:schemeClr val="tx1"/>
                </a:solidFill>
                <a:effectLst/>
                <a:latin typeface="Arial" panose="020B0604020202020204" pitchFamily="34" charset="0"/>
              </a:rPr>
              <a:t>TransAugNet</a:t>
            </a:r>
            <a:r>
              <a:rPr kumimoji="0" lang="en-US" altLang="en-US" sz="1800" b="1" i="0" u="none" strike="noStrike" cap="none" normalizeH="0" baseline="0" dirty="0">
                <a:ln>
                  <a:noFill/>
                </a:ln>
                <a:solidFill>
                  <a:schemeClr val="tx1"/>
                </a:solidFill>
                <a:effectLst/>
                <a:latin typeface="Arial" panose="020B0604020202020204" pitchFamily="34" charset="0"/>
              </a:rPr>
              <a:t> — Transformer-Aware Cyclic Augmentation</a:t>
            </a:r>
            <a:r>
              <a:rPr kumimoji="0" lang="en-US" altLang="en-US" sz="1800" b="0" i="0" u="none" strike="noStrike" cap="none" normalizeH="0" baseline="0" dirty="0">
                <a:ln>
                  <a:noFill/>
                </a:ln>
                <a:solidFill>
                  <a:schemeClr val="tx1"/>
                </a:solidFill>
                <a:effectLst/>
                <a:latin typeface="Arial" panose="020B0604020202020204" pitchFamily="34" charset="0"/>
              </a:rPr>
              <a:t>, a deep learning framework using </a:t>
            </a:r>
            <a:r>
              <a:rPr kumimoji="0" lang="en-US" altLang="en-US" sz="1800" b="1" i="0" u="none" strike="noStrike" cap="none" normalizeH="0" baseline="0" dirty="0">
                <a:ln>
                  <a:noFill/>
                </a:ln>
                <a:solidFill>
                  <a:schemeClr val="tx1"/>
                </a:solidFill>
                <a:effectLst/>
                <a:latin typeface="Arial" panose="020B0604020202020204" pitchFamily="34" charset="0"/>
              </a:rPr>
              <a:t>ResNet3D-50</a:t>
            </a:r>
            <a:r>
              <a:rPr kumimoji="0" lang="en-US" altLang="en-US" sz="1800" b="0" i="0" u="none" strike="noStrike" cap="none" normalizeH="0" baseline="0" dirty="0">
                <a:ln>
                  <a:noFill/>
                </a:ln>
                <a:solidFill>
                  <a:schemeClr val="tx1"/>
                </a:solidFill>
                <a:effectLst/>
                <a:latin typeface="Arial" panose="020B0604020202020204" pitchFamily="34" charset="0"/>
              </a:rPr>
              <a:t> for </a:t>
            </a:r>
            <a:r>
              <a:rPr kumimoji="0" lang="en-US" altLang="en-US" sz="1800" b="1" i="0" u="none" strike="noStrike" cap="none" normalizeH="0" baseline="0" dirty="0">
                <a:ln>
                  <a:noFill/>
                </a:ln>
                <a:solidFill>
                  <a:schemeClr val="tx1"/>
                </a:solidFill>
                <a:effectLst/>
                <a:latin typeface="Arial" panose="020B0604020202020204" pitchFamily="34" charset="0"/>
              </a:rPr>
              <a:t>automated and accurate disease identification</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model converts </a:t>
            </a:r>
            <a:r>
              <a:rPr kumimoji="0" lang="en-US" altLang="en-US" sz="1800" b="1" i="0" u="none" strike="noStrike" cap="none" normalizeH="0" baseline="0" dirty="0">
                <a:ln>
                  <a:noFill/>
                </a:ln>
                <a:solidFill>
                  <a:schemeClr val="tx1"/>
                </a:solidFill>
                <a:effectLst/>
                <a:latin typeface="Arial" panose="020B0604020202020204" pitchFamily="34" charset="0"/>
              </a:rPr>
              <a:t>3D medical images into 2D slices</a:t>
            </a:r>
            <a:r>
              <a:rPr kumimoji="0" lang="en-US" altLang="en-US" sz="1800" b="0" i="0" u="none" strike="noStrike" cap="none" normalizeH="0" baseline="0" dirty="0">
                <a:ln>
                  <a:noFill/>
                </a:ln>
                <a:solidFill>
                  <a:schemeClr val="tx1"/>
                </a:solidFill>
                <a:effectLst/>
                <a:latin typeface="Arial" panose="020B0604020202020204" pitchFamily="34" charset="0"/>
              </a:rPr>
              <a:t>, preserving spatial context for efficient training.</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Cyclic Augmentation</a:t>
            </a:r>
            <a:r>
              <a:rPr kumimoji="0" lang="en-US" altLang="en-US" sz="1800" b="0" i="0" u="none" strike="noStrike" cap="none" normalizeH="0" baseline="0" dirty="0">
                <a:ln>
                  <a:noFill/>
                </a:ln>
                <a:solidFill>
                  <a:schemeClr val="tx1"/>
                </a:solidFill>
                <a:effectLst/>
                <a:latin typeface="Arial" panose="020B0604020202020204" pitchFamily="34" charset="0"/>
              </a:rPr>
              <a:t> adaptively varies data intensity, improving generalization and reducing overfitting.</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Integrated </a:t>
            </a:r>
            <a:r>
              <a:rPr kumimoji="0" lang="en-US" altLang="en-US" sz="1800" b="1" i="0" u="none" strike="noStrike" cap="none" normalizeH="0" baseline="0" dirty="0">
                <a:ln>
                  <a:noFill/>
                </a:ln>
                <a:solidFill>
                  <a:schemeClr val="tx1"/>
                </a:solidFill>
                <a:effectLst/>
                <a:latin typeface="Arial" panose="020B0604020202020204" pitchFamily="34" charset="0"/>
              </a:rPr>
              <a:t>Transformer Attention</a:t>
            </a:r>
            <a:r>
              <a:rPr kumimoji="0" lang="en-US" altLang="en-US" sz="1800" b="0" i="0" u="none" strike="noStrike" cap="none" normalizeH="0" baseline="0" dirty="0">
                <a:ln>
                  <a:noFill/>
                </a:ln>
                <a:solidFill>
                  <a:schemeClr val="tx1"/>
                </a:solidFill>
                <a:effectLst/>
                <a:latin typeface="Arial" panose="020B0604020202020204" pitchFamily="34" charset="0"/>
              </a:rPr>
              <a:t> enhances spatial understanding, leading to </a:t>
            </a:r>
            <a:r>
              <a:rPr kumimoji="0" lang="en-US" altLang="en-US" sz="1800" b="1" i="0" u="none" strike="noStrike" cap="none" normalizeH="0" baseline="0" dirty="0">
                <a:ln>
                  <a:noFill/>
                </a:ln>
                <a:solidFill>
                  <a:schemeClr val="tx1"/>
                </a:solidFill>
                <a:effectLst/>
                <a:latin typeface="Arial" panose="020B0604020202020204" pitchFamily="34" charset="0"/>
              </a:rPr>
              <a:t>faster and more precise predictions</a:t>
            </a:r>
            <a:r>
              <a:rPr kumimoji="0" lang="en-US" altLang="en-US" sz="1800" b="0" i="0" u="none" strike="noStrike" cap="none" normalizeH="0" baseline="0" dirty="0">
                <a:ln>
                  <a:noFill/>
                </a:ln>
                <a:solidFill>
                  <a:schemeClr val="tx1"/>
                </a:solidFill>
                <a:effectLst/>
                <a:latin typeface="Arial" panose="020B0604020202020204" pitchFamily="34" charset="0"/>
              </a:rPr>
              <a:t> compared to traditional 2D models.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Applied on </a:t>
            </a:r>
            <a:r>
              <a:rPr kumimoji="0" lang="en-US" altLang="en-US" sz="1800" b="1" i="0" u="none" strike="noStrike" cap="none" normalizeH="0" baseline="0" dirty="0">
                <a:ln>
                  <a:noFill/>
                </a:ln>
                <a:solidFill>
                  <a:schemeClr val="tx1"/>
                </a:solidFill>
                <a:effectLst/>
                <a:latin typeface="Arial" panose="020B0604020202020204" pitchFamily="34" charset="0"/>
              </a:rPr>
              <a:t>VesselMNIST3D and AdrenalMNIST3D</a:t>
            </a:r>
            <a:r>
              <a:rPr kumimoji="0" lang="en-US" altLang="en-US" sz="1800" b="0" i="0" u="none" strike="noStrike" cap="none" normalizeH="0" baseline="0" dirty="0">
                <a:ln>
                  <a:noFill/>
                </a:ln>
                <a:solidFill>
                  <a:schemeClr val="tx1"/>
                </a:solidFill>
                <a:effectLst/>
                <a:latin typeface="Arial" panose="020B0604020202020204" pitchFamily="34" charset="0"/>
              </a:rPr>
              <a:t>, the model achieves </a:t>
            </a:r>
            <a:r>
              <a:rPr kumimoji="0" lang="en-US" altLang="en-US" sz="1800" b="1" i="0" u="none" strike="noStrike" cap="none" normalizeH="0" baseline="0" dirty="0">
                <a:ln>
                  <a:noFill/>
                </a:ln>
                <a:solidFill>
                  <a:schemeClr val="tx1"/>
                </a:solidFill>
                <a:effectLst/>
                <a:latin typeface="Arial" panose="020B0604020202020204" pitchFamily="34" charset="0"/>
              </a:rPr>
              <a:t>high diagnostic accuracy</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1" i="0" u="none" strike="noStrike" cap="none" normalizeH="0" baseline="0" dirty="0">
                <a:ln>
                  <a:noFill/>
                </a:ln>
                <a:solidFill>
                  <a:schemeClr val="tx1"/>
                </a:solidFill>
                <a:effectLst/>
                <a:latin typeface="Arial" panose="020B0604020202020204" pitchFamily="34" charset="0"/>
              </a:rPr>
              <a:t>low response time</a:t>
            </a:r>
            <a:r>
              <a:rPr kumimoji="0" lang="en-US" altLang="en-US" sz="1800" b="0" i="0" u="none" strike="noStrike" cap="none" normalizeH="0" baseline="0" dirty="0">
                <a:ln>
                  <a:noFill/>
                </a:ln>
                <a:solidFill>
                  <a:schemeClr val="tx1"/>
                </a:solidFill>
                <a:effectLst/>
                <a:latin typeface="Arial" panose="020B0604020202020204" pitchFamily="34" charset="0"/>
              </a:rPr>
              <a:t>, supporting doctors in real-time disease analysis.</a:t>
            </a:r>
          </a:p>
        </p:txBody>
      </p:sp>
      <p:sp>
        <p:nvSpPr>
          <p:cNvPr id="5" name="Footer Placeholder 4">
            <a:extLst>
              <a:ext uri="{FF2B5EF4-FFF2-40B4-BE49-F238E27FC236}">
                <a16:creationId xmlns="" xmlns:a16="http://schemas.microsoft.com/office/drawing/2014/main" id="{C6A5186F-4EF9-CEF3-3AD1-9CB1A6CBB3D3}"/>
              </a:ext>
            </a:extLst>
          </p:cNvPr>
          <p:cNvSpPr>
            <a:spLocks noGrp="1"/>
          </p:cNvSpPr>
          <p:nvPr>
            <p:ph type="ftr" sz="quarter" idx="11"/>
          </p:nvPr>
        </p:nvSpPr>
        <p:spPr>
          <a:xfrm>
            <a:off x="4038600" y="6356350"/>
            <a:ext cx="4114800" cy="365125"/>
          </a:xfrm>
        </p:spPr>
        <p:txBody>
          <a:bodyPr/>
          <a:lstStyle/>
          <a:p>
            <a:r>
              <a:rPr lang="en-US" dirty="0"/>
              <a:t>Review No.  </a:t>
            </a:r>
            <a:r>
              <a:rPr lang="en-US" dirty="0" smtClean="0"/>
              <a:t>3      </a:t>
            </a:r>
            <a:r>
              <a:rPr lang="en-US" dirty="0"/>
              <a:t>Batch No.   BB4       Department of CSE</a:t>
            </a:r>
            <a:endParaRPr lang="en-IN" dirty="0"/>
          </a:p>
        </p:txBody>
      </p:sp>
    </p:spTree>
    <p:extLst>
      <p:ext uri="{BB962C8B-B14F-4D97-AF65-F5344CB8AC3E}">
        <p14:creationId xmlns:p14="http://schemas.microsoft.com/office/powerpoint/2010/main" val="347575424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 xmlns:a16="http://schemas.microsoft.com/office/drawing/2014/main" id="{D45DB3B1-7702-A34D-B15A-E964B95D6FB5}"/>
              </a:ext>
            </a:extLst>
          </p:cNvPr>
          <p:cNvSpPr>
            <a:spLocks noGrp="1"/>
          </p:cNvSpPr>
          <p:nvPr>
            <p:ph type="title"/>
          </p:nvPr>
        </p:nvSpPr>
        <p:spPr>
          <a:xfrm>
            <a:off x="1180618" y="365126"/>
            <a:ext cx="10173182" cy="562154"/>
          </a:xfrm>
        </p:spPr>
        <p:txBody>
          <a:bodyPr>
            <a:normAutofit/>
          </a:bodyPr>
          <a:lstStyle/>
          <a:p>
            <a:pPr algn="ctr"/>
            <a:r>
              <a:rPr lang="en-US" sz="3200" b="1" dirty="0">
                <a:latin typeface="Times New Roman" panose="02020603050405020304" pitchFamily="18" charset="0"/>
                <a:cs typeface="Times New Roman" panose="02020603050405020304" pitchFamily="18" charset="0"/>
              </a:rPr>
              <a:t>LITERATURE SURVEY</a:t>
            </a:r>
          </a:p>
        </p:txBody>
      </p:sp>
      <p:sp>
        <p:nvSpPr>
          <p:cNvPr id="9" name="Content Placeholder 8">
            <a:extLst>
              <a:ext uri="{FF2B5EF4-FFF2-40B4-BE49-F238E27FC236}">
                <a16:creationId xmlns="" xmlns:a16="http://schemas.microsoft.com/office/drawing/2014/main" id="{0BAA4F36-AB00-F2C4-B47F-6381355DE604}"/>
              </a:ext>
            </a:extLst>
          </p:cNvPr>
          <p:cNvSpPr>
            <a:spLocks noGrp="1"/>
          </p:cNvSpPr>
          <p:nvPr>
            <p:ph idx="1"/>
          </p:nvPr>
        </p:nvSpPr>
        <p:spPr>
          <a:xfrm>
            <a:off x="838200" y="906561"/>
            <a:ext cx="10515600" cy="5814914"/>
          </a:xfrm>
        </p:spPr>
        <p:txBody>
          <a:bodyPr>
            <a:normAutofit/>
          </a:bodyPr>
          <a:lstStyle/>
          <a:p>
            <a:pPr marL="0" indent="0">
              <a:buNone/>
            </a:pPr>
            <a:endParaRPr lang="en-IN"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10" name="Content Placeholder 8">
            <a:extLst>
              <a:ext uri="{FF2B5EF4-FFF2-40B4-BE49-F238E27FC236}">
                <a16:creationId xmlns="" xmlns:a16="http://schemas.microsoft.com/office/drawing/2014/main" id="{3E8CACDC-CE1B-448A-5D5F-BF4D715F95AE}"/>
              </a:ext>
            </a:extLst>
          </p:cNvPr>
          <p:cNvSpPr txBox="1">
            <a:spLocks/>
          </p:cNvSpPr>
          <p:nvPr/>
        </p:nvSpPr>
        <p:spPr>
          <a:xfrm>
            <a:off x="990600" y="19780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 xmlns:a16="http://schemas.microsoft.com/office/drawing/2014/main" id="{6A8D3B62-7653-F786-D25A-A16213653EAC}"/>
              </a:ext>
            </a:extLst>
          </p:cNvPr>
          <p:cNvSpPr>
            <a:spLocks noGrp="1"/>
          </p:cNvSpPr>
          <p:nvPr>
            <p:ph type="dt" sz="half" idx="10"/>
          </p:nvPr>
        </p:nvSpPr>
        <p:spPr>
          <a:xfrm>
            <a:off x="250371" y="6329363"/>
            <a:ext cx="2743200" cy="365125"/>
          </a:xfrm>
        </p:spPr>
        <p:txBody>
          <a:bodyPr/>
          <a:lstStyle/>
          <a:p>
            <a:fld id="{067ECD31-C1A7-4AD4-ABBC-4039B944A8B5}" type="datetime1">
              <a:rPr lang="en-IN" smtClean="0"/>
              <a:t>09-02-2026</a:t>
            </a:fld>
            <a:endParaRPr lang="en-IN"/>
          </a:p>
        </p:txBody>
      </p:sp>
      <p:sp>
        <p:nvSpPr>
          <p:cNvPr id="11" name="Slide Number Placeholder 10">
            <a:extLst>
              <a:ext uri="{FF2B5EF4-FFF2-40B4-BE49-F238E27FC236}">
                <a16:creationId xmlns="" xmlns:a16="http://schemas.microsoft.com/office/drawing/2014/main" id="{0D6757A4-DF0D-DA45-33AE-86C71442D339}"/>
              </a:ext>
            </a:extLst>
          </p:cNvPr>
          <p:cNvSpPr>
            <a:spLocks noGrp="1"/>
          </p:cNvSpPr>
          <p:nvPr>
            <p:ph type="sldNum" sz="quarter" idx="12"/>
          </p:nvPr>
        </p:nvSpPr>
        <p:spPr/>
        <p:txBody>
          <a:bodyPr/>
          <a:lstStyle/>
          <a:p>
            <a:fld id="{65DCBD69-296B-4D7C-AF62-9B588FC78772}" type="slidenum">
              <a:rPr lang="en-IN" smtClean="0"/>
              <a:t>6</a:t>
            </a:fld>
            <a:endParaRPr lang="en-IN"/>
          </a:p>
        </p:txBody>
      </p:sp>
      <p:graphicFrame>
        <p:nvGraphicFramePr>
          <p:cNvPr id="12" name="Table 11">
            <a:extLst>
              <a:ext uri="{FF2B5EF4-FFF2-40B4-BE49-F238E27FC236}">
                <a16:creationId xmlns="" xmlns:a16="http://schemas.microsoft.com/office/drawing/2014/main" id="{7BBBCE8B-8BCD-354B-29A0-6424BC13DE20}"/>
              </a:ext>
            </a:extLst>
          </p:cNvPr>
          <p:cNvGraphicFramePr>
            <a:graphicFrameLocks noGrp="1"/>
          </p:cNvGraphicFramePr>
          <p:nvPr>
            <p:extLst>
              <p:ext uri="{D42A27DB-BD31-4B8C-83A1-F6EECF244321}">
                <p14:modId xmlns:p14="http://schemas.microsoft.com/office/powerpoint/2010/main" val="2772884611"/>
              </p:ext>
            </p:extLst>
          </p:nvPr>
        </p:nvGraphicFramePr>
        <p:xfrm>
          <a:off x="838200" y="1284515"/>
          <a:ext cx="10817505" cy="5029199"/>
        </p:xfrm>
        <a:graphic>
          <a:graphicData uri="http://schemas.openxmlformats.org/drawingml/2006/table">
            <a:tbl>
              <a:tblPr firstRow="1" bandRow="1">
                <a:tableStyleId>{17292A2E-F333-43FB-9621-5CBBE7FDCDCB}</a:tableStyleId>
              </a:tblPr>
              <a:tblGrid>
                <a:gridCol w="468735">
                  <a:extLst>
                    <a:ext uri="{9D8B030D-6E8A-4147-A177-3AD203B41FA5}">
                      <a16:colId xmlns="" xmlns:a16="http://schemas.microsoft.com/office/drawing/2014/main" val="166576671"/>
                    </a:ext>
                  </a:extLst>
                </a:gridCol>
                <a:gridCol w="2082242">
                  <a:extLst>
                    <a:ext uri="{9D8B030D-6E8A-4147-A177-3AD203B41FA5}">
                      <a16:colId xmlns="" xmlns:a16="http://schemas.microsoft.com/office/drawing/2014/main" val="946789180"/>
                    </a:ext>
                  </a:extLst>
                </a:gridCol>
                <a:gridCol w="1619217">
                  <a:extLst>
                    <a:ext uri="{9D8B030D-6E8A-4147-A177-3AD203B41FA5}">
                      <a16:colId xmlns="" xmlns:a16="http://schemas.microsoft.com/office/drawing/2014/main" val="3483638722"/>
                    </a:ext>
                  </a:extLst>
                </a:gridCol>
                <a:gridCol w="1670352">
                  <a:extLst>
                    <a:ext uri="{9D8B030D-6E8A-4147-A177-3AD203B41FA5}">
                      <a16:colId xmlns="" xmlns:a16="http://schemas.microsoft.com/office/drawing/2014/main" val="1190061112"/>
                    </a:ext>
                  </a:extLst>
                </a:gridCol>
                <a:gridCol w="1724860">
                  <a:extLst>
                    <a:ext uri="{9D8B030D-6E8A-4147-A177-3AD203B41FA5}">
                      <a16:colId xmlns="" xmlns:a16="http://schemas.microsoft.com/office/drawing/2014/main" val="3469305604"/>
                    </a:ext>
                  </a:extLst>
                </a:gridCol>
                <a:gridCol w="1692853">
                  <a:extLst>
                    <a:ext uri="{9D8B030D-6E8A-4147-A177-3AD203B41FA5}">
                      <a16:colId xmlns="" xmlns:a16="http://schemas.microsoft.com/office/drawing/2014/main" val="3853106642"/>
                    </a:ext>
                  </a:extLst>
                </a:gridCol>
                <a:gridCol w="1559246">
                  <a:extLst>
                    <a:ext uri="{9D8B030D-6E8A-4147-A177-3AD203B41FA5}">
                      <a16:colId xmlns="" xmlns:a16="http://schemas.microsoft.com/office/drawing/2014/main" val="1601472594"/>
                    </a:ext>
                  </a:extLst>
                </a:gridCol>
              </a:tblGrid>
              <a:tr h="586772">
                <a:tc>
                  <a:txBody>
                    <a:bodyPr/>
                    <a:lstStyle/>
                    <a:p>
                      <a:pPr algn="ctr"/>
                      <a:r>
                        <a:rPr lang="en-US" sz="1600" dirty="0">
                          <a:solidFill>
                            <a:schemeClr val="tx1"/>
                          </a:solidFill>
                        </a:rPr>
                        <a:t>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Title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Author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solidFill>
                            <a:schemeClr val="tx1"/>
                          </a:solidFill>
                        </a:rPr>
                        <a:t>Journal Name &amp; Year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Methodology Adapted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solidFill>
                            <a:schemeClr val="tx1"/>
                          </a:solidFill>
                        </a:rPr>
                        <a:t>Key Findings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solidFill>
                            <a:schemeClr val="tx1"/>
                          </a:solidFill>
                        </a:rPr>
                        <a:t>Gaps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537051210"/>
                  </a:ext>
                </a:extLst>
              </a:tr>
              <a:tr h="1699227">
                <a:tc>
                  <a:txBody>
                    <a:bodyPr/>
                    <a:lstStyle/>
                    <a:p>
                      <a:pPr algn="ctr"/>
                      <a:r>
                        <a:rPr lang="en-US" sz="1400" dirty="0">
                          <a:latin typeface="Times New Roman" panose="02020603050405020304" pitchFamily="18" charset="0"/>
                          <a:cs typeface="Times New Roman" panose="02020603050405020304" pitchFamily="18"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Advances in Diffusion Models for Image Data Augmentation</a:t>
                      </a:r>
                      <a:endParaRPr lang="en-US" sz="1400" b="0" i="0" kern="1200" dirty="0">
                        <a:solidFill>
                          <a:schemeClr val="tx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Panagiotis </a:t>
                      </a:r>
                      <a:r>
                        <a:rPr lang="en-US" sz="1400" dirty="0" err="1"/>
                        <a:t>Alimisis</a:t>
                      </a:r>
                      <a:r>
                        <a:rPr lang="en-US" sz="1400" dirty="0"/>
                        <a:t>, Ioannis </a:t>
                      </a:r>
                      <a:r>
                        <a:rPr lang="en-US" sz="1400" dirty="0" err="1"/>
                        <a:t>Mademlis</a:t>
                      </a:r>
                      <a:r>
                        <a:rPr lang="en-US" sz="1400" dirty="0"/>
                        <a:t>, Panagiotis </a:t>
                      </a:r>
                      <a:r>
                        <a:rPr lang="en-US" sz="1400" dirty="0" err="1"/>
                        <a:t>Radoglou-Grammatikis</a:t>
                      </a:r>
                      <a:r>
                        <a:rPr lang="en-US" sz="1400" dirty="0"/>
                        <a:t>, Panagiotis </a:t>
                      </a:r>
                      <a:r>
                        <a:rPr lang="en-US" sz="1400" dirty="0" err="1"/>
                        <a:t>Sarigiannidis</a:t>
                      </a:r>
                      <a:r>
                        <a:rPr lang="en-US" sz="1400" dirty="0"/>
                        <a:t>, Ge</a:t>
                      </a:r>
                      <a:endParaRPr lang="en-US" sz="1400" b="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i="1" dirty="0"/>
                        <a:t>Artificial Intelligence Review</a:t>
                      </a:r>
                      <a:r>
                        <a:rPr lang="en-US" sz="1400" dirty="0"/>
                        <a:t>, 2025</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Systematic review of diffusion models (DMs) for image augmentation; comparison with GANs and classical methods.</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DMs effectively enhance data diversity and realism in augmentation tasks.</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Font typeface="Arial" panose="020B0604020202020204" pitchFamily="34" charset="0"/>
                        <a:buNone/>
                      </a:pPr>
                      <a:r>
                        <a:rPr lang="en-US" sz="1400" dirty="0"/>
                        <a:t>Lack of domain-specific benchmarks and limited exploration in medical imaging.</a:t>
                      </a:r>
                      <a:endParaRPr lang="en-US" sz="1400" b="0"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352925414"/>
                  </a:ext>
                </a:extLst>
              </a:tr>
              <a:tr h="945391">
                <a:tc>
                  <a:txBody>
                    <a:bodyPr/>
                    <a:lstStyle/>
                    <a:p>
                      <a:pPr algn="ctr"/>
                      <a:r>
                        <a:rPr lang="en-US" sz="1400" dirty="0">
                          <a:latin typeface="Times New Roman" panose="02020603050405020304" pitchFamily="18" charset="0"/>
                          <a:cs typeface="Times New Roman" panose="02020603050405020304" pitchFamily="18"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t>AI in Motion: Impact of Data Augmentation on MRI Motion Artifacts</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nl-NL" sz="1400" dirty="0"/>
                        <a:t>Simon D. Westfechtel et al.</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i="1" dirty="0"/>
                        <a:t>European Radiology</a:t>
                      </a:r>
                      <a:r>
                        <a:rPr lang="en-US" sz="1400" dirty="0"/>
                        <a:t>, 2025</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err="1"/>
                        <a:t>nnU</a:t>
                      </a:r>
                      <a:r>
                        <a:rPr lang="en-US" sz="1400" dirty="0"/>
                        <a:t>-Net trained with baseline, default, and MRI-specific augmentations.</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MRI-specific augmentations improved segmentation under severe artifacts</a:t>
                      </a:r>
                      <a:r>
                        <a:rPr lang="en-US" sz="1400" dirty="0">
                          <a:latin typeface="Times New Roman" panose="02020603050405020304" pitchFamily="18" charset="0"/>
                          <a:cs typeface="Times New Roman" panose="02020603050405020304" pitchFamily="18"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Font typeface="Arial" panose="020B0604020202020204" pitchFamily="34" charset="0"/>
                        <a:buNone/>
                      </a:pPr>
                      <a:r>
                        <a:rPr lang="en-US" sz="1400" dirty="0"/>
                        <a:t>Limited to specific body parts and controlled environments.</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788357853"/>
                  </a:ext>
                </a:extLst>
              </a:tr>
              <a:tr h="1447436">
                <a:tc>
                  <a:txBody>
                    <a:bodyPr/>
                    <a:lstStyle/>
                    <a:p>
                      <a:pPr algn="ctr"/>
                      <a:r>
                        <a:rPr lang="en-US" sz="1400" dirty="0">
                          <a:latin typeface="Times New Roman" panose="02020603050405020304" pitchFamily="18" charset="0"/>
                          <a:cs typeface="Times New Roman" panose="02020603050405020304" pitchFamily="18"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An Effective Microscopic Image Augmentation Approach (MIAA-FSL)</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err="1"/>
                        <a:t>Wanying</a:t>
                      </a:r>
                      <a:r>
                        <a:rPr lang="en-US" sz="1400" dirty="0"/>
                        <a:t> Li, </a:t>
                      </a:r>
                      <a:r>
                        <a:rPr lang="en-US" sz="1400" dirty="0" err="1"/>
                        <a:t>Linhe</a:t>
                      </a:r>
                      <a:r>
                        <a:rPr lang="en-US" sz="1400" dirty="0"/>
                        <a:t> Yang, Guangyao Pang, </a:t>
                      </a:r>
                      <a:r>
                        <a:rPr lang="en-US" sz="1400" dirty="0" err="1"/>
                        <a:t>Zhenming</a:t>
                      </a:r>
                      <a:r>
                        <a:rPr lang="en-US" sz="1400" dirty="0"/>
                        <a:t> Yu, Xiaoying Zhu</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i="1" dirty="0"/>
                        <a:t>Scientific Reports</a:t>
                      </a:r>
                      <a:r>
                        <a:rPr lang="en-US" sz="1400" dirty="0"/>
                        <a:t>, 2025</a:t>
                      </a:r>
                      <a:endParaRPr lang="en-US" sz="1400" b="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Combines Conditional DDPM-based generation (CGMIGM) and semi-supervised SSLDAM for few-shot learning.</a:t>
                      </a:r>
                      <a:endParaRPr lang="en-IN"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Improved identification accuracy by 24%, especially for rare microscopic features.</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Font typeface="Arial" panose="020B0604020202020204" pitchFamily="34" charset="0"/>
                        <a:buNone/>
                      </a:pPr>
                      <a:r>
                        <a:rPr lang="en-US" sz="1400" dirty="0"/>
                        <a:t>Needs evaluation on larger real-world datasets and generalization tests.</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543099921"/>
                  </a:ext>
                </a:extLst>
              </a:tr>
            </a:tbl>
          </a:graphicData>
        </a:graphic>
      </p:graphicFrame>
      <p:sp>
        <p:nvSpPr>
          <p:cNvPr id="3" name="Footer Placeholder 4">
            <a:extLst>
              <a:ext uri="{FF2B5EF4-FFF2-40B4-BE49-F238E27FC236}">
                <a16:creationId xmlns="" xmlns:a16="http://schemas.microsoft.com/office/drawing/2014/main" id="{EBA5FD84-4BFD-728F-2713-64104D29E66D}"/>
              </a:ext>
            </a:extLst>
          </p:cNvPr>
          <p:cNvSpPr>
            <a:spLocks noGrp="1"/>
          </p:cNvSpPr>
          <p:nvPr>
            <p:ph type="ftr" sz="quarter" idx="11"/>
          </p:nvPr>
        </p:nvSpPr>
        <p:spPr>
          <a:xfrm>
            <a:off x="4038600" y="6356350"/>
            <a:ext cx="4114800" cy="365125"/>
          </a:xfrm>
        </p:spPr>
        <p:txBody>
          <a:bodyPr/>
          <a:lstStyle/>
          <a:p>
            <a:r>
              <a:rPr lang="en-US" dirty="0"/>
              <a:t>Review No.  </a:t>
            </a:r>
            <a:r>
              <a:rPr lang="en-US" dirty="0" smtClean="0"/>
              <a:t>3      </a:t>
            </a:r>
            <a:r>
              <a:rPr lang="en-US" dirty="0"/>
              <a:t>Batch No.   BB4       Department of CSE</a:t>
            </a:r>
            <a:endParaRPr lang="en-IN" dirty="0"/>
          </a:p>
        </p:txBody>
      </p:sp>
    </p:spTree>
    <p:extLst>
      <p:ext uri="{BB962C8B-B14F-4D97-AF65-F5344CB8AC3E}">
        <p14:creationId xmlns:p14="http://schemas.microsoft.com/office/powerpoint/2010/main" val="67172368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A505EFC-F090-DA4B-10D5-513D0186FE3D}"/>
            </a:ext>
          </a:extLst>
        </p:cNvPr>
        <p:cNvGrpSpPr/>
        <p:nvPr/>
      </p:nvGrpSpPr>
      <p:grpSpPr>
        <a:xfrm>
          <a:off x="0" y="0"/>
          <a:ext cx="0" cy="0"/>
          <a:chOff x="0" y="0"/>
          <a:chExt cx="0" cy="0"/>
        </a:xfrm>
      </p:grpSpPr>
      <p:sp>
        <p:nvSpPr>
          <p:cNvPr id="8" name="Title 7">
            <a:extLst>
              <a:ext uri="{FF2B5EF4-FFF2-40B4-BE49-F238E27FC236}">
                <a16:creationId xmlns="" xmlns:a16="http://schemas.microsoft.com/office/drawing/2014/main" id="{33E9C408-C6B1-9B1E-CDB6-C08EB549974F}"/>
              </a:ext>
            </a:extLst>
          </p:cNvPr>
          <p:cNvSpPr>
            <a:spLocks noGrp="1"/>
          </p:cNvSpPr>
          <p:nvPr>
            <p:ph type="title"/>
          </p:nvPr>
        </p:nvSpPr>
        <p:spPr>
          <a:xfrm>
            <a:off x="1180618" y="365126"/>
            <a:ext cx="10173182" cy="562154"/>
          </a:xfrm>
        </p:spPr>
        <p:txBody>
          <a:bodyPr>
            <a:normAutofit/>
          </a:bodyPr>
          <a:lstStyle/>
          <a:p>
            <a:pPr algn="ctr"/>
            <a:r>
              <a:rPr lang="en-US" sz="3200" b="1" dirty="0">
                <a:latin typeface="Times New Roman" panose="02020603050405020304" pitchFamily="18" charset="0"/>
                <a:cs typeface="Times New Roman" panose="02020603050405020304" pitchFamily="18" charset="0"/>
              </a:rPr>
              <a:t>LITERATURE SURVEY</a:t>
            </a:r>
          </a:p>
        </p:txBody>
      </p:sp>
      <p:sp>
        <p:nvSpPr>
          <p:cNvPr id="9" name="Content Placeholder 8">
            <a:extLst>
              <a:ext uri="{FF2B5EF4-FFF2-40B4-BE49-F238E27FC236}">
                <a16:creationId xmlns="" xmlns:a16="http://schemas.microsoft.com/office/drawing/2014/main" id="{4A1EF6B8-AA40-D1BF-C68D-DAE5C61A7E5F}"/>
              </a:ext>
            </a:extLst>
          </p:cNvPr>
          <p:cNvSpPr>
            <a:spLocks noGrp="1"/>
          </p:cNvSpPr>
          <p:nvPr>
            <p:ph idx="1"/>
          </p:nvPr>
        </p:nvSpPr>
        <p:spPr>
          <a:xfrm>
            <a:off x="838200" y="906561"/>
            <a:ext cx="10515600" cy="5814914"/>
          </a:xfrm>
        </p:spPr>
        <p:txBody>
          <a:bodyPr>
            <a:normAutofit/>
          </a:bodyPr>
          <a:lstStyle/>
          <a:p>
            <a:pPr marL="0" indent="0">
              <a:buNone/>
            </a:pPr>
            <a:endParaRPr lang="en-IN"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10" name="Content Placeholder 8">
            <a:extLst>
              <a:ext uri="{FF2B5EF4-FFF2-40B4-BE49-F238E27FC236}">
                <a16:creationId xmlns="" xmlns:a16="http://schemas.microsoft.com/office/drawing/2014/main" id="{C81C4AA7-6B44-A6DA-0CC6-F2CDE42D6B83}"/>
              </a:ext>
            </a:extLst>
          </p:cNvPr>
          <p:cNvSpPr txBox="1">
            <a:spLocks/>
          </p:cNvSpPr>
          <p:nvPr/>
        </p:nvSpPr>
        <p:spPr>
          <a:xfrm>
            <a:off x="990600" y="19780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 xmlns:a16="http://schemas.microsoft.com/office/drawing/2014/main" id="{F57594AA-284B-9D27-D417-2619E3DA6183}"/>
              </a:ext>
            </a:extLst>
          </p:cNvPr>
          <p:cNvSpPr>
            <a:spLocks noGrp="1"/>
          </p:cNvSpPr>
          <p:nvPr>
            <p:ph type="dt" sz="half" idx="10"/>
          </p:nvPr>
        </p:nvSpPr>
        <p:spPr/>
        <p:txBody>
          <a:bodyPr/>
          <a:lstStyle/>
          <a:p>
            <a:fld id="{067ECD31-C1A7-4AD4-ABBC-4039B944A8B5}" type="datetime1">
              <a:rPr lang="en-IN" smtClean="0"/>
              <a:t>09-02-2026</a:t>
            </a:fld>
            <a:endParaRPr lang="en-IN"/>
          </a:p>
        </p:txBody>
      </p:sp>
      <p:sp>
        <p:nvSpPr>
          <p:cNvPr id="11" name="Slide Number Placeholder 10">
            <a:extLst>
              <a:ext uri="{FF2B5EF4-FFF2-40B4-BE49-F238E27FC236}">
                <a16:creationId xmlns="" xmlns:a16="http://schemas.microsoft.com/office/drawing/2014/main" id="{EFCBF5B1-C834-C3D8-5D28-AB7860C04934}"/>
              </a:ext>
            </a:extLst>
          </p:cNvPr>
          <p:cNvSpPr>
            <a:spLocks noGrp="1"/>
          </p:cNvSpPr>
          <p:nvPr>
            <p:ph type="sldNum" sz="quarter" idx="12"/>
          </p:nvPr>
        </p:nvSpPr>
        <p:spPr/>
        <p:txBody>
          <a:bodyPr/>
          <a:lstStyle/>
          <a:p>
            <a:fld id="{65DCBD69-296B-4D7C-AF62-9B588FC78772}" type="slidenum">
              <a:rPr lang="en-IN" smtClean="0"/>
              <a:t>7</a:t>
            </a:fld>
            <a:endParaRPr lang="en-IN"/>
          </a:p>
        </p:txBody>
      </p:sp>
      <p:graphicFrame>
        <p:nvGraphicFramePr>
          <p:cNvPr id="3" name="Table 3">
            <a:extLst>
              <a:ext uri="{FF2B5EF4-FFF2-40B4-BE49-F238E27FC236}">
                <a16:creationId xmlns="" xmlns:a16="http://schemas.microsoft.com/office/drawing/2014/main" id="{C354B1F8-D332-CFCD-187E-72D8FDFE903A}"/>
              </a:ext>
            </a:extLst>
          </p:cNvPr>
          <p:cNvGraphicFramePr>
            <a:graphicFrameLocks noGrp="1"/>
          </p:cNvGraphicFramePr>
          <p:nvPr>
            <p:extLst>
              <p:ext uri="{D42A27DB-BD31-4B8C-83A1-F6EECF244321}">
                <p14:modId xmlns:p14="http://schemas.microsoft.com/office/powerpoint/2010/main" val="1873206881"/>
              </p:ext>
            </p:extLst>
          </p:nvPr>
        </p:nvGraphicFramePr>
        <p:xfrm>
          <a:off x="838200" y="1257673"/>
          <a:ext cx="10817505" cy="5143251"/>
        </p:xfrm>
        <a:graphic>
          <a:graphicData uri="http://schemas.openxmlformats.org/drawingml/2006/table">
            <a:tbl>
              <a:tblPr firstRow="1" bandRow="1">
                <a:tableStyleId>{17292A2E-F333-43FB-9621-5CBBE7FDCDCB}</a:tableStyleId>
              </a:tblPr>
              <a:tblGrid>
                <a:gridCol w="468735">
                  <a:extLst>
                    <a:ext uri="{9D8B030D-6E8A-4147-A177-3AD203B41FA5}">
                      <a16:colId xmlns="" xmlns:a16="http://schemas.microsoft.com/office/drawing/2014/main" val="166576671"/>
                    </a:ext>
                  </a:extLst>
                </a:gridCol>
                <a:gridCol w="2082242">
                  <a:extLst>
                    <a:ext uri="{9D8B030D-6E8A-4147-A177-3AD203B41FA5}">
                      <a16:colId xmlns="" xmlns:a16="http://schemas.microsoft.com/office/drawing/2014/main" val="946789180"/>
                    </a:ext>
                  </a:extLst>
                </a:gridCol>
                <a:gridCol w="1619217">
                  <a:extLst>
                    <a:ext uri="{9D8B030D-6E8A-4147-A177-3AD203B41FA5}">
                      <a16:colId xmlns="" xmlns:a16="http://schemas.microsoft.com/office/drawing/2014/main" val="3483638722"/>
                    </a:ext>
                  </a:extLst>
                </a:gridCol>
                <a:gridCol w="1670352">
                  <a:extLst>
                    <a:ext uri="{9D8B030D-6E8A-4147-A177-3AD203B41FA5}">
                      <a16:colId xmlns="" xmlns:a16="http://schemas.microsoft.com/office/drawing/2014/main" val="1190061112"/>
                    </a:ext>
                  </a:extLst>
                </a:gridCol>
                <a:gridCol w="1724860">
                  <a:extLst>
                    <a:ext uri="{9D8B030D-6E8A-4147-A177-3AD203B41FA5}">
                      <a16:colId xmlns="" xmlns:a16="http://schemas.microsoft.com/office/drawing/2014/main" val="3469305604"/>
                    </a:ext>
                  </a:extLst>
                </a:gridCol>
                <a:gridCol w="1692853">
                  <a:extLst>
                    <a:ext uri="{9D8B030D-6E8A-4147-A177-3AD203B41FA5}">
                      <a16:colId xmlns="" xmlns:a16="http://schemas.microsoft.com/office/drawing/2014/main" val="3853106642"/>
                    </a:ext>
                  </a:extLst>
                </a:gridCol>
                <a:gridCol w="1559246">
                  <a:extLst>
                    <a:ext uri="{9D8B030D-6E8A-4147-A177-3AD203B41FA5}">
                      <a16:colId xmlns="" xmlns:a16="http://schemas.microsoft.com/office/drawing/2014/main" val="1601472594"/>
                    </a:ext>
                  </a:extLst>
                </a:gridCol>
              </a:tblGrid>
              <a:tr h="815091">
                <a:tc>
                  <a:txBody>
                    <a:bodyPr/>
                    <a:lstStyle/>
                    <a:p>
                      <a:pPr algn="ctr"/>
                      <a:r>
                        <a:rPr lang="en-US" sz="1600" dirty="0">
                          <a:solidFill>
                            <a:schemeClr val="tx1"/>
                          </a:solidFill>
                        </a:rPr>
                        <a:t>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Title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solidFill>
                            <a:schemeClr val="tx1"/>
                          </a:solidFill>
                        </a:rPr>
                        <a:t>Author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solidFill>
                            <a:schemeClr val="tx1"/>
                          </a:solidFill>
                        </a:rPr>
                        <a:t>Journal Name &amp; Year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solidFill>
                            <a:schemeClr val="tx1"/>
                          </a:solidFill>
                        </a:rPr>
                        <a:t>Methodology Adapted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solidFill>
                            <a:schemeClr val="tx1"/>
                          </a:solidFill>
                        </a:rPr>
                        <a:t>Key Findings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solidFill>
                            <a:schemeClr val="tx1"/>
                          </a:solidFill>
                        </a:rPr>
                        <a:t>Gaps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537051210"/>
                  </a:ext>
                </a:extLst>
              </a:tr>
              <a:tr h="1273333">
                <a:tc>
                  <a:txBody>
                    <a:bodyPr/>
                    <a:lstStyle/>
                    <a:p>
                      <a:pPr algn="ctr"/>
                      <a:r>
                        <a:rPr lang="en-US" sz="1400" dirty="0">
                          <a:latin typeface="Times New Roman" panose="02020603050405020304" pitchFamily="18" charset="0"/>
                          <a:cs typeface="Times New Roman" panose="02020603050405020304" pitchFamily="18"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Combined Oriented Data Augmentation for Brain MRI</a:t>
                      </a:r>
                      <a:endParaRPr lang="en-US" sz="1400" b="0" i="0" kern="1200" dirty="0">
                        <a:solidFill>
                          <a:schemeClr val="tx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Ahmeed S. Farhan, Muhammad Khalid, Umar Manzoor</a:t>
                      </a:r>
                      <a:endParaRPr lang="en-US" sz="1400" b="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i="1" dirty="0"/>
                        <a:t>IEEE Access</a:t>
                      </a:r>
                      <a:r>
                        <a:rPr lang="en-US" sz="1400" dirty="0"/>
                        <a:t>, 2025</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Oriented Combination MRI (OCMRI) using image fusion and mean squared error thresholds.</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Accuracy improved by 5–8% after augmentation across four datasets.</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Font typeface="Arial" panose="020B0604020202020204" pitchFamily="34" charset="0"/>
                        <a:buNone/>
                      </a:pPr>
                      <a:r>
                        <a:rPr lang="en-US" sz="1400" dirty="0"/>
                        <a:t>Applicability to multi-modal MRI not explored.</a:t>
                      </a:r>
                      <a:endParaRPr lang="en-US" sz="1400" b="0"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352925414"/>
                  </a:ext>
                </a:extLst>
              </a:tr>
              <a:tr h="1669481">
                <a:tc>
                  <a:txBody>
                    <a:bodyPr/>
                    <a:lstStyle/>
                    <a:p>
                      <a:pPr algn="ctr"/>
                      <a:r>
                        <a:rPr lang="en-US" sz="1400" dirty="0">
                          <a:latin typeface="Times New Roman" panose="02020603050405020304" pitchFamily="18" charset="0"/>
                          <a:cs typeface="Times New Roman" panose="02020603050405020304" pitchFamily="18"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sz="1400" dirty="0" err="1"/>
                        <a:t>CyclicAugment</a:t>
                      </a:r>
                      <a:r>
                        <a:rPr lang="fr-FR" sz="1400" dirty="0"/>
                        <a:t>: </a:t>
                      </a:r>
                      <a:r>
                        <a:rPr lang="fr-FR" sz="1400" dirty="0" err="1"/>
                        <a:t>Optimized</a:t>
                      </a:r>
                      <a:r>
                        <a:rPr lang="fr-FR" sz="1400" dirty="0"/>
                        <a:t> </a:t>
                      </a:r>
                      <a:r>
                        <a:rPr lang="fr-FR" sz="1400" dirty="0" err="1"/>
                        <a:t>Medical</a:t>
                      </a:r>
                      <a:r>
                        <a:rPr lang="fr-FR" sz="1400" dirty="0"/>
                        <a:t> Image </a:t>
                      </a:r>
                      <a:r>
                        <a:rPr lang="fr-FR" sz="1400" dirty="0" err="1"/>
                        <a:t>Analysis</a:t>
                      </a:r>
                      <a:r>
                        <a:rPr lang="fr-FR" sz="1400" dirty="0"/>
                        <a:t> via Adaptive Augmentation </a:t>
                      </a:r>
                      <a:r>
                        <a:rPr lang="fr-FR" sz="1400" dirty="0" err="1"/>
                        <a:t>Intensity</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t>Min-Jun Kim, Jung-Woo Chae, Hyun-Chong Cho</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i="1" dirty="0"/>
                        <a:t>IEEE Access</a:t>
                      </a:r>
                      <a:r>
                        <a:rPr lang="en-US" sz="1400" dirty="0"/>
                        <a:t>, 2025</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Introduced cyclic intensity variation in augmentations during training to maintain balance between weak and strong augmentations.</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Improved accuracy up to 8.8% across diverse medical datasets.</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Font typeface="Arial" panose="020B0604020202020204" pitchFamily="34" charset="0"/>
                        <a:buNone/>
                      </a:pPr>
                      <a:r>
                        <a:rPr lang="en-US" sz="1400" dirty="0"/>
                        <a:t>Need for real-time adaptive augmentation systems and domain-specific validations.</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788357853"/>
                  </a:ext>
                </a:extLst>
              </a:tr>
              <a:tr h="1015110">
                <a:tc>
                  <a:txBody>
                    <a:bodyPr/>
                    <a:lstStyle/>
                    <a:p>
                      <a:pPr algn="ctr"/>
                      <a:r>
                        <a:rPr lang="en-US" sz="1400" dirty="0">
                          <a:latin typeface="Times New Roman" panose="02020603050405020304" pitchFamily="18" charset="0"/>
                          <a:cs typeface="Times New Roman" panose="02020603050405020304" pitchFamily="18"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dirty="0"/>
                        <a:t>Data Augmentation Techniques for </a:t>
                      </a:r>
                      <a:r>
                        <a:rPr lang="fr-FR" sz="1400" dirty="0" err="1"/>
                        <a:t>fMRI</a:t>
                      </a:r>
                      <a:r>
                        <a:rPr lang="fr-FR" sz="1400" dirty="0"/>
                        <a:t> Data: A </a:t>
                      </a:r>
                      <a:r>
                        <a:rPr lang="fr-FR" sz="1400" dirty="0" err="1"/>
                        <a:t>Technical</a:t>
                      </a:r>
                      <a:r>
                        <a:rPr lang="fr-FR" sz="1400" dirty="0"/>
                        <a:t> Survey</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t>Valentina Sánchez, Çiçek Güven, Gonzalo Nápoles, Marie </a:t>
                      </a:r>
                      <a:r>
                        <a:rPr lang="en-US" sz="1400" dirty="0" err="1"/>
                        <a:t>Šafář</a:t>
                      </a:r>
                      <a:r>
                        <a:rPr lang="en-US" sz="1400" dirty="0"/>
                        <a:t> Postma</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i="1" dirty="0"/>
                        <a:t>IEEE Access</a:t>
                      </a:r>
                      <a:r>
                        <a:rPr lang="en-US" sz="1400" dirty="0"/>
                        <a:t>, 2025</a:t>
                      </a:r>
                      <a:endParaRPr lang="en-US" sz="1400" b="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Survey of image-, time-series-, and graph-based augmentation techniques </a:t>
                      </a:r>
                      <a:endParaRPr lang="en-IN"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Provides structured taxonomy for augmentation in fMRI analysis.</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Font typeface="Arial" panose="020B0604020202020204" pitchFamily="34" charset="0"/>
                        <a:buNone/>
                      </a:pPr>
                      <a:r>
                        <a:rPr lang="en-US" sz="1400" dirty="0"/>
                        <a:t>Lacks comparative empirical evaluation across techniques.</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543099921"/>
                  </a:ext>
                </a:extLst>
              </a:tr>
            </a:tbl>
          </a:graphicData>
        </a:graphic>
      </p:graphicFrame>
      <p:sp>
        <p:nvSpPr>
          <p:cNvPr id="5" name="Footer Placeholder 4">
            <a:extLst>
              <a:ext uri="{FF2B5EF4-FFF2-40B4-BE49-F238E27FC236}">
                <a16:creationId xmlns="" xmlns:a16="http://schemas.microsoft.com/office/drawing/2014/main" id="{76F7EDA3-461D-5A1D-D13A-FDC61B357F92}"/>
              </a:ext>
            </a:extLst>
          </p:cNvPr>
          <p:cNvSpPr>
            <a:spLocks noGrp="1"/>
          </p:cNvSpPr>
          <p:nvPr>
            <p:ph type="ftr" sz="quarter" idx="11"/>
          </p:nvPr>
        </p:nvSpPr>
        <p:spPr>
          <a:xfrm>
            <a:off x="4038600" y="6356350"/>
            <a:ext cx="4114800" cy="365125"/>
          </a:xfrm>
        </p:spPr>
        <p:txBody>
          <a:bodyPr/>
          <a:lstStyle/>
          <a:p>
            <a:r>
              <a:rPr lang="en-US" dirty="0"/>
              <a:t>Review No.  </a:t>
            </a:r>
            <a:r>
              <a:rPr lang="en-US" dirty="0" smtClean="0"/>
              <a:t>3      </a:t>
            </a:r>
            <a:r>
              <a:rPr lang="en-US" dirty="0"/>
              <a:t>Batch No.   BB4       Department of CSE</a:t>
            </a:r>
            <a:endParaRPr lang="en-IN" dirty="0"/>
          </a:p>
        </p:txBody>
      </p:sp>
    </p:spTree>
    <p:extLst>
      <p:ext uri="{BB962C8B-B14F-4D97-AF65-F5344CB8AC3E}">
        <p14:creationId xmlns:p14="http://schemas.microsoft.com/office/powerpoint/2010/main" val="364702896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A836157D-97A3-C837-DFF5-8B3A984B43DF}"/>
            </a:ext>
          </a:extLst>
        </p:cNvPr>
        <p:cNvGrpSpPr/>
        <p:nvPr/>
      </p:nvGrpSpPr>
      <p:grpSpPr>
        <a:xfrm>
          <a:off x="0" y="0"/>
          <a:ext cx="0" cy="0"/>
          <a:chOff x="0" y="0"/>
          <a:chExt cx="0" cy="0"/>
        </a:xfrm>
      </p:grpSpPr>
      <p:sp>
        <p:nvSpPr>
          <p:cNvPr id="8" name="Title 7">
            <a:extLst>
              <a:ext uri="{FF2B5EF4-FFF2-40B4-BE49-F238E27FC236}">
                <a16:creationId xmlns="" xmlns:a16="http://schemas.microsoft.com/office/drawing/2014/main" id="{22696475-C210-755D-EF24-B0909A512335}"/>
              </a:ext>
            </a:extLst>
          </p:cNvPr>
          <p:cNvSpPr>
            <a:spLocks noGrp="1"/>
          </p:cNvSpPr>
          <p:nvPr>
            <p:ph type="title"/>
          </p:nvPr>
        </p:nvSpPr>
        <p:spPr>
          <a:xfrm>
            <a:off x="1180618" y="365126"/>
            <a:ext cx="10173182" cy="562154"/>
          </a:xfrm>
        </p:spPr>
        <p:txBody>
          <a:bodyPr>
            <a:normAutofit/>
          </a:bodyPr>
          <a:lstStyle/>
          <a:p>
            <a:pPr algn="ctr"/>
            <a:r>
              <a:rPr lang="en-US" sz="3200" b="1" dirty="0">
                <a:latin typeface="Times New Roman" panose="02020603050405020304" pitchFamily="18" charset="0"/>
                <a:cs typeface="Times New Roman" panose="02020603050405020304" pitchFamily="18" charset="0"/>
              </a:rPr>
              <a:t>LITERATURE SURVEY</a:t>
            </a:r>
          </a:p>
        </p:txBody>
      </p:sp>
      <p:sp>
        <p:nvSpPr>
          <p:cNvPr id="9" name="Content Placeholder 8">
            <a:extLst>
              <a:ext uri="{FF2B5EF4-FFF2-40B4-BE49-F238E27FC236}">
                <a16:creationId xmlns="" xmlns:a16="http://schemas.microsoft.com/office/drawing/2014/main" id="{62FBA0E3-1956-E5DC-8D5E-F54420627F25}"/>
              </a:ext>
            </a:extLst>
          </p:cNvPr>
          <p:cNvSpPr>
            <a:spLocks noGrp="1"/>
          </p:cNvSpPr>
          <p:nvPr>
            <p:ph idx="1"/>
          </p:nvPr>
        </p:nvSpPr>
        <p:spPr>
          <a:xfrm>
            <a:off x="838200" y="906561"/>
            <a:ext cx="10515600" cy="5814914"/>
          </a:xfrm>
        </p:spPr>
        <p:txBody>
          <a:bodyPr>
            <a:normAutofit/>
          </a:bodyPr>
          <a:lstStyle/>
          <a:p>
            <a:pPr marL="0" indent="0">
              <a:buNone/>
            </a:pPr>
            <a:endParaRPr lang="en-IN"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10" name="Content Placeholder 8">
            <a:extLst>
              <a:ext uri="{FF2B5EF4-FFF2-40B4-BE49-F238E27FC236}">
                <a16:creationId xmlns="" xmlns:a16="http://schemas.microsoft.com/office/drawing/2014/main" id="{D15EC584-BB25-0F86-F2A0-6B27C877659D}"/>
              </a:ext>
            </a:extLst>
          </p:cNvPr>
          <p:cNvSpPr txBox="1">
            <a:spLocks/>
          </p:cNvSpPr>
          <p:nvPr/>
        </p:nvSpPr>
        <p:spPr>
          <a:xfrm>
            <a:off x="990600" y="19780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 xmlns:a16="http://schemas.microsoft.com/office/drawing/2014/main" id="{2EDADA27-2F40-2611-4611-0CBA9EFA8169}"/>
              </a:ext>
            </a:extLst>
          </p:cNvPr>
          <p:cNvSpPr>
            <a:spLocks noGrp="1"/>
          </p:cNvSpPr>
          <p:nvPr>
            <p:ph type="dt" sz="half" idx="10"/>
          </p:nvPr>
        </p:nvSpPr>
        <p:spPr/>
        <p:txBody>
          <a:bodyPr/>
          <a:lstStyle/>
          <a:p>
            <a:fld id="{067ECD31-C1A7-4AD4-ABBC-4039B944A8B5}" type="datetime1">
              <a:rPr lang="en-IN" smtClean="0"/>
              <a:t>09-02-2026</a:t>
            </a:fld>
            <a:endParaRPr lang="en-IN"/>
          </a:p>
        </p:txBody>
      </p:sp>
      <p:sp>
        <p:nvSpPr>
          <p:cNvPr id="11" name="Slide Number Placeholder 10">
            <a:extLst>
              <a:ext uri="{FF2B5EF4-FFF2-40B4-BE49-F238E27FC236}">
                <a16:creationId xmlns="" xmlns:a16="http://schemas.microsoft.com/office/drawing/2014/main" id="{2FE946DD-3958-B3EB-92DB-42A60F810BB0}"/>
              </a:ext>
            </a:extLst>
          </p:cNvPr>
          <p:cNvSpPr>
            <a:spLocks noGrp="1"/>
          </p:cNvSpPr>
          <p:nvPr>
            <p:ph type="sldNum" sz="quarter" idx="12"/>
          </p:nvPr>
        </p:nvSpPr>
        <p:spPr/>
        <p:txBody>
          <a:bodyPr/>
          <a:lstStyle/>
          <a:p>
            <a:fld id="{65DCBD69-296B-4D7C-AF62-9B588FC78772}" type="slidenum">
              <a:rPr lang="en-IN" smtClean="0"/>
              <a:t>8</a:t>
            </a:fld>
            <a:endParaRPr lang="en-IN"/>
          </a:p>
        </p:txBody>
      </p:sp>
      <p:graphicFrame>
        <p:nvGraphicFramePr>
          <p:cNvPr id="3" name="Table 3">
            <a:extLst>
              <a:ext uri="{FF2B5EF4-FFF2-40B4-BE49-F238E27FC236}">
                <a16:creationId xmlns="" xmlns:a16="http://schemas.microsoft.com/office/drawing/2014/main" id="{37B3E90B-ABBF-83D5-279D-2AA6F4F98751}"/>
              </a:ext>
            </a:extLst>
          </p:cNvPr>
          <p:cNvGraphicFramePr>
            <a:graphicFrameLocks noGrp="1"/>
          </p:cNvGraphicFramePr>
          <p:nvPr>
            <p:extLst>
              <p:ext uri="{D42A27DB-BD31-4B8C-83A1-F6EECF244321}">
                <p14:modId xmlns:p14="http://schemas.microsoft.com/office/powerpoint/2010/main" val="1886698275"/>
              </p:ext>
            </p:extLst>
          </p:nvPr>
        </p:nvGraphicFramePr>
        <p:xfrm>
          <a:off x="838200" y="1257673"/>
          <a:ext cx="10820575" cy="4977608"/>
        </p:xfrm>
        <a:graphic>
          <a:graphicData uri="http://schemas.openxmlformats.org/drawingml/2006/table">
            <a:tbl>
              <a:tblPr firstRow="1" bandRow="1">
                <a:tableStyleId>{17292A2E-F333-43FB-9621-5CBBE7FDCDCB}</a:tableStyleId>
              </a:tblPr>
              <a:tblGrid>
                <a:gridCol w="471805">
                  <a:extLst>
                    <a:ext uri="{9D8B030D-6E8A-4147-A177-3AD203B41FA5}">
                      <a16:colId xmlns="" xmlns:a16="http://schemas.microsoft.com/office/drawing/2014/main" val="166576671"/>
                    </a:ext>
                  </a:extLst>
                </a:gridCol>
                <a:gridCol w="2082242">
                  <a:extLst>
                    <a:ext uri="{9D8B030D-6E8A-4147-A177-3AD203B41FA5}">
                      <a16:colId xmlns="" xmlns:a16="http://schemas.microsoft.com/office/drawing/2014/main" val="946789180"/>
                    </a:ext>
                  </a:extLst>
                </a:gridCol>
                <a:gridCol w="1619217">
                  <a:extLst>
                    <a:ext uri="{9D8B030D-6E8A-4147-A177-3AD203B41FA5}">
                      <a16:colId xmlns="" xmlns:a16="http://schemas.microsoft.com/office/drawing/2014/main" val="3483638722"/>
                    </a:ext>
                  </a:extLst>
                </a:gridCol>
                <a:gridCol w="1670352">
                  <a:extLst>
                    <a:ext uri="{9D8B030D-6E8A-4147-A177-3AD203B41FA5}">
                      <a16:colId xmlns="" xmlns:a16="http://schemas.microsoft.com/office/drawing/2014/main" val="1190061112"/>
                    </a:ext>
                  </a:extLst>
                </a:gridCol>
                <a:gridCol w="1724860">
                  <a:extLst>
                    <a:ext uri="{9D8B030D-6E8A-4147-A177-3AD203B41FA5}">
                      <a16:colId xmlns="" xmlns:a16="http://schemas.microsoft.com/office/drawing/2014/main" val="3469305604"/>
                    </a:ext>
                  </a:extLst>
                </a:gridCol>
                <a:gridCol w="1692853">
                  <a:extLst>
                    <a:ext uri="{9D8B030D-6E8A-4147-A177-3AD203B41FA5}">
                      <a16:colId xmlns="" xmlns:a16="http://schemas.microsoft.com/office/drawing/2014/main" val="3853106642"/>
                    </a:ext>
                  </a:extLst>
                </a:gridCol>
                <a:gridCol w="1559246">
                  <a:extLst>
                    <a:ext uri="{9D8B030D-6E8A-4147-A177-3AD203B41FA5}">
                      <a16:colId xmlns="" xmlns:a16="http://schemas.microsoft.com/office/drawing/2014/main" val="1601472594"/>
                    </a:ext>
                  </a:extLst>
                </a:gridCol>
              </a:tblGrid>
              <a:tr h="733022">
                <a:tc>
                  <a:txBody>
                    <a:bodyPr/>
                    <a:lstStyle/>
                    <a:p>
                      <a:pPr algn="ctr"/>
                      <a:r>
                        <a:rPr lang="en-US" sz="1600" dirty="0">
                          <a:solidFill>
                            <a:schemeClr val="tx1"/>
                          </a:solidFill>
                        </a:rPr>
                        <a:t>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Title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solidFill>
                            <a:schemeClr val="tx1"/>
                          </a:solidFill>
                        </a:rPr>
                        <a:t>Author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solidFill>
                            <a:schemeClr val="tx1"/>
                          </a:solidFill>
                        </a:rPr>
                        <a:t>Journal Name &amp; Year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solidFill>
                            <a:schemeClr val="tx1"/>
                          </a:solidFill>
                        </a:rPr>
                        <a:t>Methodology Adapted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solidFill>
                            <a:schemeClr val="tx1"/>
                          </a:solidFill>
                        </a:rPr>
                        <a:t>Key Findings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solidFill>
                            <a:schemeClr val="tx1"/>
                          </a:solidFill>
                        </a:rPr>
                        <a:t>Gaps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537051210"/>
                  </a:ext>
                </a:extLst>
              </a:tr>
              <a:tr h="1323731">
                <a:tc>
                  <a:txBody>
                    <a:bodyPr/>
                    <a:lstStyle/>
                    <a:p>
                      <a:pPr algn="ctr"/>
                      <a:r>
                        <a:rPr lang="en-US" sz="1400" dirty="0">
                          <a:latin typeface="Times New Roman" panose="02020603050405020304" pitchFamily="18" charset="0"/>
                          <a:cs typeface="Times New Roman" panose="02020603050405020304" pitchFamily="18"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Deep Learning Approaches for Medical X-ray, MRI, and Ultrasound Images</a:t>
                      </a:r>
                      <a:endParaRPr lang="en-US" sz="1400" b="0" i="0" kern="1200" dirty="0">
                        <a:solidFill>
                          <a:schemeClr val="tx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Hafsa Laçi, </a:t>
                      </a:r>
                      <a:r>
                        <a:rPr lang="en-US" sz="1400" dirty="0" err="1"/>
                        <a:t>Kozeta</a:t>
                      </a:r>
                      <a:r>
                        <a:rPr lang="en-US" sz="1400" dirty="0"/>
                        <a:t> </a:t>
                      </a:r>
                      <a:r>
                        <a:rPr lang="en-US" sz="1400" dirty="0" err="1"/>
                        <a:t>Sevrani</a:t>
                      </a:r>
                      <a:r>
                        <a:rPr lang="en-US" sz="1400" dirty="0"/>
                        <a:t>, Sarfraz Iqbal</a:t>
                      </a:r>
                      <a:endParaRPr lang="en-US" sz="1400" b="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i="1" dirty="0"/>
                        <a:t>BMC Medical Imaging</a:t>
                      </a:r>
                      <a:r>
                        <a:rPr lang="en-US" sz="1400" dirty="0"/>
                        <a:t>, 2025</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Scoping review using PRISMA-</a:t>
                      </a:r>
                      <a:r>
                        <a:rPr lang="en-US" sz="1400" dirty="0" err="1"/>
                        <a:t>ScR</a:t>
                      </a:r>
                      <a:r>
                        <a:rPr lang="en-US" sz="1400" dirty="0"/>
                        <a:t> on deep learning for classification using X-ray, MRI, and Ultrasound.</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Identified best-performing DL architectures and data augmentation impacts.</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Font typeface="Arial" panose="020B0604020202020204" pitchFamily="34" charset="0"/>
                        <a:buNone/>
                      </a:pPr>
                      <a:r>
                        <a:rPr lang="en-US" sz="1400" dirty="0"/>
                        <a:t>Missing standardized benchmarking and reproducibility across datasets.</a:t>
                      </a:r>
                      <a:endParaRPr lang="en-US" sz="1400" b="0"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352925414"/>
                  </a:ext>
                </a:extLst>
              </a:tr>
              <a:tr h="1501386">
                <a:tc>
                  <a:txBody>
                    <a:bodyPr/>
                    <a:lstStyle/>
                    <a:p>
                      <a:pPr algn="ctr"/>
                      <a:r>
                        <a:rPr lang="en-US" sz="1400" dirty="0">
                          <a:latin typeface="Times New Roman" panose="02020603050405020304" pitchFamily="18" charset="0"/>
                          <a:cs typeface="Times New Roman" panose="02020603050405020304" pitchFamily="18"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err="1"/>
                        <a:t>DuCo</a:t>
                      </a:r>
                      <a:r>
                        <a:rPr lang="en-US" sz="1400" dirty="0"/>
                        <a:t>-Net: Dual-Contrastive Learning Network for Medical Report Retrieval</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t>Zahid Ur Rahman et al.</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i="1" dirty="0"/>
                        <a:t>IEEE Access</a:t>
                      </a:r>
                      <a:r>
                        <a:rPr lang="en-US" sz="1400" dirty="0"/>
                        <a:t>, 2025</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Dual contrastive learning using DenseNet121 &amp; </a:t>
                      </a:r>
                      <a:r>
                        <a:rPr lang="en-US" sz="1400" dirty="0" err="1"/>
                        <a:t>BioBERT</a:t>
                      </a:r>
                      <a:r>
                        <a:rPr lang="en-US" sz="1400" dirty="0"/>
                        <a:t> for vision-text alignment with augmented training..</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Achieved significant improvement on IU-Xray and MIMIC-CXR datasets.</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Font typeface="Arial" panose="020B0604020202020204" pitchFamily="34" charset="0"/>
                        <a:buNone/>
                      </a:pPr>
                      <a:r>
                        <a:rPr lang="en-US" sz="1400" dirty="0"/>
                        <a:t>Limited interpretability and applicability to multimodal non-text data.</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788357853"/>
                  </a:ext>
                </a:extLst>
              </a:tr>
              <a:tr h="1323731">
                <a:tc>
                  <a:txBody>
                    <a:bodyPr/>
                    <a:lstStyle/>
                    <a:p>
                      <a:pPr algn="ctr"/>
                      <a:r>
                        <a:rPr lang="en-US" sz="1400" dirty="0">
                          <a:latin typeface="Times New Roman" panose="02020603050405020304" pitchFamily="18" charset="0"/>
                          <a:cs typeface="Times New Roman" panose="02020603050405020304" pitchFamily="18" charset="0"/>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err="1"/>
                        <a:t>HsMix</a:t>
                      </a:r>
                      <a:r>
                        <a:rPr lang="en-US" sz="1400" dirty="0"/>
                        <a:t>: Hard and Soft Mixing Data Augmentation for Medical Image Segmentation</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t>D. Sun, F. </a:t>
                      </a:r>
                      <a:r>
                        <a:rPr lang="en-US" sz="1400" dirty="0" err="1"/>
                        <a:t>Dornaika</a:t>
                      </a:r>
                      <a:r>
                        <a:rPr lang="en-US" sz="1400" dirty="0"/>
                        <a:t>, N. Barrena</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i="1" dirty="0"/>
                        <a:t>Information Fusion</a:t>
                      </a:r>
                      <a:r>
                        <a:rPr lang="en-US" sz="1400" dirty="0"/>
                        <a:t>, 2025</a:t>
                      </a:r>
                      <a:endParaRPr lang="en-US" sz="1400" b="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Introduces hybrid hard (</a:t>
                      </a:r>
                      <a:r>
                        <a:rPr lang="en-US" sz="1400" dirty="0" err="1"/>
                        <a:t>superpixel</a:t>
                      </a:r>
                      <a:r>
                        <a:rPr lang="en-US" sz="1400" dirty="0"/>
                        <a:t>-based) and soft (brightness/saliency-based) augmentation.</a:t>
                      </a:r>
                      <a:endParaRPr lang="en-IN"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Preserves contour and saliency better than </a:t>
                      </a:r>
                      <a:r>
                        <a:rPr lang="en-US" sz="1400" dirty="0" err="1"/>
                        <a:t>Mixup</a:t>
                      </a:r>
                      <a:r>
                        <a:rPr lang="en-US" sz="1400" dirty="0"/>
                        <a:t>/</a:t>
                      </a:r>
                      <a:r>
                        <a:rPr lang="en-US" sz="1400" dirty="0" err="1"/>
                        <a:t>CutMix</a:t>
                      </a:r>
                      <a:r>
                        <a:rPr lang="en-US" sz="1400" dirty="0"/>
                        <a:t>; improves segmentation.</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Font typeface="Arial" panose="020B0604020202020204" pitchFamily="34" charset="0"/>
                        <a:buNone/>
                      </a:pPr>
                      <a:r>
                        <a:rPr lang="en-US" sz="1400" dirty="0"/>
                        <a:t>Computationally intensive; needs optimization for 3D data.</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543099921"/>
                  </a:ext>
                </a:extLst>
              </a:tr>
            </a:tbl>
          </a:graphicData>
        </a:graphic>
      </p:graphicFrame>
      <p:sp>
        <p:nvSpPr>
          <p:cNvPr id="5" name="Footer Placeholder 4">
            <a:extLst>
              <a:ext uri="{FF2B5EF4-FFF2-40B4-BE49-F238E27FC236}">
                <a16:creationId xmlns="" xmlns:a16="http://schemas.microsoft.com/office/drawing/2014/main" id="{D0B5F96C-332B-79BD-DD19-AD407AEE2273}"/>
              </a:ext>
            </a:extLst>
          </p:cNvPr>
          <p:cNvSpPr>
            <a:spLocks noGrp="1"/>
          </p:cNvSpPr>
          <p:nvPr>
            <p:ph type="ftr" sz="quarter" idx="11"/>
          </p:nvPr>
        </p:nvSpPr>
        <p:spPr>
          <a:xfrm>
            <a:off x="4038600" y="6356350"/>
            <a:ext cx="4114800" cy="365125"/>
          </a:xfrm>
        </p:spPr>
        <p:txBody>
          <a:bodyPr/>
          <a:lstStyle/>
          <a:p>
            <a:r>
              <a:rPr lang="en-US" dirty="0"/>
              <a:t>Review No.  </a:t>
            </a:r>
            <a:r>
              <a:rPr lang="en-US" dirty="0" smtClean="0"/>
              <a:t>3      </a:t>
            </a:r>
            <a:r>
              <a:rPr lang="en-US" dirty="0"/>
              <a:t>Batch No.   BB4       Department of CSE</a:t>
            </a:r>
            <a:endParaRPr lang="en-IN" dirty="0"/>
          </a:p>
        </p:txBody>
      </p:sp>
    </p:spTree>
    <p:extLst>
      <p:ext uri="{BB962C8B-B14F-4D97-AF65-F5344CB8AC3E}">
        <p14:creationId xmlns:p14="http://schemas.microsoft.com/office/powerpoint/2010/main" val="247505448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6FDCBEB-AE85-558B-C780-54517C5C12D2}"/>
            </a:ext>
          </a:extLst>
        </p:cNvPr>
        <p:cNvGrpSpPr/>
        <p:nvPr/>
      </p:nvGrpSpPr>
      <p:grpSpPr>
        <a:xfrm>
          <a:off x="0" y="0"/>
          <a:ext cx="0" cy="0"/>
          <a:chOff x="0" y="0"/>
          <a:chExt cx="0" cy="0"/>
        </a:xfrm>
      </p:grpSpPr>
      <p:sp>
        <p:nvSpPr>
          <p:cNvPr id="8" name="Title 7">
            <a:extLst>
              <a:ext uri="{FF2B5EF4-FFF2-40B4-BE49-F238E27FC236}">
                <a16:creationId xmlns="" xmlns:a16="http://schemas.microsoft.com/office/drawing/2014/main" id="{4F33DEC0-D15D-1C5C-1A85-15B716B0338E}"/>
              </a:ext>
            </a:extLst>
          </p:cNvPr>
          <p:cNvSpPr>
            <a:spLocks noGrp="1"/>
          </p:cNvSpPr>
          <p:nvPr>
            <p:ph type="title"/>
          </p:nvPr>
        </p:nvSpPr>
        <p:spPr>
          <a:xfrm>
            <a:off x="1180618" y="365126"/>
            <a:ext cx="10173182" cy="562154"/>
          </a:xfrm>
        </p:spPr>
        <p:txBody>
          <a:bodyPr>
            <a:normAutofit/>
          </a:bodyPr>
          <a:lstStyle/>
          <a:p>
            <a:pPr algn="ctr"/>
            <a:r>
              <a:rPr lang="en-US" sz="3200" b="1" dirty="0">
                <a:latin typeface="Times New Roman" panose="02020603050405020304" pitchFamily="18" charset="0"/>
                <a:cs typeface="Times New Roman" panose="02020603050405020304" pitchFamily="18" charset="0"/>
              </a:rPr>
              <a:t>LITERATURE SURVEY</a:t>
            </a:r>
          </a:p>
        </p:txBody>
      </p:sp>
      <p:sp>
        <p:nvSpPr>
          <p:cNvPr id="9" name="Content Placeholder 8">
            <a:extLst>
              <a:ext uri="{FF2B5EF4-FFF2-40B4-BE49-F238E27FC236}">
                <a16:creationId xmlns="" xmlns:a16="http://schemas.microsoft.com/office/drawing/2014/main" id="{96092EF1-F723-B38F-1112-B7DD7EDA7B9C}"/>
              </a:ext>
            </a:extLst>
          </p:cNvPr>
          <p:cNvSpPr>
            <a:spLocks noGrp="1"/>
          </p:cNvSpPr>
          <p:nvPr>
            <p:ph idx="1"/>
          </p:nvPr>
        </p:nvSpPr>
        <p:spPr>
          <a:xfrm>
            <a:off x="838200" y="906561"/>
            <a:ext cx="10515600" cy="5814914"/>
          </a:xfrm>
        </p:spPr>
        <p:txBody>
          <a:bodyPr>
            <a:normAutofit/>
          </a:bodyPr>
          <a:lstStyle/>
          <a:p>
            <a:pPr marL="0" indent="0">
              <a:buNone/>
            </a:pPr>
            <a:endParaRPr lang="en-IN"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10" name="Content Placeholder 8">
            <a:extLst>
              <a:ext uri="{FF2B5EF4-FFF2-40B4-BE49-F238E27FC236}">
                <a16:creationId xmlns="" xmlns:a16="http://schemas.microsoft.com/office/drawing/2014/main" id="{0A6A832E-9B26-A0FA-FEAC-08AF29D05407}"/>
              </a:ext>
            </a:extLst>
          </p:cNvPr>
          <p:cNvSpPr txBox="1">
            <a:spLocks/>
          </p:cNvSpPr>
          <p:nvPr/>
        </p:nvSpPr>
        <p:spPr>
          <a:xfrm>
            <a:off x="990600" y="19780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 xmlns:a16="http://schemas.microsoft.com/office/drawing/2014/main" id="{9C40DA38-48D7-0A7D-AB9E-42511A073776}"/>
              </a:ext>
            </a:extLst>
          </p:cNvPr>
          <p:cNvSpPr>
            <a:spLocks noGrp="1"/>
          </p:cNvSpPr>
          <p:nvPr>
            <p:ph type="dt" sz="half" idx="10"/>
          </p:nvPr>
        </p:nvSpPr>
        <p:spPr/>
        <p:txBody>
          <a:bodyPr/>
          <a:lstStyle/>
          <a:p>
            <a:fld id="{067ECD31-C1A7-4AD4-ABBC-4039B944A8B5}" type="datetime1">
              <a:rPr lang="en-IN" smtClean="0"/>
              <a:t>09-02-2026</a:t>
            </a:fld>
            <a:endParaRPr lang="en-IN"/>
          </a:p>
        </p:txBody>
      </p:sp>
      <p:sp>
        <p:nvSpPr>
          <p:cNvPr id="11" name="Slide Number Placeholder 10">
            <a:extLst>
              <a:ext uri="{FF2B5EF4-FFF2-40B4-BE49-F238E27FC236}">
                <a16:creationId xmlns="" xmlns:a16="http://schemas.microsoft.com/office/drawing/2014/main" id="{F725BECF-3735-499B-6E5E-BEC8C183BBBA}"/>
              </a:ext>
            </a:extLst>
          </p:cNvPr>
          <p:cNvSpPr>
            <a:spLocks noGrp="1"/>
          </p:cNvSpPr>
          <p:nvPr>
            <p:ph type="sldNum" sz="quarter" idx="12"/>
          </p:nvPr>
        </p:nvSpPr>
        <p:spPr/>
        <p:txBody>
          <a:bodyPr/>
          <a:lstStyle/>
          <a:p>
            <a:fld id="{65DCBD69-296B-4D7C-AF62-9B588FC78772}" type="slidenum">
              <a:rPr lang="en-IN" smtClean="0"/>
              <a:t>9</a:t>
            </a:fld>
            <a:endParaRPr lang="en-IN"/>
          </a:p>
        </p:txBody>
      </p:sp>
      <p:graphicFrame>
        <p:nvGraphicFramePr>
          <p:cNvPr id="3" name="Table 3">
            <a:extLst>
              <a:ext uri="{FF2B5EF4-FFF2-40B4-BE49-F238E27FC236}">
                <a16:creationId xmlns="" xmlns:a16="http://schemas.microsoft.com/office/drawing/2014/main" id="{982911B6-B743-0A62-5F2A-7F1113D26E53}"/>
              </a:ext>
            </a:extLst>
          </p:cNvPr>
          <p:cNvGraphicFramePr>
            <a:graphicFrameLocks noGrp="1"/>
          </p:cNvGraphicFramePr>
          <p:nvPr>
            <p:extLst>
              <p:ext uri="{D42A27DB-BD31-4B8C-83A1-F6EECF244321}">
                <p14:modId xmlns:p14="http://schemas.microsoft.com/office/powerpoint/2010/main" val="1562727122"/>
              </p:ext>
            </p:extLst>
          </p:nvPr>
        </p:nvGraphicFramePr>
        <p:xfrm>
          <a:off x="990600" y="2346244"/>
          <a:ext cx="10710516" cy="1950720"/>
        </p:xfrm>
        <a:graphic>
          <a:graphicData uri="http://schemas.openxmlformats.org/drawingml/2006/table">
            <a:tbl>
              <a:tblPr firstRow="1" bandRow="1">
                <a:tableStyleId>{17292A2E-F333-43FB-9621-5CBBE7FDCDCB}</a:tableStyleId>
              </a:tblPr>
              <a:tblGrid>
                <a:gridCol w="471805">
                  <a:extLst>
                    <a:ext uri="{9D8B030D-6E8A-4147-A177-3AD203B41FA5}">
                      <a16:colId xmlns="" xmlns:a16="http://schemas.microsoft.com/office/drawing/2014/main" val="166576671"/>
                    </a:ext>
                  </a:extLst>
                </a:gridCol>
                <a:gridCol w="2088745">
                  <a:extLst>
                    <a:ext uri="{9D8B030D-6E8A-4147-A177-3AD203B41FA5}">
                      <a16:colId xmlns="" xmlns:a16="http://schemas.microsoft.com/office/drawing/2014/main" val="946789180"/>
                    </a:ext>
                  </a:extLst>
                </a:gridCol>
                <a:gridCol w="1596385">
                  <a:extLst>
                    <a:ext uri="{9D8B030D-6E8A-4147-A177-3AD203B41FA5}">
                      <a16:colId xmlns="" xmlns:a16="http://schemas.microsoft.com/office/drawing/2014/main" val="3483638722"/>
                    </a:ext>
                  </a:extLst>
                </a:gridCol>
                <a:gridCol w="1646799">
                  <a:extLst>
                    <a:ext uri="{9D8B030D-6E8A-4147-A177-3AD203B41FA5}">
                      <a16:colId xmlns="" xmlns:a16="http://schemas.microsoft.com/office/drawing/2014/main" val="1190061112"/>
                    </a:ext>
                  </a:extLst>
                </a:gridCol>
                <a:gridCol w="1700539">
                  <a:extLst>
                    <a:ext uri="{9D8B030D-6E8A-4147-A177-3AD203B41FA5}">
                      <a16:colId xmlns="" xmlns:a16="http://schemas.microsoft.com/office/drawing/2014/main" val="3469305604"/>
                    </a:ext>
                  </a:extLst>
                </a:gridCol>
                <a:gridCol w="1668983">
                  <a:extLst>
                    <a:ext uri="{9D8B030D-6E8A-4147-A177-3AD203B41FA5}">
                      <a16:colId xmlns="" xmlns:a16="http://schemas.microsoft.com/office/drawing/2014/main" val="3853106642"/>
                    </a:ext>
                  </a:extLst>
                </a:gridCol>
                <a:gridCol w="1537260">
                  <a:extLst>
                    <a:ext uri="{9D8B030D-6E8A-4147-A177-3AD203B41FA5}">
                      <a16:colId xmlns="" xmlns:a16="http://schemas.microsoft.com/office/drawing/2014/main" val="1601472594"/>
                    </a:ext>
                  </a:extLst>
                </a:gridCol>
              </a:tblGrid>
              <a:tr h="439989">
                <a:tc>
                  <a:txBody>
                    <a:bodyPr/>
                    <a:lstStyle/>
                    <a:p>
                      <a:pPr algn="ctr"/>
                      <a:r>
                        <a:rPr lang="en-US" sz="1600" dirty="0">
                          <a:solidFill>
                            <a:schemeClr val="tx1"/>
                          </a:solidFill>
                        </a:rPr>
                        <a:t>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Title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solidFill>
                            <a:schemeClr val="tx1"/>
                          </a:solidFill>
                        </a:rPr>
                        <a:t>Author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solidFill>
                            <a:schemeClr val="tx1"/>
                          </a:solidFill>
                        </a:rPr>
                        <a:t>Journal Name &amp; Year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solidFill>
                            <a:schemeClr val="tx1"/>
                          </a:solidFill>
                        </a:rPr>
                        <a:t>Methodology Adapted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Key Findings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solidFill>
                            <a:schemeClr val="tx1"/>
                          </a:solidFill>
                        </a:rPr>
                        <a:t>Gaps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537051210"/>
                  </a:ext>
                </a:extLst>
              </a:tr>
              <a:tr h="823288">
                <a:tc>
                  <a:txBody>
                    <a:bodyPr/>
                    <a:lstStyle/>
                    <a:p>
                      <a:pPr algn="ctr"/>
                      <a:r>
                        <a:rPr lang="en-US" sz="1400" dirty="0">
                          <a:latin typeface="Times New Roman" panose="02020603050405020304" pitchFamily="18" charset="0"/>
                          <a:cs typeface="Times New Roman" panose="02020603050405020304" pitchFamily="18" charset="0"/>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Toward General Text-Guided Multimodal Brain MRI Synthesis (</a:t>
                      </a:r>
                      <a:r>
                        <a:rPr lang="en-US" sz="1400" dirty="0" err="1"/>
                        <a:t>TUMSyn</a:t>
                      </a:r>
                      <a:r>
                        <a:rPr lang="en-US" sz="1400" dirty="0"/>
                        <a:t>)</a:t>
                      </a:r>
                      <a:endParaRPr lang="en-US" sz="1400" b="0" i="0" kern="1200" dirty="0">
                        <a:solidFill>
                          <a:schemeClr val="tx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Yulin Wang, </a:t>
                      </a:r>
                      <a:r>
                        <a:rPr lang="en-US" sz="1400" dirty="0" err="1"/>
                        <a:t>Honglin</a:t>
                      </a:r>
                      <a:r>
                        <a:rPr lang="en-US" sz="1400" dirty="0"/>
                        <a:t> Xiong, Qian Wang, Qian Liu, </a:t>
                      </a:r>
                      <a:r>
                        <a:rPr lang="en-US" sz="1400" dirty="0" err="1"/>
                        <a:t>Dinggang</a:t>
                      </a:r>
                      <a:r>
                        <a:rPr lang="en-US" sz="1400" dirty="0"/>
                        <a:t> Shen</a:t>
                      </a:r>
                      <a:endParaRPr lang="en-US" sz="1400" b="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i="1" dirty="0"/>
                        <a:t>Cell Reports Medicine</a:t>
                      </a:r>
                      <a:r>
                        <a:rPr lang="en-US" sz="1400" dirty="0"/>
                        <a:t>, 2025</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Developed text-guided MRI synthesis framework using CLIP-based multimodal learning.</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Generates realistic multimodal MRI aiding diagnosis and analysis.</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Font typeface="Arial" panose="020B0604020202020204" pitchFamily="34" charset="0"/>
                        <a:buNone/>
                      </a:pPr>
                      <a:r>
                        <a:rPr lang="en-US" sz="1400" dirty="0"/>
                        <a:t>Limited to textual metadata input; real-time synthesis efficiency untested.</a:t>
                      </a:r>
                      <a:endParaRPr lang="en-US" sz="1400" b="0"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352925414"/>
                  </a:ext>
                </a:extLst>
              </a:tr>
            </a:tbl>
          </a:graphicData>
        </a:graphic>
      </p:graphicFrame>
      <p:sp>
        <p:nvSpPr>
          <p:cNvPr id="5" name="Footer Placeholder 4">
            <a:extLst>
              <a:ext uri="{FF2B5EF4-FFF2-40B4-BE49-F238E27FC236}">
                <a16:creationId xmlns="" xmlns:a16="http://schemas.microsoft.com/office/drawing/2014/main" id="{AF6D23CC-A68C-FF24-4EAD-C2135AEE58FD}"/>
              </a:ext>
            </a:extLst>
          </p:cNvPr>
          <p:cNvSpPr>
            <a:spLocks noGrp="1"/>
          </p:cNvSpPr>
          <p:nvPr>
            <p:ph type="ftr" sz="quarter" idx="11"/>
          </p:nvPr>
        </p:nvSpPr>
        <p:spPr>
          <a:xfrm>
            <a:off x="4038600" y="6356350"/>
            <a:ext cx="4114800" cy="365125"/>
          </a:xfrm>
        </p:spPr>
        <p:txBody>
          <a:bodyPr/>
          <a:lstStyle/>
          <a:p>
            <a:r>
              <a:rPr lang="en-US" dirty="0"/>
              <a:t>Review No.  </a:t>
            </a:r>
            <a:r>
              <a:rPr lang="en-US" dirty="0" smtClean="0"/>
              <a:t>3      </a:t>
            </a:r>
            <a:r>
              <a:rPr lang="en-US" dirty="0"/>
              <a:t>Batch No.   BB4       Department of CSE</a:t>
            </a:r>
            <a:endParaRPr lang="en-IN" dirty="0"/>
          </a:p>
        </p:txBody>
      </p:sp>
    </p:spTree>
    <p:extLst>
      <p:ext uri="{BB962C8B-B14F-4D97-AF65-F5344CB8AC3E}">
        <p14:creationId xmlns:p14="http://schemas.microsoft.com/office/powerpoint/2010/main" val="250709450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RESEARCH GAPS</a:t>
            </a:r>
          </a:p>
        </p:txBody>
      </p:sp>
      <p:sp>
        <p:nvSpPr>
          <p:cNvPr id="2" name="Date Placeholder 1">
            <a:extLst>
              <a:ext uri="{FF2B5EF4-FFF2-40B4-BE49-F238E27FC236}">
                <a16:creationId xmlns="" xmlns:a16="http://schemas.microsoft.com/office/drawing/2014/main" id="{4D92119F-233E-6AF8-E556-B0BA03A50248}"/>
              </a:ext>
            </a:extLst>
          </p:cNvPr>
          <p:cNvSpPr>
            <a:spLocks noGrp="1"/>
          </p:cNvSpPr>
          <p:nvPr>
            <p:ph type="dt" sz="half" idx="10"/>
          </p:nvPr>
        </p:nvSpPr>
        <p:spPr/>
        <p:txBody>
          <a:bodyPr/>
          <a:lstStyle/>
          <a:p>
            <a:fld id="{FEE20892-EA35-4E2B-9FCB-56A89D218D97}" type="datetime1">
              <a:rPr lang="en-IN" smtClean="0"/>
              <a:t>09-02-2026</a:t>
            </a:fld>
            <a:endParaRPr lang="en-IN"/>
          </a:p>
        </p:txBody>
      </p:sp>
      <p:sp>
        <p:nvSpPr>
          <p:cNvPr id="4" name="Slide Number Placeholder 3">
            <a:extLst>
              <a:ext uri="{FF2B5EF4-FFF2-40B4-BE49-F238E27FC236}">
                <a16:creationId xmlns="" xmlns:a16="http://schemas.microsoft.com/office/drawing/2014/main" id="{E4E2C21C-20A4-633C-3CCB-36642694DE39}"/>
              </a:ext>
            </a:extLst>
          </p:cNvPr>
          <p:cNvSpPr>
            <a:spLocks noGrp="1"/>
          </p:cNvSpPr>
          <p:nvPr>
            <p:ph type="sldNum" sz="quarter" idx="12"/>
          </p:nvPr>
        </p:nvSpPr>
        <p:spPr/>
        <p:txBody>
          <a:bodyPr/>
          <a:lstStyle/>
          <a:p>
            <a:fld id="{65DCBD69-296B-4D7C-AF62-9B588FC78772}" type="slidenum">
              <a:rPr lang="en-IN" smtClean="0"/>
              <a:t>10</a:t>
            </a:fld>
            <a:endParaRPr lang="en-IN"/>
          </a:p>
        </p:txBody>
      </p:sp>
      <p:sp>
        <p:nvSpPr>
          <p:cNvPr id="5" name="Rectangle 1">
            <a:extLst>
              <a:ext uri="{FF2B5EF4-FFF2-40B4-BE49-F238E27FC236}">
                <a16:creationId xmlns="" xmlns:a16="http://schemas.microsoft.com/office/drawing/2014/main" id="{41A13405-73F2-6421-867E-B8269A610E90}"/>
              </a:ext>
            </a:extLst>
          </p:cNvPr>
          <p:cNvSpPr>
            <a:spLocks noGrp="1" noChangeArrowheads="1"/>
          </p:cNvSpPr>
          <p:nvPr>
            <p:ph idx="1"/>
          </p:nvPr>
        </p:nvSpPr>
        <p:spPr bwMode="auto">
          <a:xfrm>
            <a:off x="1016000" y="1952117"/>
            <a:ext cx="10464800" cy="34342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Existing models mostly handle </a:t>
            </a:r>
            <a:r>
              <a:rPr kumimoji="0" lang="en-US" altLang="en-US" sz="1800" b="1" i="0" u="none" strike="noStrike" cap="none" normalizeH="0" baseline="0" dirty="0">
                <a:ln>
                  <a:noFill/>
                </a:ln>
                <a:solidFill>
                  <a:schemeClr val="tx1"/>
                </a:solidFill>
                <a:effectLst/>
                <a:latin typeface="Arial" panose="020B0604020202020204" pitchFamily="34" charset="0"/>
              </a:rPr>
              <a:t>2D images</a:t>
            </a:r>
            <a:r>
              <a:rPr kumimoji="0" lang="en-US" altLang="en-US" sz="1800" b="0" i="0" u="none" strike="noStrike" cap="none" normalizeH="0" baseline="0" dirty="0">
                <a:ln>
                  <a:noFill/>
                </a:ln>
                <a:solidFill>
                  <a:schemeClr val="tx1"/>
                </a:solidFill>
                <a:effectLst/>
                <a:latin typeface="Arial" panose="020B0604020202020204" pitchFamily="34" charset="0"/>
              </a:rPr>
              <a:t>, missing crucial </a:t>
            </a:r>
            <a:r>
              <a:rPr kumimoji="0" lang="en-US" altLang="en-US" sz="1800" b="1" i="0" u="none" strike="noStrike" cap="none" normalizeH="0" baseline="0" dirty="0">
                <a:ln>
                  <a:noFill/>
                </a:ln>
                <a:solidFill>
                  <a:schemeClr val="tx1"/>
                </a:solidFill>
                <a:effectLst/>
                <a:latin typeface="Arial" panose="020B0604020202020204" pitchFamily="34" charset="0"/>
              </a:rPr>
              <a:t>3D spatial details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2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Limited data diversity</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1" i="0" u="none" strike="noStrike" cap="none" normalizeH="0" baseline="0" dirty="0">
                <a:ln>
                  <a:noFill/>
                </a:ln>
                <a:solidFill>
                  <a:schemeClr val="tx1"/>
                </a:solidFill>
                <a:effectLst/>
                <a:latin typeface="Arial" panose="020B0604020202020204" pitchFamily="34" charset="0"/>
              </a:rPr>
              <a:t>static augmentation</a:t>
            </a:r>
            <a:r>
              <a:rPr kumimoji="0" lang="en-US" altLang="en-US" sz="1800" b="0" i="0" u="none" strike="noStrike" cap="none" normalizeH="0" baseline="0" dirty="0">
                <a:ln>
                  <a:noFill/>
                </a:ln>
                <a:solidFill>
                  <a:schemeClr val="tx1"/>
                </a:solidFill>
                <a:effectLst/>
                <a:latin typeface="Arial" panose="020B0604020202020204" pitchFamily="34" charset="0"/>
              </a:rPr>
              <a:t> reduce model generalization.</a:t>
            </a:r>
          </a:p>
          <a:p>
            <a:pPr marL="0" marR="0" lvl="0" indent="0" algn="l" defTabSz="914400" rtl="0" eaLnBrk="0" fontAlgn="base" latinLnBrk="0" hangingPunct="0">
              <a:lnSpc>
                <a:spcPct val="2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Lack of </a:t>
            </a:r>
            <a:r>
              <a:rPr kumimoji="0" lang="en-US" altLang="en-US" sz="1800" b="1" i="0" u="none" strike="noStrike" cap="none" normalizeH="0" baseline="0" dirty="0">
                <a:ln>
                  <a:noFill/>
                </a:ln>
                <a:solidFill>
                  <a:schemeClr val="tx1"/>
                </a:solidFill>
                <a:effectLst/>
                <a:latin typeface="Arial" panose="020B0604020202020204" pitchFamily="34" charset="0"/>
              </a:rPr>
              <a:t>Transformer-aware mechanisms</a:t>
            </a:r>
            <a:r>
              <a:rPr kumimoji="0" lang="en-US" altLang="en-US" sz="1800" b="0" i="0" u="none" strike="noStrike" cap="none" normalizeH="0" baseline="0" dirty="0">
                <a:ln>
                  <a:noFill/>
                </a:ln>
                <a:solidFill>
                  <a:schemeClr val="tx1"/>
                </a:solidFill>
                <a:effectLst/>
                <a:latin typeface="Arial" panose="020B0604020202020204" pitchFamily="34" charset="0"/>
              </a:rPr>
              <a:t> to capture spatial and contextual patterns.</a:t>
            </a:r>
          </a:p>
          <a:p>
            <a:pPr marL="0" marR="0" lvl="0" indent="0" algn="l" defTabSz="914400" rtl="0" eaLnBrk="0" fontAlgn="base" latinLnBrk="0" hangingPunct="0">
              <a:lnSpc>
                <a:spcPct val="2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No </a:t>
            </a:r>
            <a:r>
              <a:rPr kumimoji="0" lang="en-US" altLang="en-US" sz="1800" b="1" i="0" u="none" strike="noStrike" cap="none" normalizeH="0" baseline="0" dirty="0">
                <a:ln>
                  <a:noFill/>
                </a:ln>
                <a:solidFill>
                  <a:schemeClr val="tx1"/>
                </a:solidFill>
                <a:effectLst/>
                <a:latin typeface="Arial" panose="020B0604020202020204" pitchFamily="34" charset="0"/>
              </a:rPr>
              <a:t>adaptive cyclic control</a:t>
            </a:r>
            <a:r>
              <a:rPr kumimoji="0" lang="en-US" altLang="en-US" sz="1800" b="0" i="0" u="none" strike="noStrike" cap="none" normalizeH="0" baseline="0" dirty="0">
                <a:ln>
                  <a:noFill/>
                </a:ln>
                <a:solidFill>
                  <a:schemeClr val="tx1"/>
                </a:solidFill>
                <a:effectLst/>
                <a:latin typeface="Arial" panose="020B0604020202020204" pitchFamily="34" charset="0"/>
              </a:rPr>
              <a:t> for augmentation intensity.</a:t>
            </a:r>
          </a:p>
          <a:p>
            <a:pPr marL="0" marR="0" lvl="0" indent="0" algn="l" defTabSz="914400" rtl="0" eaLnBrk="0" fontAlgn="base" latinLnBrk="0" hangingPunct="0">
              <a:lnSpc>
                <a:spcPct val="2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Current systems show </a:t>
            </a:r>
            <a:r>
              <a:rPr kumimoji="0" lang="en-US" altLang="en-US" sz="1800" b="1" i="0" u="none" strike="noStrike" cap="none" normalizeH="0" baseline="0" dirty="0">
                <a:ln>
                  <a:noFill/>
                </a:ln>
                <a:solidFill>
                  <a:schemeClr val="tx1"/>
                </a:solidFill>
                <a:effectLst/>
                <a:latin typeface="Arial" panose="020B0604020202020204" pitchFamily="34" charset="0"/>
              </a:rPr>
              <a:t>slow response time</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1" i="0" u="none" strike="noStrike" cap="none" normalizeH="0" baseline="0" dirty="0">
                <a:ln>
                  <a:noFill/>
                </a:ln>
                <a:solidFill>
                  <a:schemeClr val="tx1"/>
                </a:solidFill>
                <a:effectLst/>
                <a:latin typeface="Arial" panose="020B0604020202020204" pitchFamily="34" charset="0"/>
              </a:rPr>
              <a:t>poor clinical scalability</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
        <p:nvSpPr>
          <p:cNvPr id="6" name="Footer Placeholder 4">
            <a:extLst>
              <a:ext uri="{FF2B5EF4-FFF2-40B4-BE49-F238E27FC236}">
                <a16:creationId xmlns="" xmlns:a16="http://schemas.microsoft.com/office/drawing/2014/main" id="{8994B8F8-3EB1-3E52-502A-7999DA0D205E}"/>
              </a:ext>
            </a:extLst>
          </p:cNvPr>
          <p:cNvSpPr>
            <a:spLocks noGrp="1"/>
          </p:cNvSpPr>
          <p:nvPr>
            <p:ph type="ftr" sz="quarter" idx="11"/>
          </p:nvPr>
        </p:nvSpPr>
        <p:spPr>
          <a:xfrm>
            <a:off x="4038600" y="6356350"/>
            <a:ext cx="4114800" cy="365125"/>
          </a:xfrm>
        </p:spPr>
        <p:txBody>
          <a:bodyPr/>
          <a:lstStyle/>
          <a:p>
            <a:r>
              <a:rPr lang="en-US" dirty="0"/>
              <a:t>Review No.  </a:t>
            </a:r>
            <a:r>
              <a:rPr lang="en-US" dirty="0" smtClean="0"/>
              <a:t>3      </a:t>
            </a:r>
            <a:r>
              <a:rPr lang="en-US" dirty="0"/>
              <a:t>Batch No.   BB4       Department of CSE</a:t>
            </a:r>
            <a:endParaRPr lang="en-IN" dirty="0"/>
          </a:p>
        </p:txBody>
      </p:sp>
    </p:spTree>
    <p:extLst>
      <p:ext uri="{BB962C8B-B14F-4D97-AF65-F5344CB8AC3E}">
        <p14:creationId xmlns:p14="http://schemas.microsoft.com/office/powerpoint/2010/main" val="171316854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PROBLEM STATEMENT</a:t>
            </a:r>
          </a:p>
        </p:txBody>
      </p:sp>
      <p:sp>
        <p:nvSpPr>
          <p:cNvPr id="2" name="Date Placeholder 1">
            <a:extLst>
              <a:ext uri="{FF2B5EF4-FFF2-40B4-BE49-F238E27FC236}">
                <a16:creationId xmlns="" xmlns:a16="http://schemas.microsoft.com/office/drawing/2014/main" id="{9AC59474-7EBD-6FA8-65C2-773D9885CF0E}"/>
              </a:ext>
            </a:extLst>
          </p:cNvPr>
          <p:cNvSpPr>
            <a:spLocks noGrp="1"/>
          </p:cNvSpPr>
          <p:nvPr>
            <p:ph type="dt" sz="half" idx="10"/>
          </p:nvPr>
        </p:nvSpPr>
        <p:spPr/>
        <p:txBody>
          <a:bodyPr/>
          <a:lstStyle/>
          <a:p>
            <a:fld id="{FF2421A6-A714-46DE-9D6C-E25FDA1ED907}" type="datetime1">
              <a:rPr lang="en-IN" smtClean="0"/>
              <a:t>09-02-2026</a:t>
            </a:fld>
            <a:endParaRPr lang="en-IN" dirty="0"/>
          </a:p>
        </p:txBody>
      </p:sp>
      <p:sp>
        <p:nvSpPr>
          <p:cNvPr id="4" name="Slide Number Placeholder 3">
            <a:extLst>
              <a:ext uri="{FF2B5EF4-FFF2-40B4-BE49-F238E27FC236}">
                <a16:creationId xmlns="" xmlns:a16="http://schemas.microsoft.com/office/drawing/2014/main" id="{34DBABB6-5FC0-322E-8740-3931DFACA251}"/>
              </a:ext>
            </a:extLst>
          </p:cNvPr>
          <p:cNvSpPr>
            <a:spLocks noGrp="1"/>
          </p:cNvSpPr>
          <p:nvPr>
            <p:ph type="sldNum" sz="quarter" idx="12"/>
          </p:nvPr>
        </p:nvSpPr>
        <p:spPr/>
        <p:txBody>
          <a:bodyPr/>
          <a:lstStyle/>
          <a:p>
            <a:fld id="{65DCBD69-296B-4D7C-AF62-9B588FC78772}" type="slidenum">
              <a:rPr lang="en-IN" smtClean="0"/>
              <a:t>11</a:t>
            </a:fld>
            <a:endParaRPr lang="en-IN"/>
          </a:p>
        </p:txBody>
      </p:sp>
      <p:sp>
        <p:nvSpPr>
          <p:cNvPr id="6" name="Rectangle 2">
            <a:extLst>
              <a:ext uri="{FF2B5EF4-FFF2-40B4-BE49-F238E27FC236}">
                <a16:creationId xmlns="" xmlns:a16="http://schemas.microsoft.com/office/drawing/2014/main" id="{E5F86517-8A54-A54B-6AD6-5A928C052BF1}"/>
              </a:ext>
            </a:extLst>
          </p:cNvPr>
          <p:cNvSpPr>
            <a:spLocks noGrp="1" noChangeArrowheads="1"/>
          </p:cNvSpPr>
          <p:nvPr>
            <p:ph idx="1"/>
          </p:nvPr>
        </p:nvSpPr>
        <p:spPr bwMode="auto">
          <a:xfrm>
            <a:off x="1044948" y="1574095"/>
            <a:ext cx="9966434" cy="33303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Manual diagnosis of diseases from complex </a:t>
            </a:r>
            <a:r>
              <a:rPr kumimoji="0" lang="en-US" altLang="en-US" sz="1800" b="1" i="0" u="none" strike="noStrike" cap="none" normalizeH="0" baseline="0" dirty="0">
                <a:ln>
                  <a:noFill/>
                </a:ln>
                <a:solidFill>
                  <a:schemeClr val="tx1"/>
                </a:solidFill>
                <a:effectLst/>
                <a:latin typeface="Arial" panose="020B0604020202020204" pitchFamily="34" charset="0"/>
              </a:rPr>
              <a:t>3D medical images</a:t>
            </a:r>
            <a:r>
              <a:rPr kumimoji="0" lang="en-US" altLang="en-US" sz="1800" b="0" i="0" u="none" strike="noStrike" cap="none" normalizeH="0" baseline="0" dirty="0">
                <a:ln>
                  <a:noFill/>
                </a:ln>
                <a:solidFill>
                  <a:schemeClr val="tx1"/>
                </a:solidFill>
                <a:effectLst/>
                <a:latin typeface="Arial" panose="020B0604020202020204" pitchFamily="34" charset="0"/>
              </a:rPr>
              <a:t> is </a:t>
            </a:r>
            <a:r>
              <a:rPr kumimoji="0" lang="en-US" altLang="en-US" sz="1800" b="1" i="0" u="none" strike="noStrike" cap="none" normalizeH="0" baseline="0" dirty="0">
                <a:ln>
                  <a:noFill/>
                </a:ln>
                <a:solidFill>
                  <a:schemeClr val="tx1"/>
                </a:solidFill>
                <a:effectLst/>
                <a:latin typeface="Arial" panose="020B0604020202020204" pitchFamily="34" charset="0"/>
              </a:rPr>
              <a:t>time-consuming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error-prone</a:t>
            </a:r>
            <a:r>
              <a:rPr kumimoji="0" lang="en-US" altLang="en-US" sz="1800" b="0" i="0" u="none" strike="noStrike" cap="none" normalizeH="0" baseline="0" dirty="0">
                <a:ln>
                  <a:noFill/>
                </a:ln>
                <a:solidFill>
                  <a:schemeClr val="tx1"/>
                </a:solidFill>
                <a:effectLst/>
                <a:latin typeface="Arial" panose="020B0604020202020204" pitchFamily="34" charset="0"/>
              </a:rPr>
              <a:t>, and often </a:t>
            </a:r>
            <a:r>
              <a:rPr kumimoji="0" lang="en-US" altLang="en-US" sz="1800" b="1" i="0" u="none" strike="noStrike" cap="none" normalizeH="0" baseline="0" dirty="0">
                <a:ln>
                  <a:noFill/>
                </a:ln>
                <a:solidFill>
                  <a:schemeClr val="tx1"/>
                </a:solidFill>
                <a:effectLst/>
                <a:latin typeface="Arial" panose="020B0604020202020204" pitchFamily="34" charset="0"/>
              </a:rPr>
              <a:t>fails in early detection</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Existing deep learning models are </a:t>
            </a:r>
            <a:r>
              <a:rPr kumimoji="0" lang="en-US" altLang="en-US" sz="1800" b="1" i="0" u="none" strike="noStrike" cap="none" normalizeH="0" baseline="0" dirty="0">
                <a:ln>
                  <a:noFill/>
                </a:ln>
                <a:solidFill>
                  <a:schemeClr val="tx1"/>
                </a:solidFill>
                <a:effectLst/>
                <a:latin typeface="Arial" panose="020B0604020202020204" pitchFamily="34" charset="0"/>
              </a:rPr>
              <a:t>limited to 2D imagery</a:t>
            </a:r>
            <a:r>
              <a:rPr kumimoji="0" lang="en-US" altLang="en-US" sz="1800" b="0" i="0" u="none" strike="noStrike" cap="none" normalizeH="0" baseline="0" dirty="0">
                <a:ln>
                  <a:noFill/>
                </a:ln>
                <a:solidFill>
                  <a:schemeClr val="tx1"/>
                </a:solidFill>
                <a:effectLst/>
                <a:latin typeface="Arial" panose="020B0604020202020204" pitchFamily="34" charset="0"/>
              </a:rPr>
              <a:t>, lacking the ability to fully capture </a:t>
            </a:r>
            <a:r>
              <a:rPr kumimoji="0" lang="en-US" altLang="en-US" sz="1800" b="1" i="0" u="none" strike="noStrike" cap="none" normalizeH="0" baseline="0" dirty="0">
                <a:ln>
                  <a:noFill/>
                </a:ln>
                <a:solidFill>
                  <a:schemeClr val="tx1"/>
                </a:solidFill>
                <a:effectLst/>
                <a:latin typeface="Arial" panose="020B0604020202020204" pitchFamily="34" charset="0"/>
              </a:rPr>
              <a:t>volumetric spatial features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There is a need for an </a:t>
            </a:r>
            <a:r>
              <a:rPr kumimoji="0" lang="en-US" altLang="en-US" sz="1800" b="1" i="0" u="none" strike="noStrike" cap="none" normalizeH="0" baseline="0" dirty="0">
                <a:ln>
                  <a:noFill/>
                </a:ln>
                <a:solidFill>
                  <a:schemeClr val="tx1"/>
                </a:solidFill>
                <a:effectLst/>
                <a:latin typeface="Arial" panose="020B0604020202020204" pitchFamily="34" charset="0"/>
              </a:rPr>
              <a:t>automated deep learning framework</a:t>
            </a:r>
            <a:r>
              <a:rPr kumimoji="0" lang="en-US" altLang="en-US" sz="1800" b="0" i="0" u="none" strike="noStrike" cap="none" normalizeH="0" baseline="0" dirty="0">
                <a:ln>
                  <a:noFill/>
                </a:ln>
                <a:solidFill>
                  <a:schemeClr val="tx1"/>
                </a:solidFill>
                <a:effectLst/>
                <a:latin typeface="Arial" panose="020B0604020202020204" pitchFamily="34" charset="0"/>
              </a:rPr>
              <a:t> that can efficiently analyze </a:t>
            </a:r>
            <a:r>
              <a:rPr kumimoji="0" lang="en-US" altLang="en-US" sz="1800" b="1" i="0" u="none" strike="noStrike" cap="none" normalizeH="0" baseline="0" dirty="0">
                <a:ln>
                  <a:noFill/>
                </a:ln>
                <a:solidFill>
                  <a:schemeClr val="tx1"/>
                </a:solidFill>
                <a:effectLst/>
                <a:latin typeface="Arial" panose="020B0604020202020204" pitchFamily="34" charset="0"/>
              </a:rPr>
              <a:t>3D biomedical images</a:t>
            </a:r>
            <a:r>
              <a:rPr kumimoji="0" lang="en-US" altLang="en-US" sz="1800" b="0" i="0" u="none" strike="noStrike" cap="none" normalizeH="0" baseline="0" dirty="0">
                <a:ln>
                  <a:noFill/>
                </a:ln>
                <a:solidFill>
                  <a:schemeClr val="tx1"/>
                </a:solidFill>
                <a:effectLst/>
                <a:latin typeface="Arial" panose="020B0604020202020204" pitchFamily="34" charset="0"/>
              </a:rPr>
              <a:t> with </a:t>
            </a:r>
            <a:r>
              <a:rPr kumimoji="0" lang="en-US" altLang="en-US" sz="1800" b="1" i="0" u="none" strike="noStrike" cap="none" normalizeH="0" baseline="0" dirty="0">
                <a:ln>
                  <a:noFill/>
                </a:ln>
                <a:solidFill>
                  <a:schemeClr val="tx1"/>
                </a:solidFill>
                <a:effectLst/>
                <a:latin typeface="Arial" panose="020B0604020202020204" pitchFamily="34" charset="0"/>
              </a:rPr>
              <a:t>high accuracy</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low response time</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1" i="0" u="none" strike="noStrike" cap="none" normalizeH="0" baseline="0" dirty="0">
                <a:ln>
                  <a:noFill/>
                </a:ln>
                <a:solidFill>
                  <a:schemeClr val="tx1"/>
                </a:solidFill>
                <a:effectLst/>
                <a:latin typeface="Arial" panose="020B0604020202020204" pitchFamily="34" charset="0"/>
              </a:rPr>
              <a:t>robust generalization</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
        <p:nvSpPr>
          <p:cNvPr id="5" name="Footer Placeholder 4">
            <a:extLst>
              <a:ext uri="{FF2B5EF4-FFF2-40B4-BE49-F238E27FC236}">
                <a16:creationId xmlns="" xmlns:a16="http://schemas.microsoft.com/office/drawing/2014/main" id="{43D4A209-47F4-05C3-2440-CD2A5A83C5CF}"/>
              </a:ext>
            </a:extLst>
          </p:cNvPr>
          <p:cNvSpPr>
            <a:spLocks noGrp="1"/>
          </p:cNvSpPr>
          <p:nvPr>
            <p:ph type="ftr" sz="quarter" idx="11"/>
          </p:nvPr>
        </p:nvSpPr>
        <p:spPr>
          <a:xfrm>
            <a:off x="4038600" y="6356350"/>
            <a:ext cx="4114800" cy="365125"/>
          </a:xfrm>
        </p:spPr>
        <p:txBody>
          <a:bodyPr/>
          <a:lstStyle/>
          <a:p>
            <a:r>
              <a:rPr lang="en-US" dirty="0"/>
              <a:t>Review No.  </a:t>
            </a:r>
            <a:r>
              <a:rPr lang="en-US" dirty="0" smtClean="0"/>
              <a:t>3      </a:t>
            </a:r>
            <a:r>
              <a:rPr lang="en-US" dirty="0"/>
              <a:t>Batch No.   BB4       Department of CSE</a:t>
            </a:r>
            <a:endParaRPr lang="en-IN" dirty="0"/>
          </a:p>
        </p:txBody>
      </p:sp>
    </p:spTree>
    <p:extLst>
      <p:ext uri="{BB962C8B-B14F-4D97-AF65-F5344CB8AC3E}">
        <p14:creationId xmlns:p14="http://schemas.microsoft.com/office/powerpoint/2010/main" val="125973804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OBJECTIVES</a:t>
            </a:r>
          </a:p>
        </p:txBody>
      </p:sp>
      <p:sp>
        <p:nvSpPr>
          <p:cNvPr id="9" name="Content Placeholder 8">
            <a:extLst>
              <a:ext uri="{FF2B5EF4-FFF2-40B4-BE49-F238E27FC236}">
                <a16:creationId xmlns="" xmlns:a16="http://schemas.microsoft.com/office/drawing/2014/main" id="{0BAA4F36-AB00-F2C4-B47F-6381355DE604}"/>
              </a:ext>
            </a:extLst>
          </p:cNvPr>
          <p:cNvSpPr>
            <a:spLocks noGrp="1"/>
          </p:cNvSpPr>
          <p:nvPr>
            <p:ph idx="1"/>
          </p:nvPr>
        </p:nvSpPr>
        <p:spPr/>
        <p:txBody>
          <a:bodyPr>
            <a:normAutofit fontScale="92500" lnSpcReduction="10000"/>
          </a:bodyPr>
          <a:lstStyle/>
          <a:p>
            <a:r>
              <a:rPr lang="en-US" dirty="0"/>
              <a:t>To </a:t>
            </a:r>
            <a:r>
              <a:rPr lang="en-US" b="1" dirty="0"/>
              <a:t>automate disease diagnosis</a:t>
            </a:r>
            <a:r>
              <a:rPr lang="en-US" dirty="0"/>
              <a:t> using deep learning on </a:t>
            </a:r>
            <a:r>
              <a:rPr lang="en-US" b="1" dirty="0"/>
              <a:t>3D medical imagery</a:t>
            </a:r>
            <a:r>
              <a:rPr lang="en-US" dirty="0"/>
              <a:t> for faster and more reliable results.</a:t>
            </a:r>
          </a:p>
          <a:p>
            <a:r>
              <a:rPr lang="en-US" dirty="0"/>
              <a:t>To </a:t>
            </a:r>
            <a:r>
              <a:rPr lang="en-US" b="1" dirty="0"/>
              <a:t>implement Cyclic Augmentation</a:t>
            </a:r>
            <a:r>
              <a:rPr lang="en-US" dirty="0"/>
              <a:t> that adaptively varies data intensity to enhance model generalization.</a:t>
            </a:r>
          </a:p>
          <a:p>
            <a:r>
              <a:rPr lang="en-US" dirty="0"/>
              <a:t>To </a:t>
            </a:r>
            <a:r>
              <a:rPr lang="en-US" b="1" dirty="0"/>
              <a:t>integrate Transformer-aware attention</a:t>
            </a:r>
            <a:r>
              <a:rPr lang="en-US" dirty="0"/>
              <a:t> with </a:t>
            </a:r>
            <a:r>
              <a:rPr lang="en-US" b="1" dirty="0"/>
              <a:t>ResNet3D-50</a:t>
            </a:r>
            <a:r>
              <a:rPr lang="en-US" dirty="0"/>
              <a:t> for improved spatial and contextual understanding.</a:t>
            </a:r>
          </a:p>
          <a:p>
            <a:r>
              <a:rPr lang="en-US" dirty="0"/>
              <a:t>To </a:t>
            </a:r>
            <a:r>
              <a:rPr lang="en-US" b="1" dirty="0"/>
              <a:t>convert 3D medical volumes into 2D slice stacks</a:t>
            </a:r>
            <a:r>
              <a:rPr lang="en-US" dirty="0"/>
              <a:t> for efficient feature extraction and classification.</a:t>
            </a:r>
          </a:p>
          <a:p>
            <a:r>
              <a:rPr lang="en-US" dirty="0"/>
              <a:t>To </a:t>
            </a:r>
            <a:r>
              <a:rPr lang="en-US" b="1" dirty="0"/>
              <a:t>evaluate performance</a:t>
            </a:r>
            <a:r>
              <a:rPr lang="en-US" dirty="0"/>
              <a:t> using metrics such as </a:t>
            </a:r>
            <a:r>
              <a:rPr lang="en-US" b="1" dirty="0"/>
              <a:t>Accuracy, F1-Score, Recall, Precision, and ROC-AUC</a:t>
            </a:r>
            <a:r>
              <a:rPr lang="en-US" dirty="0"/>
              <a:t> on </a:t>
            </a:r>
            <a:r>
              <a:rPr lang="en-US" b="1" dirty="0" err="1"/>
              <a:t>MedMNIST</a:t>
            </a:r>
            <a:r>
              <a:rPr lang="en-US" b="1" dirty="0"/>
              <a:t> 3D datasets</a:t>
            </a:r>
            <a:r>
              <a:rPr lang="en-US" dirty="0"/>
              <a:t> (</a:t>
            </a:r>
            <a:r>
              <a:rPr lang="en-US" dirty="0" err="1"/>
              <a:t>VesselMNIST</a:t>
            </a:r>
            <a:r>
              <a:rPr lang="en-US" dirty="0"/>
              <a:t>, </a:t>
            </a:r>
            <a:r>
              <a:rPr lang="en-US" dirty="0" err="1"/>
              <a:t>AdrenalMNIST</a:t>
            </a:r>
            <a:r>
              <a:rPr lang="en-US" dirty="0"/>
              <a:t>).</a:t>
            </a:r>
          </a:p>
          <a:p>
            <a:endParaRPr lang="en-US"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 xmlns:a16="http://schemas.microsoft.com/office/drawing/2014/main" id="{8CD0A2E5-1D96-2644-AD07-BB26F5C229B2}"/>
              </a:ext>
            </a:extLst>
          </p:cNvPr>
          <p:cNvSpPr>
            <a:spLocks noGrp="1"/>
          </p:cNvSpPr>
          <p:nvPr>
            <p:ph type="dt" sz="half" idx="10"/>
          </p:nvPr>
        </p:nvSpPr>
        <p:spPr/>
        <p:txBody>
          <a:bodyPr/>
          <a:lstStyle/>
          <a:p>
            <a:fld id="{F4339D98-4515-4C4E-B27C-0EAC45FDE2BC}" type="datetime1">
              <a:rPr lang="en-IN" smtClean="0"/>
              <a:t>09-02-2026</a:t>
            </a:fld>
            <a:endParaRPr lang="en-IN"/>
          </a:p>
        </p:txBody>
      </p:sp>
      <p:sp>
        <p:nvSpPr>
          <p:cNvPr id="4" name="Slide Number Placeholder 3">
            <a:extLst>
              <a:ext uri="{FF2B5EF4-FFF2-40B4-BE49-F238E27FC236}">
                <a16:creationId xmlns="" xmlns:a16="http://schemas.microsoft.com/office/drawing/2014/main" id="{1F710593-8210-1B12-6E36-5D96251AEC38}"/>
              </a:ext>
            </a:extLst>
          </p:cNvPr>
          <p:cNvSpPr>
            <a:spLocks noGrp="1"/>
          </p:cNvSpPr>
          <p:nvPr>
            <p:ph type="sldNum" sz="quarter" idx="12"/>
          </p:nvPr>
        </p:nvSpPr>
        <p:spPr/>
        <p:txBody>
          <a:bodyPr/>
          <a:lstStyle/>
          <a:p>
            <a:fld id="{65DCBD69-296B-4D7C-AF62-9B588FC78772}" type="slidenum">
              <a:rPr lang="en-IN" smtClean="0"/>
              <a:t>12</a:t>
            </a:fld>
            <a:endParaRPr lang="en-IN"/>
          </a:p>
        </p:txBody>
      </p:sp>
      <p:sp>
        <p:nvSpPr>
          <p:cNvPr id="5" name="Footer Placeholder 4">
            <a:extLst>
              <a:ext uri="{FF2B5EF4-FFF2-40B4-BE49-F238E27FC236}">
                <a16:creationId xmlns="" xmlns:a16="http://schemas.microsoft.com/office/drawing/2014/main" id="{1C9035FD-7FEC-390B-37F9-0FF793634274}"/>
              </a:ext>
            </a:extLst>
          </p:cNvPr>
          <p:cNvSpPr>
            <a:spLocks noGrp="1"/>
          </p:cNvSpPr>
          <p:nvPr>
            <p:ph type="ftr" sz="quarter" idx="11"/>
          </p:nvPr>
        </p:nvSpPr>
        <p:spPr>
          <a:xfrm>
            <a:off x="4038600" y="6356350"/>
            <a:ext cx="4114800" cy="365125"/>
          </a:xfrm>
        </p:spPr>
        <p:txBody>
          <a:bodyPr/>
          <a:lstStyle/>
          <a:p>
            <a:r>
              <a:rPr lang="en-US" dirty="0"/>
              <a:t>Review No.  </a:t>
            </a:r>
            <a:r>
              <a:rPr lang="en-US" dirty="0" smtClean="0"/>
              <a:t>3      </a:t>
            </a:r>
            <a:r>
              <a:rPr lang="en-US" dirty="0"/>
              <a:t>Batch No.   BB4       Department of CSE</a:t>
            </a:r>
            <a:endParaRPr lang="en-IN" dirty="0"/>
          </a:p>
        </p:txBody>
      </p:sp>
    </p:spTree>
    <p:extLst>
      <p:ext uri="{BB962C8B-B14F-4D97-AF65-F5344CB8AC3E}">
        <p14:creationId xmlns:p14="http://schemas.microsoft.com/office/powerpoint/2010/main" val="11212372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 xmlns:a16="http://schemas.microsoft.com/office/drawing/2014/main" id="{D45DB3B1-7702-A34D-B15A-E964B95D6FB5}"/>
              </a:ext>
            </a:extLst>
          </p:cNvPr>
          <p:cNvSpPr>
            <a:spLocks noGrp="1"/>
          </p:cNvSpPr>
          <p:nvPr>
            <p:ph type="title"/>
          </p:nvPr>
        </p:nvSpPr>
        <p:spPr>
          <a:xfrm>
            <a:off x="1180618" y="365125"/>
            <a:ext cx="10173182" cy="1128009"/>
          </a:xfrm>
        </p:spPr>
        <p:txBody>
          <a:bodyPr>
            <a:normAutofit fontScale="90000"/>
          </a:bodyPr>
          <a:lstStyle/>
          <a:p>
            <a:pPr algn="ctr"/>
            <a:r>
              <a:rPr lang="en-US" b="1">
                <a:latin typeface="Times New Roman" panose="02020603050405020304" pitchFamily="18" charset="0"/>
                <a:cs typeface="Times New Roman" panose="02020603050405020304" pitchFamily="18" charset="0"/>
              </a:rPr>
              <a:t>BLOCK DIAGRAM OR FLOW DIAGRAM</a:t>
            </a:r>
            <a:endParaRPr lang="en-US" b="1" dirty="0">
              <a:latin typeface="Times New Roman" panose="02020603050405020304" pitchFamily="18" charset="0"/>
              <a:cs typeface="Times New Roman" panose="02020603050405020304" pitchFamily="18" charset="0"/>
            </a:endParaRPr>
          </a:p>
        </p:txBody>
      </p:sp>
      <p:sp>
        <p:nvSpPr>
          <p:cNvPr id="13" name="Date Placeholder 12">
            <a:extLst>
              <a:ext uri="{FF2B5EF4-FFF2-40B4-BE49-F238E27FC236}">
                <a16:creationId xmlns="" xmlns:a16="http://schemas.microsoft.com/office/drawing/2014/main" id="{51599E77-87CF-CD8C-37E9-2430DE9610F1}"/>
              </a:ext>
            </a:extLst>
          </p:cNvPr>
          <p:cNvSpPr>
            <a:spLocks noGrp="1"/>
          </p:cNvSpPr>
          <p:nvPr>
            <p:ph type="dt" sz="half" idx="10"/>
          </p:nvPr>
        </p:nvSpPr>
        <p:spPr/>
        <p:txBody>
          <a:bodyPr/>
          <a:lstStyle/>
          <a:p>
            <a:fld id="{2AF80A50-4718-4387-82F3-FA203E78785D}" type="datetime1">
              <a:rPr lang="en-IN" smtClean="0"/>
              <a:t>09-02-2026</a:t>
            </a:fld>
            <a:endParaRPr lang="en-IN"/>
          </a:p>
        </p:txBody>
      </p:sp>
      <p:sp>
        <p:nvSpPr>
          <p:cNvPr id="15" name="Slide Number Placeholder 14">
            <a:extLst>
              <a:ext uri="{FF2B5EF4-FFF2-40B4-BE49-F238E27FC236}">
                <a16:creationId xmlns="" xmlns:a16="http://schemas.microsoft.com/office/drawing/2014/main" id="{088864D5-3D7D-BD9C-033A-839174554547}"/>
              </a:ext>
            </a:extLst>
          </p:cNvPr>
          <p:cNvSpPr>
            <a:spLocks noGrp="1"/>
          </p:cNvSpPr>
          <p:nvPr>
            <p:ph type="sldNum" sz="quarter" idx="12"/>
          </p:nvPr>
        </p:nvSpPr>
        <p:spPr/>
        <p:txBody>
          <a:bodyPr/>
          <a:lstStyle/>
          <a:p>
            <a:fld id="{65DCBD69-296B-4D7C-AF62-9B588FC78772}" type="slidenum">
              <a:rPr lang="en-IN" smtClean="0"/>
              <a:t>13</a:t>
            </a:fld>
            <a:endParaRPr lang="en-IN"/>
          </a:p>
        </p:txBody>
      </p:sp>
      <p:graphicFrame>
        <p:nvGraphicFramePr>
          <p:cNvPr id="2" name="Diagram 1">
            <a:extLst>
              <a:ext uri="{FF2B5EF4-FFF2-40B4-BE49-F238E27FC236}">
                <a16:creationId xmlns="" xmlns:a16="http://schemas.microsoft.com/office/drawing/2014/main" id="{A2A8AD2D-142C-6136-0048-AB9E92CD4FCA}"/>
              </a:ext>
            </a:extLst>
          </p:cNvPr>
          <p:cNvGraphicFramePr>
            <a:graphicFrameLocks/>
          </p:cNvGraphicFramePr>
          <p:nvPr>
            <p:extLst>
              <p:ext uri="{D42A27DB-BD31-4B8C-83A1-F6EECF244321}">
                <p14:modId xmlns:p14="http://schemas.microsoft.com/office/powerpoint/2010/main" val="848468976"/>
              </p:ext>
            </p:extLst>
          </p:nvPr>
        </p:nvGraphicFramePr>
        <p:xfrm>
          <a:off x="2165683" y="1414462"/>
          <a:ext cx="7251033" cy="476977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Footer Placeholder 4">
            <a:extLst>
              <a:ext uri="{FF2B5EF4-FFF2-40B4-BE49-F238E27FC236}">
                <a16:creationId xmlns="" xmlns:a16="http://schemas.microsoft.com/office/drawing/2014/main" id="{5DDA3BE9-BB3A-27CC-D899-359B4B99CE43}"/>
              </a:ext>
            </a:extLst>
          </p:cNvPr>
          <p:cNvSpPr>
            <a:spLocks noGrp="1"/>
          </p:cNvSpPr>
          <p:nvPr>
            <p:ph type="ftr" sz="quarter" idx="11"/>
          </p:nvPr>
        </p:nvSpPr>
        <p:spPr>
          <a:xfrm>
            <a:off x="4038600" y="6356350"/>
            <a:ext cx="4114800" cy="365125"/>
          </a:xfrm>
        </p:spPr>
        <p:txBody>
          <a:bodyPr/>
          <a:lstStyle/>
          <a:p>
            <a:r>
              <a:rPr lang="en-US" dirty="0"/>
              <a:t>Review No.  </a:t>
            </a:r>
            <a:r>
              <a:rPr lang="en-US" dirty="0" smtClean="0"/>
              <a:t>3      </a:t>
            </a:r>
            <a:r>
              <a:rPr lang="en-US" dirty="0"/>
              <a:t>Batch No.   BB4       Department of CSE</a:t>
            </a:r>
            <a:endParaRPr lang="en-IN" dirty="0"/>
          </a:p>
        </p:txBody>
      </p:sp>
    </p:spTree>
    <p:extLst>
      <p:ext uri="{BB962C8B-B14F-4D97-AF65-F5344CB8AC3E}">
        <p14:creationId xmlns:p14="http://schemas.microsoft.com/office/powerpoint/2010/main" val="213702907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0C0E0714-FF90-CA19-D439-86DA03D56FEB}"/>
            </a:ext>
          </a:extLst>
        </p:cNvPr>
        <p:cNvGrpSpPr/>
        <p:nvPr/>
      </p:nvGrpSpPr>
      <p:grpSpPr>
        <a:xfrm>
          <a:off x="0" y="0"/>
          <a:ext cx="0" cy="0"/>
          <a:chOff x="0" y="0"/>
          <a:chExt cx="0" cy="0"/>
        </a:xfrm>
      </p:grpSpPr>
      <p:sp>
        <p:nvSpPr>
          <p:cNvPr id="8" name="Title 7">
            <a:extLst>
              <a:ext uri="{FF2B5EF4-FFF2-40B4-BE49-F238E27FC236}">
                <a16:creationId xmlns="" xmlns:a16="http://schemas.microsoft.com/office/drawing/2014/main" id="{E1985A0C-4020-DBF1-433F-F20C5680D9DF}"/>
              </a:ext>
            </a:extLst>
          </p:cNvPr>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METHODOLOGY</a:t>
            </a:r>
          </a:p>
        </p:txBody>
      </p:sp>
      <p:sp>
        <p:nvSpPr>
          <p:cNvPr id="9" name="Content Placeholder 8">
            <a:extLst>
              <a:ext uri="{FF2B5EF4-FFF2-40B4-BE49-F238E27FC236}">
                <a16:creationId xmlns="" xmlns:a16="http://schemas.microsoft.com/office/drawing/2014/main" id="{FE746D1B-3BB4-937D-093B-9E8E7B5EF7A6}"/>
              </a:ext>
            </a:extLst>
          </p:cNvPr>
          <p:cNvSpPr>
            <a:spLocks noGrp="1"/>
          </p:cNvSpPr>
          <p:nvPr>
            <p:ph idx="1"/>
          </p:nvPr>
        </p:nvSpPr>
        <p:spPr/>
        <p:txBody>
          <a:bodyPr>
            <a:normAutofit/>
          </a:bodyPr>
          <a:lstStyle/>
          <a:p>
            <a:r>
              <a:rPr lang="en-US" sz="2400" b="1" dirty="0"/>
              <a:t>Dataset:</a:t>
            </a:r>
            <a:r>
              <a:rPr lang="en-US" sz="2400" dirty="0"/>
              <a:t> MedMNIST3D (</a:t>
            </a:r>
            <a:r>
              <a:rPr lang="en-US" sz="2400" dirty="0" err="1"/>
              <a:t>VesselMNIST</a:t>
            </a:r>
            <a:r>
              <a:rPr lang="en-US" sz="2400" dirty="0"/>
              <a:t> &amp; </a:t>
            </a:r>
            <a:r>
              <a:rPr lang="en-US" sz="2400" dirty="0" err="1"/>
              <a:t>AdrenalMNIST</a:t>
            </a:r>
            <a:r>
              <a:rPr lang="en-US" sz="2400" dirty="0"/>
              <a:t> subsets).</a:t>
            </a:r>
          </a:p>
          <a:p>
            <a:r>
              <a:rPr lang="en-US" sz="2400" b="1" dirty="0"/>
              <a:t>Preprocessing:</a:t>
            </a:r>
            <a:r>
              <a:rPr lang="en-US" sz="2400" dirty="0"/>
              <a:t> Image resizing (224×224), normalization, 3D-to-2D slice conversion.</a:t>
            </a:r>
          </a:p>
          <a:p>
            <a:r>
              <a:rPr lang="en-US" sz="2400" b="1" dirty="0"/>
              <a:t>Augmentation:</a:t>
            </a:r>
            <a:r>
              <a:rPr lang="en-US" sz="2400" dirty="0"/>
              <a:t> Cyclic Augmentation + Intensity Level Regularization (ILR) to enhance diversity.</a:t>
            </a:r>
          </a:p>
          <a:p>
            <a:r>
              <a:rPr lang="en-US" sz="2400" b="1" dirty="0"/>
              <a:t>Model:</a:t>
            </a:r>
            <a:r>
              <a:rPr lang="en-US" sz="2400" dirty="0"/>
              <a:t> ResNet3D-50 backbone integrated with Transformer-Aware Attention.</a:t>
            </a:r>
          </a:p>
          <a:p>
            <a:r>
              <a:rPr lang="en-US" sz="2400" b="1" dirty="0"/>
              <a:t>Training:</a:t>
            </a:r>
            <a:r>
              <a:rPr lang="en-US" sz="2400" dirty="0"/>
              <a:t> Optimizer – Adam, LR – 1e-4, Batch Size – 16, Loss – Cross Entropy.</a:t>
            </a:r>
          </a:p>
          <a:p>
            <a:r>
              <a:rPr lang="en-US" sz="2400" b="1" dirty="0"/>
              <a:t>Evaluation:</a:t>
            </a:r>
            <a:r>
              <a:rPr lang="en-US" sz="2400" dirty="0"/>
              <a:t> Metrics – Accuracy, Precision, Recall, F1-Score, ROC-AUC.</a:t>
            </a:r>
          </a:p>
          <a:p>
            <a:pPr algn="just"/>
            <a:endParaRPr lang="en-US" sz="2600"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 xmlns:a16="http://schemas.microsoft.com/office/drawing/2014/main" id="{8192B459-B611-2A35-83ED-2FED9833E3CB}"/>
              </a:ext>
            </a:extLst>
          </p:cNvPr>
          <p:cNvSpPr>
            <a:spLocks noGrp="1"/>
          </p:cNvSpPr>
          <p:nvPr>
            <p:ph type="dt" sz="half" idx="10"/>
          </p:nvPr>
        </p:nvSpPr>
        <p:spPr/>
        <p:txBody>
          <a:bodyPr/>
          <a:lstStyle/>
          <a:p>
            <a:fld id="{03DEEFC3-2038-453C-A4D0-DE431556F5AF}" type="datetime1">
              <a:rPr lang="en-IN" smtClean="0"/>
              <a:t>09-02-2026</a:t>
            </a:fld>
            <a:endParaRPr lang="en-IN"/>
          </a:p>
        </p:txBody>
      </p:sp>
      <p:sp>
        <p:nvSpPr>
          <p:cNvPr id="4" name="Slide Number Placeholder 3">
            <a:extLst>
              <a:ext uri="{FF2B5EF4-FFF2-40B4-BE49-F238E27FC236}">
                <a16:creationId xmlns="" xmlns:a16="http://schemas.microsoft.com/office/drawing/2014/main" id="{843C5B2A-049D-48BB-68A7-8BBE3018E470}"/>
              </a:ext>
            </a:extLst>
          </p:cNvPr>
          <p:cNvSpPr>
            <a:spLocks noGrp="1"/>
          </p:cNvSpPr>
          <p:nvPr>
            <p:ph type="sldNum" sz="quarter" idx="12"/>
          </p:nvPr>
        </p:nvSpPr>
        <p:spPr/>
        <p:txBody>
          <a:bodyPr/>
          <a:lstStyle/>
          <a:p>
            <a:fld id="{65DCBD69-296B-4D7C-AF62-9B588FC78772}" type="slidenum">
              <a:rPr lang="en-IN" smtClean="0"/>
              <a:t>14</a:t>
            </a:fld>
            <a:endParaRPr lang="en-IN"/>
          </a:p>
        </p:txBody>
      </p:sp>
      <p:sp>
        <p:nvSpPr>
          <p:cNvPr id="5" name="Footer Placeholder 4">
            <a:extLst>
              <a:ext uri="{FF2B5EF4-FFF2-40B4-BE49-F238E27FC236}">
                <a16:creationId xmlns="" xmlns:a16="http://schemas.microsoft.com/office/drawing/2014/main" id="{E65EA717-5DCC-F52C-5810-7BD9D933367F}"/>
              </a:ext>
            </a:extLst>
          </p:cNvPr>
          <p:cNvSpPr>
            <a:spLocks noGrp="1"/>
          </p:cNvSpPr>
          <p:nvPr>
            <p:ph type="ftr" sz="quarter" idx="11"/>
          </p:nvPr>
        </p:nvSpPr>
        <p:spPr>
          <a:xfrm>
            <a:off x="4038600" y="6356350"/>
            <a:ext cx="4114800" cy="365125"/>
          </a:xfrm>
        </p:spPr>
        <p:txBody>
          <a:bodyPr/>
          <a:lstStyle/>
          <a:p>
            <a:r>
              <a:rPr lang="en-US" dirty="0"/>
              <a:t>Review No.  </a:t>
            </a:r>
            <a:r>
              <a:rPr lang="en-US" dirty="0" smtClean="0"/>
              <a:t>3      </a:t>
            </a:r>
            <a:r>
              <a:rPr lang="en-US" dirty="0"/>
              <a:t>Batch No.   BB4       Department of CSE</a:t>
            </a:r>
            <a:endParaRPr lang="en-IN" dirty="0"/>
          </a:p>
        </p:txBody>
      </p:sp>
    </p:spTree>
    <p:extLst>
      <p:ext uri="{BB962C8B-B14F-4D97-AF65-F5344CB8AC3E}">
        <p14:creationId xmlns:p14="http://schemas.microsoft.com/office/powerpoint/2010/main" val="117683290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A5D4BA6-36E0-F8F8-C993-5982A9BC2993}"/>
            </a:ext>
          </a:extLst>
        </p:cNvPr>
        <p:cNvGrpSpPr/>
        <p:nvPr/>
      </p:nvGrpSpPr>
      <p:grpSpPr>
        <a:xfrm>
          <a:off x="0" y="0"/>
          <a:ext cx="0" cy="0"/>
          <a:chOff x="0" y="0"/>
          <a:chExt cx="0" cy="0"/>
        </a:xfrm>
      </p:grpSpPr>
      <p:sp>
        <p:nvSpPr>
          <p:cNvPr id="8" name="Title 7">
            <a:extLst>
              <a:ext uri="{FF2B5EF4-FFF2-40B4-BE49-F238E27FC236}">
                <a16:creationId xmlns="" xmlns:a16="http://schemas.microsoft.com/office/drawing/2014/main" id="{68DB926C-EBD8-7538-5768-1FB915A28634}"/>
              </a:ext>
            </a:extLst>
          </p:cNvPr>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METHODOLOGY</a:t>
            </a:r>
          </a:p>
        </p:txBody>
      </p:sp>
      <p:sp>
        <p:nvSpPr>
          <p:cNvPr id="9" name="Content Placeholder 8">
            <a:extLst>
              <a:ext uri="{FF2B5EF4-FFF2-40B4-BE49-F238E27FC236}">
                <a16:creationId xmlns="" xmlns:a16="http://schemas.microsoft.com/office/drawing/2014/main" id="{04B6EDA1-85BE-41E7-231B-8C6346997C99}"/>
              </a:ext>
            </a:extLst>
          </p:cNvPr>
          <p:cNvSpPr>
            <a:spLocks noGrp="1"/>
          </p:cNvSpPr>
          <p:nvPr>
            <p:ph idx="1"/>
          </p:nvPr>
        </p:nvSpPr>
        <p:spPr/>
        <p:txBody>
          <a:bodyPr>
            <a:normAutofit/>
          </a:bodyPr>
          <a:lstStyle/>
          <a:p>
            <a:r>
              <a:rPr lang="en-US" sz="2400" b="1" dirty="0"/>
              <a:t>Dataset Selection</a:t>
            </a:r>
          </a:p>
          <a:p>
            <a:pPr marL="0" indent="0">
              <a:buNone/>
            </a:pPr>
            <a:r>
              <a:rPr lang="en-US" sz="2400" dirty="0"/>
              <a:t>The </a:t>
            </a:r>
            <a:r>
              <a:rPr lang="en-US" sz="2400" b="1" dirty="0"/>
              <a:t>MedMNIST3D</a:t>
            </a:r>
            <a:r>
              <a:rPr lang="en-US" sz="2400" dirty="0"/>
              <a:t> dataset was used, which contains multiple biomedical subsets. For this study, </a:t>
            </a:r>
            <a:r>
              <a:rPr lang="en-US" sz="2400" b="1" dirty="0"/>
              <a:t>VesselMNIST3D</a:t>
            </a:r>
            <a:r>
              <a:rPr lang="en-US" sz="2400" dirty="0"/>
              <a:t> and </a:t>
            </a:r>
            <a:r>
              <a:rPr lang="en-US" sz="2400" b="1" dirty="0"/>
              <a:t>AdrenalMNIST3D</a:t>
            </a:r>
            <a:r>
              <a:rPr lang="en-US" sz="2400" dirty="0"/>
              <a:t> were chosen as they provide high-resolution 3D medical images representing healthy and diseased conditions. These datasets are ideal for evaluating volumetric disease classification.</a:t>
            </a:r>
          </a:p>
          <a:p>
            <a:pPr marL="0" indent="0">
              <a:buNone/>
            </a:pPr>
            <a:endParaRPr lang="en-US" sz="2600"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 xmlns:a16="http://schemas.microsoft.com/office/drawing/2014/main" id="{6988653C-176A-930F-3493-3DCC55ED26C2}"/>
              </a:ext>
            </a:extLst>
          </p:cNvPr>
          <p:cNvSpPr>
            <a:spLocks noGrp="1"/>
          </p:cNvSpPr>
          <p:nvPr>
            <p:ph type="dt" sz="half" idx="10"/>
          </p:nvPr>
        </p:nvSpPr>
        <p:spPr/>
        <p:txBody>
          <a:bodyPr/>
          <a:lstStyle/>
          <a:p>
            <a:fld id="{03DEEFC3-2038-453C-A4D0-DE431556F5AF}" type="datetime1">
              <a:rPr lang="en-IN" smtClean="0"/>
              <a:t>09-02-2026</a:t>
            </a:fld>
            <a:endParaRPr lang="en-IN"/>
          </a:p>
        </p:txBody>
      </p:sp>
      <p:sp>
        <p:nvSpPr>
          <p:cNvPr id="4" name="Slide Number Placeholder 3">
            <a:extLst>
              <a:ext uri="{FF2B5EF4-FFF2-40B4-BE49-F238E27FC236}">
                <a16:creationId xmlns="" xmlns:a16="http://schemas.microsoft.com/office/drawing/2014/main" id="{89467D47-46AF-20F9-7855-2382A2C38D7B}"/>
              </a:ext>
            </a:extLst>
          </p:cNvPr>
          <p:cNvSpPr>
            <a:spLocks noGrp="1"/>
          </p:cNvSpPr>
          <p:nvPr>
            <p:ph type="sldNum" sz="quarter" idx="12"/>
          </p:nvPr>
        </p:nvSpPr>
        <p:spPr/>
        <p:txBody>
          <a:bodyPr/>
          <a:lstStyle/>
          <a:p>
            <a:fld id="{65DCBD69-296B-4D7C-AF62-9B588FC78772}" type="slidenum">
              <a:rPr lang="en-IN" smtClean="0"/>
              <a:t>15</a:t>
            </a:fld>
            <a:endParaRPr lang="en-IN"/>
          </a:p>
        </p:txBody>
      </p:sp>
      <p:sp>
        <p:nvSpPr>
          <p:cNvPr id="5" name="Footer Placeholder 4">
            <a:extLst>
              <a:ext uri="{FF2B5EF4-FFF2-40B4-BE49-F238E27FC236}">
                <a16:creationId xmlns="" xmlns:a16="http://schemas.microsoft.com/office/drawing/2014/main" id="{1F6A15E8-F4C4-04DC-C204-1EC3BD260DBC}"/>
              </a:ext>
            </a:extLst>
          </p:cNvPr>
          <p:cNvSpPr>
            <a:spLocks noGrp="1"/>
          </p:cNvSpPr>
          <p:nvPr>
            <p:ph type="ftr" sz="quarter" idx="11"/>
          </p:nvPr>
        </p:nvSpPr>
        <p:spPr>
          <a:xfrm>
            <a:off x="4038600" y="6356350"/>
            <a:ext cx="4114800" cy="365125"/>
          </a:xfrm>
        </p:spPr>
        <p:txBody>
          <a:bodyPr/>
          <a:lstStyle/>
          <a:p>
            <a:r>
              <a:rPr lang="en-US" dirty="0"/>
              <a:t>Review No.  </a:t>
            </a:r>
            <a:r>
              <a:rPr lang="en-US" dirty="0"/>
              <a:t>3</a:t>
            </a:r>
            <a:r>
              <a:rPr lang="en-US" dirty="0" smtClean="0"/>
              <a:t>     </a:t>
            </a:r>
            <a:r>
              <a:rPr lang="en-US" dirty="0"/>
              <a:t>Batch No.   BB4       Department of CSE</a:t>
            </a:r>
            <a:endParaRPr lang="en-IN" dirty="0"/>
          </a:p>
        </p:txBody>
      </p:sp>
    </p:spTree>
    <p:extLst>
      <p:ext uri="{BB962C8B-B14F-4D97-AF65-F5344CB8AC3E}">
        <p14:creationId xmlns:p14="http://schemas.microsoft.com/office/powerpoint/2010/main" val="368224109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A11C8A6D-F7C7-CB07-4B27-2AEE1929734F}"/>
            </a:ext>
          </a:extLst>
        </p:cNvPr>
        <p:cNvGrpSpPr/>
        <p:nvPr/>
      </p:nvGrpSpPr>
      <p:grpSpPr>
        <a:xfrm>
          <a:off x="0" y="0"/>
          <a:ext cx="0" cy="0"/>
          <a:chOff x="0" y="0"/>
          <a:chExt cx="0" cy="0"/>
        </a:xfrm>
      </p:grpSpPr>
      <p:sp>
        <p:nvSpPr>
          <p:cNvPr id="8" name="Title 7">
            <a:extLst>
              <a:ext uri="{FF2B5EF4-FFF2-40B4-BE49-F238E27FC236}">
                <a16:creationId xmlns="" xmlns:a16="http://schemas.microsoft.com/office/drawing/2014/main" id="{3E8E350C-BC87-6BD3-BC0E-9AE15F700040}"/>
              </a:ext>
            </a:extLst>
          </p:cNvPr>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METHODOLOGY</a:t>
            </a:r>
          </a:p>
        </p:txBody>
      </p:sp>
      <p:sp>
        <p:nvSpPr>
          <p:cNvPr id="9" name="Content Placeholder 8">
            <a:extLst>
              <a:ext uri="{FF2B5EF4-FFF2-40B4-BE49-F238E27FC236}">
                <a16:creationId xmlns="" xmlns:a16="http://schemas.microsoft.com/office/drawing/2014/main" id="{BC14CF4B-E265-544D-DA52-312221EB0A5F}"/>
              </a:ext>
            </a:extLst>
          </p:cNvPr>
          <p:cNvSpPr>
            <a:spLocks noGrp="1"/>
          </p:cNvSpPr>
          <p:nvPr>
            <p:ph idx="1"/>
          </p:nvPr>
        </p:nvSpPr>
        <p:spPr/>
        <p:txBody>
          <a:bodyPr>
            <a:normAutofit/>
          </a:bodyPr>
          <a:lstStyle/>
          <a:p>
            <a:r>
              <a:rPr lang="en-US" sz="2400" b="1" dirty="0"/>
              <a:t>Data Pre-Processing</a:t>
            </a:r>
          </a:p>
          <a:p>
            <a:pPr marL="0" indent="0">
              <a:buNone/>
            </a:pPr>
            <a:r>
              <a:rPr lang="en-US" sz="2400" dirty="0"/>
              <a:t>All input volumes were </a:t>
            </a:r>
            <a:r>
              <a:rPr lang="en-US" sz="2400" b="1" dirty="0"/>
              <a:t>resized to 224×224×224</a:t>
            </a:r>
            <a:r>
              <a:rPr lang="en-US" sz="2400" dirty="0"/>
              <a:t> to maintain uniform dimensions and normalized to the range </a:t>
            </a:r>
            <a:r>
              <a:rPr lang="en-US" sz="2400" b="1" dirty="0"/>
              <a:t>[0,1]</a:t>
            </a:r>
            <a:r>
              <a:rPr lang="en-US" sz="2400" dirty="0"/>
              <a:t>. Each 3D image was </a:t>
            </a:r>
            <a:r>
              <a:rPr lang="en-US" sz="2400" b="1" dirty="0"/>
              <a:t>converted into a stack of 2D grayscale slices</a:t>
            </a:r>
            <a:r>
              <a:rPr lang="en-US" sz="2400" dirty="0"/>
              <a:t>, enabling the network to process volumetric data efficiently. The dataset was split in a </a:t>
            </a:r>
            <a:r>
              <a:rPr lang="en-US" sz="2400" b="1" dirty="0"/>
              <a:t>70:15:15 ratio</a:t>
            </a:r>
            <a:r>
              <a:rPr lang="en-US" sz="2400" dirty="0"/>
              <a:t> for training, validation, and testing to ensure balanced evaluation.</a:t>
            </a:r>
          </a:p>
          <a:p>
            <a:pPr algn="just"/>
            <a:endParaRPr lang="en-US" sz="2600"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 xmlns:a16="http://schemas.microsoft.com/office/drawing/2014/main" id="{D64B71C4-E252-C2E9-9984-6B5DD58FD933}"/>
              </a:ext>
            </a:extLst>
          </p:cNvPr>
          <p:cNvSpPr>
            <a:spLocks noGrp="1"/>
          </p:cNvSpPr>
          <p:nvPr>
            <p:ph type="dt" sz="half" idx="10"/>
          </p:nvPr>
        </p:nvSpPr>
        <p:spPr/>
        <p:txBody>
          <a:bodyPr/>
          <a:lstStyle/>
          <a:p>
            <a:fld id="{03DEEFC3-2038-453C-A4D0-DE431556F5AF}" type="datetime1">
              <a:rPr lang="en-IN" smtClean="0"/>
              <a:t>09-02-2026</a:t>
            </a:fld>
            <a:endParaRPr lang="en-IN"/>
          </a:p>
        </p:txBody>
      </p:sp>
      <p:sp>
        <p:nvSpPr>
          <p:cNvPr id="4" name="Slide Number Placeholder 3">
            <a:extLst>
              <a:ext uri="{FF2B5EF4-FFF2-40B4-BE49-F238E27FC236}">
                <a16:creationId xmlns="" xmlns:a16="http://schemas.microsoft.com/office/drawing/2014/main" id="{FD17B3D7-25E3-C4B7-ED4F-72D40A976718}"/>
              </a:ext>
            </a:extLst>
          </p:cNvPr>
          <p:cNvSpPr>
            <a:spLocks noGrp="1"/>
          </p:cNvSpPr>
          <p:nvPr>
            <p:ph type="sldNum" sz="quarter" idx="12"/>
          </p:nvPr>
        </p:nvSpPr>
        <p:spPr/>
        <p:txBody>
          <a:bodyPr/>
          <a:lstStyle/>
          <a:p>
            <a:fld id="{65DCBD69-296B-4D7C-AF62-9B588FC78772}" type="slidenum">
              <a:rPr lang="en-IN" smtClean="0"/>
              <a:t>16</a:t>
            </a:fld>
            <a:endParaRPr lang="en-IN"/>
          </a:p>
        </p:txBody>
      </p:sp>
      <p:sp>
        <p:nvSpPr>
          <p:cNvPr id="5" name="Footer Placeholder 4">
            <a:extLst>
              <a:ext uri="{FF2B5EF4-FFF2-40B4-BE49-F238E27FC236}">
                <a16:creationId xmlns="" xmlns:a16="http://schemas.microsoft.com/office/drawing/2014/main" id="{33B8B39B-D523-CEAE-164B-F29DA4293BB6}"/>
              </a:ext>
            </a:extLst>
          </p:cNvPr>
          <p:cNvSpPr>
            <a:spLocks noGrp="1"/>
          </p:cNvSpPr>
          <p:nvPr>
            <p:ph type="ftr" sz="quarter" idx="11"/>
          </p:nvPr>
        </p:nvSpPr>
        <p:spPr>
          <a:xfrm>
            <a:off x="4038600" y="6356350"/>
            <a:ext cx="4114800" cy="365125"/>
          </a:xfrm>
        </p:spPr>
        <p:txBody>
          <a:bodyPr/>
          <a:lstStyle/>
          <a:p>
            <a:r>
              <a:rPr lang="en-US" dirty="0"/>
              <a:t>Review No.  </a:t>
            </a:r>
            <a:r>
              <a:rPr lang="en-US" dirty="0" smtClean="0"/>
              <a:t>3      </a:t>
            </a:r>
            <a:r>
              <a:rPr lang="en-US" dirty="0"/>
              <a:t>Batch No.   BB4       Department of CSE</a:t>
            </a:r>
            <a:endParaRPr lang="en-IN" dirty="0"/>
          </a:p>
        </p:txBody>
      </p:sp>
    </p:spTree>
    <p:extLst>
      <p:ext uri="{BB962C8B-B14F-4D97-AF65-F5344CB8AC3E}">
        <p14:creationId xmlns:p14="http://schemas.microsoft.com/office/powerpoint/2010/main" val="50005941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3CBA9DF-CA9D-B037-0A41-1221F5DC77C4}"/>
            </a:ext>
          </a:extLst>
        </p:cNvPr>
        <p:cNvGrpSpPr/>
        <p:nvPr/>
      </p:nvGrpSpPr>
      <p:grpSpPr>
        <a:xfrm>
          <a:off x="0" y="0"/>
          <a:ext cx="0" cy="0"/>
          <a:chOff x="0" y="0"/>
          <a:chExt cx="0" cy="0"/>
        </a:xfrm>
      </p:grpSpPr>
      <p:sp>
        <p:nvSpPr>
          <p:cNvPr id="8" name="Title 7">
            <a:extLst>
              <a:ext uri="{FF2B5EF4-FFF2-40B4-BE49-F238E27FC236}">
                <a16:creationId xmlns="" xmlns:a16="http://schemas.microsoft.com/office/drawing/2014/main" id="{676DC5B6-FC95-AEEE-C877-F68B3EC750E7}"/>
              </a:ext>
            </a:extLst>
          </p:cNvPr>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METHODOLOGY</a:t>
            </a:r>
          </a:p>
        </p:txBody>
      </p:sp>
      <p:sp>
        <p:nvSpPr>
          <p:cNvPr id="9" name="Content Placeholder 8">
            <a:extLst>
              <a:ext uri="{FF2B5EF4-FFF2-40B4-BE49-F238E27FC236}">
                <a16:creationId xmlns="" xmlns:a16="http://schemas.microsoft.com/office/drawing/2014/main" id="{AA4A030A-A0AB-11A6-BB49-83B0ABC2C36B}"/>
              </a:ext>
            </a:extLst>
          </p:cNvPr>
          <p:cNvSpPr>
            <a:spLocks noGrp="1"/>
          </p:cNvSpPr>
          <p:nvPr>
            <p:ph idx="1"/>
          </p:nvPr>
        </p:nvSpPr>
        <p:spPr/>
        <p:txBody>
          <a:bodyPr>
            <a:normAutofit/>
          </a:bodyPr>
          <a:lstStyle/>
          <a:p>
            <a:r>
              <a:rPr lang="en-US" sz="2400" b="1" dirty="0"/>
              <a:t>Data Augmentation</a:t>
            </a:r>
          </a:p>
          <a:p>
            <a:pPr marL="0" indent="0">
              <a:buNone/>
            </a:pPr>
            <a:r>
              <a:rPr lang="en-US" sz="2400" dirty="0"/>
              <a:t>To address limited data diversity and overfitting, </a:t>
            </a:r>
            <a:r>
              <a:rPr lang="en-US" sz="2400" b="1" dirty="0"/>
              <a:t>Cyclic Augmentation</a:t>
            </a:r>
            <a:r>
              <a:rPr lang="en-US" sz="2400" dirty="0"/>
              <a:t> and </a:t>
            </a:r>
            <a:r>
              <a:rPr lang="en-US" sz="2400" b="1" dirty="0"/>
              <a:t>Intensity Level Regularization (ILR)</a:t>
            </a:r>
            <a:r>
              <a:rPr lang="en-US" sz="2400" dirty="0"/>
              <a:t> were applied. Cyclic Augmentation adaptively varies brightness, contrast, and rotation intensity over time, while ILR improves robustness under different illumination levels. These augmentations simulate real-world variations in medical imaging.</a:t>
            </a:r>
          </a:p>
          <a:p>
            <a:pPr algn="just"/>
            <a:endParaRPr lang="en-US" sz="2600"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 xmlns:a16="http://schemas.microsoft.com/office/drawing/2014/main" id="{693C661A-C7E8-B7F3-4135-7879F84A43DF}"/>
              </a:ext>
            </a:extLst>
          </p:cNvPr>
          <p:cNvSpPr>
            <a:spLocks noGrp="1"/>
          </p:cNvSpPr>
          <p:nvPr>
            <p:ph type="dt" sz="half" idx="10"/>
          </p:nvPr>
        </p:nvSpPr>
        <p:spPr/>
        <p:txBody>
          <a:bodyPr/>
          <a:lstStyle/>
          <a:p>
            <a:fld id="{03DEEFC3-2038-453C-A4D0-DE431556F5AF}" type="datetime1">
              <a:rPr lang="en-IN" smtClean="0"/>
              <a:t>09-02-2026</a:t>
            </a:fld>
            <a:endParaRPr lang="en-IN"/>
          </a:p>
        </p:txBody>
      </p:sp>
      <p:sp>
        <p:nvSpPr>
          <p:cNvPr id="4" name="Slide Number Placeholder 3">
            <a:extLst>
              <a:ext uri="{FF2B5EF4-FFF2-40B4-BE49-F238E27FC236}">
                <a16:creationId xmlns="" xmlns:a16="http://schemas.microsoft.com/office/drawing/2014/main" id="{D66804FB-E516-6977-6B3A-5C479646D9B1}"/>
              </a:ext>
            </a:extLst>
          </p:cNvPr>
          <p:cNvSpPr>
            <a:spLocks noGrp="1"/>
          </p:cNvSpPr>
          <p:nvPr>
            <p:ph type="sldNum" sz="quarter" idx="12"/>
          </p:nvPr>
        </p:nvSpPr>
        <p:spPr/>
        <p:txBody>
          <a:bodyPr/>
          <a:lstStyle/>
          <a:p>
            <a:fld id="{65DCBD69-296B-4D7C-AF62-9B588FC78772}" type="slidenum">
              <a:rPr lang="en-IN" smtClean="0"/>
              <a:t>17</a:t>
            </a:fld>
            <a:endParaRPr lang="en-IN"/>
          </a:p>
        </p:txBody>
      </p:sp>
      <p:sp>
        <p:nvSpPr>
          <p:cNvPr id="5" name="Footer Placeholder 4">
            <a:extLst>
              <a:ext uri="{FF2B5EF4-FFF2-40B4-BE49-F238E27FC236}">
                <a16:creationId xmlns="" xmlns:a16="http://schemas.microsoft.com/office/drawing/2014/main" id="{C73F2F11-90AB-B120-BCB0-D682C3F8A02B}"/>
              </a:ext>
            </a:extLst>
          </p:cNvPr>
          <p:cNvSpPr>
            <a:spLocks noGrp="1"/>
          </p:cNvSpPr>
          <p:nvPr>
            <p:ph type="ftr" sz="quarter" idx="11"/>
          </p:nvPr>
        </p:nvSpPr>
        <p:spPr>
          <a:xfrm>
            <a:off x="4038600" y="6356350"/>
            <a:ext cx="4114800" cy="365125"/>
          </a:xfrm>
        </p:spPr>
        <p:txBody>
          <a:bodyPr/>
          <a:lstStyle/>
          <a:p>
            <a:r>
              <a:rPr lang="en-US" dirty="0"/>
              <a:t>Review No.  </a:t>
            </a:r>
            <a:r>
              <a:rPr lang="en-US" dirty="0"/>
              <a:t>3</a:t>
            </a:r>
            <a:r>
              <a:rPr lang="en-US" dirty="0" smtClean="0"/>
              <a:t>      </a:t>
            </a:r>
            <a:r>
              <a:rPr lang="en-US" dirty="0"/>
              <a:t>Batch No.   BB4       Department of CSE</a:t>
            </a:r>
            <a:endParaRPr lang="en-IN" dirty="0"/>
          </a:p>
        </p:txBody>
      </p:sp>
    </p:spTree>
    <p:extLst>
      <p:ext uri="{BB962C8B-B14F-4D97-AF65-F5344CB8AC3E}">
        <p14:creationId xmlns:p14="http://schemas.microsoft.com/office/powerpoint/2010/main" val="146220511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F1491E77-565F-2C85-DEC8-B8530A178127}"/>
            </a:ext>
          </a:extLst>
        </p:cNvPr>
        <p:cNvGrpSpPr/>
        <p:nvPr/>
      </p:nvGrpSpPr>
      <p:grpSpPr>
        <a:xfrm>
          <a:off x="0" y="0"/>
          <a:ext cx="0" cy="0"/>
          <a:chOff x="0" y="0"/>
          <a:chExt cx="0" cy="0"/>
        </a:xfrm>
      </p:grpSpPr>
      <p:sp>
        <p:nvSpPr>
          <p:cNvPr id="8" name="Title 7">
            <a:extLst>
              <a:ext uri="{FF2B5EF4-FFF2-40B4-BE49-F238E27FC236}">
                <a16:creationId xmlns="" xmlns:a16="http://schemas.microsoft.com/office/drawing/2014/main" id="{CF080165-22D1-9132-8F9A-FD1E8EA8B498}"/>
              </a:ext>
            </a:extLst>
          </p:cNvPr>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METHODOLOGY</a:t>
            </a:r>
          </a:p>
        </p:txBody>
      </p:sp>
      <p:sp>
        <p:nvSpPr>
          <p:cNvPr id="9" name="Content Placeholder 8">
            <a:extLst>
              <a:ext uri="{FF2B5EF4-FFF2-40B4-BE49-F238E27FC236}">
                <a16:creationId xmlns="" xmlns:a16="http://schemas.microsoft.com/office/drawing/2014/main" id="{B8D61096-36EA-C656-D521-DD23B17E1412}"/>
              </a:ext>
            </a:extLst>
          </p:cNvPr>
          <p:cNvSpPr>
            <a:spLocks noGrp="1"/>
          </p:cNvSpPr>
          <p:nvPr>
            <p:ph idx="1"/>
          </p:nvPr>
        </p:nvSpPr>
        <p:spPr/>
        <p:txBody>
          <a:bodyPr>
            <a:normAutofit/>
          </a:bodyPr>
          <a:lstStyle/>
          <a:p>
            <a:r>
              <a:rPr lang="en-US" sz="2400" b="1" dirty="0"/>
              <a:t>Model Architecture</a:t>
            </a:r>
          </a:p>
          <a:p>
            <a:pPr marL="0" indent="0">
              <a:buNone/>
            </a:pPr>
            <a:r>
              <a:rPr lang="en-US" sz="2400" dirty="0"/>
              <a:t>The proposed framework employs a </a:t>
            </a:r>
            <a:r>
              <a:rPr lang="en-US" sz="2400" b="1" dirty="0"/>
              <a:t>ResNet3D-50</a:t>
            </a:r>
            <a:r>
              <a:rPr lang="en-US" sz="2400" dirty="0"/>
              <a:t> backbone integrated with </a:t>
            </a:r>
            <a:r>
              <a:rPr lang="en-US" sz="2400" b="1" dirty="0"/>
              <a:t>Transformer-Aware Attention</a:t>
            </a:r>
            <a:r>
              <a:rPr lang="en-US" sz="2400" dirty="0"/>
              <a:t> for efficient 3D spatial feature extraction. The ResNet3D layers extract volumetric features, while the Transformer module enhances contextual understanding across 2D slice sequences, improving diagnostic accuracy.</a:t>
            </a:r>
          </a:p>
          <a:p>
            <a:pPr algn="just"/>
            <a:endParaRPr lang="en-US" sz="2600"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 xmlns:a16="http://schemas.microsoft.com/office/drawing/2014/main" id="{17B75A5F-7841-4328-EF05-E94185F65D58}"/>
              </a:ext>
            </a:extLst>
          </p:cNvPr>
          <p:cNvSpPr>
            <a:spLocks noGrp="1"/>
          </p:cNvSpPr>
          <p:nvPr>
            <p:ph type="dt" sz="half" idx="10"/>
          </p:nvPr>
        </p:nvSpPr>
        <p:spPr/>
        <p:txBody>
          <a:bodyPr/>
          <a:lstStyle/>
          <a:p>
            <a:fld id="{03DEEFC3-2038-453C-A4D0-DE431556F5AF}" type="datetime1">
              <a:rPr lang="en-IN" smtClean="0"/>
              <a:t>09-02-2026</a:t>
            </a:fld>
            <a:endParaRPr lang="en-IN"/>
          </a:p>
        </p:txBody>
      </p:sp>
      <p:sp>
        <p:nvSpPr>
          <p:cNvPr id="4" name="Slide Number Placeholder 3">
            <a:extLst>
              <a:ext uri="{FF2B5EF4-FFF2-40B4-BE49-F238E27FC236}">
                <a16:creationId xmlns="" xmlns:a16="http://schemas.microsoft.com/office/drawing/2014/main" id="{26EBF731-9DD9-CAD6-7F19-5C7F6A1B6221}"/>
              </a:ext>
            </a:extLst>
          </p:cNvPr>
          <p:cNvSpPr>
            <a:spLocks noGrp="1"/>
          </p:cNvSpPr>
          <p:nvPr>
            <p:ph type="sldNum" sz="quarter" idx="12"/>
          </p:nvPr>
        </p:nvSpPr>
        <p:spPr/>
        <p:txBody>
          <a:bodyPr/>
          <a:lstStyle/>
          <a:p>
            <a:fld id="{65DCBD69-296B-4D7C-AF62-9B588FC78772}" type="slidenum">
              <a:rPr lang="en-IN" smtClean="0"/>
              <a:t>18</a:t>
            </a:fld>
            <a:endParaRPr lang="en-IN"/>
          </a:p>
        </p:txBody>
      </p:sp>
      <p:sp>
        <p:nvSpPr>
          <p:cNvPr id="5" name="Footer Placeholder 4">
            <a:extLst>
              <a:ext uri="{FF2B5EF4-FFF2-40B4-BE49-F238E27FC236}">
                <a16:creationId xmlns="" xmlns:a16="http://schemas.microsoft.com/office/drawing/2014/main" id="{F9468031-E0C7-3D87-06BD-F3883804ADBF}"/>
              </a:ext>
            </a:extLst>
          </p:cNvPr>
          <p:cNvSpPr>
            <a:spLocks noGrp="1"/>
          </p:cNvSpPr>
          <p:nvPr>
            <p:ph type="ftr" sz="quarter" idx="11"/>
          </p:nvPr>
        </p:nvSpPr>
        <p:spPr>
          <a:xfrm>
            <a:off x="4038600" y="6356350"/>
            <a:ext cx="4114800" cy="365125"/>
          </a:xfrm>
        </p:spPr>
        <p:txBody>
          <a:bodyPr/>
          <a:lstStyle/>
          <a:p>
            <a:r>
              <a:rPr lang="en-US" dirty="0"/>
              <a:t>Review No.  </a:t>
            </a:r>
            <a:r>
              <a:rPr lang="en-US" dirty="0" smtClean="0"/>
              <a:t>3      </a:t>
            </a:r>
            <a:r>
              <a:rPr lang="en-US" dirty="0"/>
              <a:t>Batch No.   BB4       Department of CSE</a:t>
            </a:r>
            <a:endParaRPr lang="en-IN" dirty="0"/>
          </a:p>
        </p:txBody>
      </p:sp>
    </p:spTree>
    <p:extLst>
      <p:ext uri="{BB962C8B-B14F-4D97-AF65-F5344CB8AC3E}">
        <p14:creationId xmlns:p14="http://schemas.microsoft.com/office/powerpoint/2010/main" val="102882011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1490DBF-BB82-37B6-C097-49D399D9021E}"/>
            </a:ext>
          </a:extLst>
        </p:cNvPr>
        <p:cNvGrpSpPr/>
        <p:nvPr/>
      </p:nvGrpSpPr>
      <p:grpSpPr>
        <a:xfrm>
          <a:off x="0" y="0"/>
          <a:ext cx="0" cy="0"/>
          <a:chOff x="0" y="0"/>
          <a:chExt cx="0" cy="0"/>
        </a:xfrm>
      </p:grpSpPr>
      <p:sp>
        <p:nvSpPr>
          <p:cNvPr id="8" name="Title 7">
            <a:extLst>
              <a:ext uri="{FF2B5EF4-FFF2-40B4-BE49-F238E27FC236}">
                <a16:creationId xmlns="" xmlns:a16="http://schemas.microsoft.com/office/drawing/2014/main" id="{F0AD1DCA-8D64-6D69-4BB0-E42491AEA367}"/>
              </a:ext>
            </a:extLst>
          </p:cNvPr>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METHODOLOGY</a:t>
            </a:r>
          </a:p>
        </p:txBody>
      </p:sp>
      <p:sp>
        <p:nvSpPr>
          <p:cNvPr id="9" name="Content Placeholder 8">
            <a:extLst>
              <a:ext uri="{FF2B5EF4-FFF2-40B4-BE49-F238E27FC236}">
                <a16:creationId xmlns="" xmlns:a16="http://schemas.microsoft.com/office/drawing/2014/main" id="{E006C6F5-A4EB-6ABE-0598-68B1F93FE3DE}"/>
              </a:ext>
            </a:extLst>
          </p:cNvPr>
          <p:cNvSpPr>
            <a:spLocks noGrp="1"/>
          </p:cNvSpPr>
          <p:nvPr>
            <p:ph idx="1"/>
          </p:nvPr>
        </p:nvSpPr>
        <p:spPr/>
        <p:txBody>
          <a:bodyPr>
            <a:normAutofit/>
          </a:bodyPr>
          <a:lstStyle/>
          <a:p>
            <a:r>
              <a:rPr lang="en-US" sz="2400" b="1" dirty="0"/>
              <a:t>Classification and Evaluation</a:t>
            </a:r>
          </a:p>
          <a:p>
            <a:pPr marL="0" indent="0">
              <a:buNone/>
            </a:pPr>
            <a:r>
              <a:rPr lang="en-US" sz="2400" dirty="0"/>
              <a:t>Extracted features are passed through </a:t>
            </a:r>
            <a:r>
              <a:rPr lang="en-US" sz="2400" b="1" dirty="0"/>
              <a:t>Global Average Pooling (GAP)</a:t>
            </a:r>
            <a:r>
              <a:rPr lang="en-US" sz="2400" dirty="0"/>
              <a:t> and a </a:t>
            </a:r>
            <a:r>
              <a:rPr lang="en-US" sz="2400" b="1" dirty="0"/>
              <a:t>Fully Connected Layer</a:t>
            </a:r>
            <a:r>
              <a:rPr lang="en-US" sz="2400" dirty="0"/>
              <a:t> with a </a:t>
            </a:r>
            <a:r>
              <a:rPr lang="en-US" sz="2400" b="1" dirty="0" err="1"/>
              <a:t>Softmax</a:t>
            </a:r>
            <a:r>
              <a:rPr lang="en-US" sz="2400" b="1" dirty="0"/>
              <a:t> classifier</a:t>
            </a:r>
            <a:r>
              <a:rPr lang="en-US" sz="2400" dirty="0"/>
              <a:t> to predict the disease category (</a:t>
            </a:r>
            <a:r>
              <a:rPr lang="en-US" sz="2400" i="1" dirty="0"/>
              <a:t>Healthy / Diseased</a:t>
            </a:r>
            <a:r>
              <a:rPr lang="en-US" sz="2400" dirty="0"/>
              <a:t>). The model was trained using the </a:t>
            </a:r>
            <a:r>
              <a:rPr lang="en-US" sz="2400" b="1" dirty="0"/>
              <a:t>Adam optimizer (LR = 1e-4)</a:t>
            </a:r>
            <a:r>
              <a:rPr lang="en-US" sz="2400" dirty="0"/>
              <a:t> and evaluated using </a:t>
            </a:r>
            <a:r>
              <a:rPr lang="en-US" sz="2400" b="1" dirty="0"/>
              <a:t>Accuracy, Precision, Recall, F1-Score</a:t>
            </a:r>
            <a:r>
              <a:rPr lang="en-US" sz="2400" dirty="0"/>
              <a:t>, and </a:t>
            </a:r>
            <a:r>
              <a:rPr lang="en-US" sz="2400" b="1" dirty="0"/>
              <a:t>ROC-AUC</a:t>
            </a:r>
            <a:r>
              <a:rPr lang="en-US" sz="2400" dirty="0"/>
              <a:t> metrics to assess its performance.</a:t>
            </a:r>
          </a:p>
          <a:p>
            <a:pPr algn="just"/>
            <a:endParaRPr lang="en-US" sz="2600"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 xmlns:a16="http://schemas.microsoft.com/office/drawing/2014/main" id="{F11848EC-5B9B-5B3E-E975-ED2F7DB71744}"/>
              </a:ext>
            </a:extLst>
          </p:cNvPr>
          <p:cNvSpPr>
            <a:spLocks noGrp="1"/>
          </p:cNvSpPr>
          <p:nvPr>
            <p:ph type="dt" sz="half" idx="10"/>
          </p:nvPr>
        </p:nvSpPr>
        <p:spPr/>
        <p:txBody>
          <a:bodyPr/>
          <a:lstStyle/>
          <a:p>
            <a:fld id="{03DEEFC3-2038-453C-A4D0-DE431556F5AF}" type="datetime1">
              <a:rPr lang="en-IN" smtClean="0"/>
              <a:t>09-02-2026</a:t>
            </a:fld>
            <a:endParaRPr lang="en-IN"/>
          </a:p>
        </p:txBody>
      </p:sp>
      <p:sp>
        <p:nvSpPr>
          <p:cNvPr id="4" name="Slide Number Placeholder 3">
            <a:extLst>
              <a:ext uri="{FF2B5EF4-FFF2-40B4-BE49-F238E27FC236}">
                <a16:creationId xmlns="" xmlns:a16="http://schemas.microsoft.com/office/drawing/2014/main" id="{A1CE1BE6-4D2C-A14E-C733-8238DD3A90A8}"/>
              </a:ext>
            </a:extLst>
          </p:cNvPr>
          <p:cNvSpPr>
            <a:spLocks noGrp="1"/>
          </p:cNvSpPr>
          <p:nvPr>
            <p:ph type="sldNum" sz="quarter" idx="12"/>
          </p:nvPr>
        </p:nvSpPr>
        <p:spPr/>
        <p:txBody>
          <a:bodyPr/>
          <a:lstStyle/>
          <a:p>
            <a:fld id="{65DCBD69-296B-4D7C-AF62-9B588FC78772}" type="slidenum">
              <a:rPr lang="en-IN" smtClean="0"/>
              <a:t>19</a:t>
            </a:fld>
            <a:endParaRPr lang="en-IN"/>
          </a:p>
        </p:txBody>
      </p:sp>
      <p:sp>
        <p:nvSpPr>
          <p:cNvPr id="5" name="Footer Placeholder 4">
            <a:extLst>
              <a:ext uri="{FF2B5EF4-FFF2-40B4-BE49-F238E27FC236}">
                <a16:creationId xmlns="" xmlns:a16="http://schemas.microsoft.com/office/drawing/2014/main" id="{1A2FDF91-56EE-10D3-EA08-F1A491E6EE59}"/>
              </a:ext>
            </a:extLst>
          </p:cNvPr>
          <p:cNvSpPr>
            <a:spLocks noGrp="1"/>
          </p:cNvSpPr>
          <p:nvPr>
            <p:ph type="ftr" sz="quarter" idx="11"/>
          </p:nvPr>
        </p:nvSpPr>
        <p:spPr>
          <a:xfrm>
            <a:off x="4038600" y="6356350"/>
            <a:ext cx="4114800" cy="365125"/>
          </a:xfrm>
        </p:spPr>
        <p:txBody>
          <a:bodyPr/>
          <a:lstStyle/>
          <a:p>
            <a:r>
              <a:rPr lang="en-US" dirty="0"/>
              <a:t>Review No.  </a:t>
            </a:r>
            <a:r>
              <a:rPr lang="en-US" dirty="0" smtClean="0"/>
              <a:t>3      </a:t>
            </a:r>
            <a:r>
              <a:rPr lang="en-US" dirty="0"/>
              <a:t>Batch No.   BB4       Department of CSE</a:t>
            </a:r>
            <a:endParaRPr lang="en-IN" dirty="0"/>
          </a:p>
        </p:txBody>
      </p:sp>
    </p:spTree>
    <p:extLst>
      <p:ext uri="{BB962C8B-B14F-4D97-AF65-F5344CB8AC3E}">
        <p14:creationId xmlns:p14="http://schemas.microsoft.com/office/powerpoint/2010/main" val="62684015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 xmlns:a16="http://schemas.microsoft.com/office/drawing/2014/main" id="{D45DB3B1-7702-A34D-B15A-E964B95D6FB5}"/>
              </a:ext>
            </a:extLst>
          </p:cNvPr>
          <p:cNvSpPr>
            <a:spLocks noGrp="1"/>
          </p:cNvSpPr>
          <p:nvPr>
            <p:ph type="title"/>
          </p:nvPr>
        </p:nvSpPr>
        <p:spPr>
          <a:xfrm>
            <a:off x="838200" y="365125"/>
            <a:ext cx="10515600" cy="1325563"/>
          </a:xfrm>
        </p:spPr>
        <p:txBody>
          <a:bodyPr anchor="ctr">
            <a:normAutofit/>
          </a:bodyPr>
          <a:lstStyle/>
          <a:p>
            <a:r>
              <a:rPr lang="en-US" b="1" dirty="0">
                <a:latin typeface="Times New Roman" panose="02020603050405020304" pitchFamily="18" charset="0"/>
                <a:cs typeface="Times New Roman" panose="02020603050405020304" pitchFamily="18" charset="0"/>
              </a:rPr>
              <a:t>                 System Requirements</a:t>
            </a:r>
          </a:p>
        </p:txBody>
      </p:sp>
      <p:sp>
        <p:nvSpPr>
          <p:cNvPr id="2" name="Date Placeholder 1">
            <a:extLst>
              <a:ext uri="{FF2B5EF4-FFF2-40B4-BE49-F238E27FC236}">
                <a16:creationId xmlns="" xmlns:a16="http://schemas.microsoft.com/office/drawing/2014/main" id="{4C0DBA71-92D9-8A6D-9D6B-04377BA994AB}"/>
              </a:ext>
            </a:extLst>
          </p:cNvPr>
          <p:cNvSpPr>
            <a:spLocks noGrp="1"/>
          </p:cNvSpPr>
          <p:nvPr>
            <p:ph type="dt" sz="half" idx="10"/>
          </p:nvPr>
        </p:nvSpPr>
        <p:spPr>
          <a:xfrm>
            <a:off x="838200" y="6356350"/>
            <a:ext cx="2743200" cy="365125"/>
          </a:xfrm>
        </p:spPr>
        <p:txBody>
          <a:bodyPr anchor="ctr">
            <a:normAutofit/>
          </a:bodyPr>
          <a:lstStyle/>
          <a:p>
            <a:pPr>
              <a:spcAft>
                <a:spcPts val="600"/>
              </a:spcAft>
            </a:pPr>
            <a:fld id="{83242F91-AB49-409D-93CC-0C16C5444343}" type="datetime1">
              <a:rPr lang="en-IN" smtClean="0"/>
              <a:pPr>
                <a:spcAft>
                  <a:spcPts val="600"/>
                </a:spcAft>
              </a:pPr>
              <a:t>09-02-2026</a:t>
            </a:fld>
            <a:endParaRPr lang="en-IN"/>
          </a:p>
        </p:txBody>
      </p:sp>
      <p:sp>
        <p:nvSpPr>
          <p:cNvPr id="5" name="Footer Placeholder 4">
            <a:extLst>
              <a:ext uri="{FF2B5EF4-FFF2-40B4-BE49-F238E27FC236}">
                <a16:creationId xmlns="" xmlns:a16="http://schemas.microsoft.com/office/drawing/2014/main" id="{3FE581A3-F133-3152-8542-69F2E3B9488B}"/>
              </a:ext>
            </a:extLst>
          </p:cNvPr>
          <p:cNvSpPr>
            <a:spLocks noGrp="1"/>
          </p:cNvSpPr>
          <p:nvPr>
            <p:ph type="ftr" sz="quarter" idx="11"/>
          </p:nvPr>
        </p:nvSpPr>
        <p:spPr>
          <a:xfrm>
            <a:off x="4038600" y="6356350"/>
            <a:ext cx="4114800" cy="365125"/>
          </a:xfrm>
        </p:spPr>
        <p:txBody>
          <a:bodyPr anchor="ctr">
            <a:normAutofit/>
          </a:bodyPr>
          <a:lstStyle/>
          <a:p>
            <a:pPr>
              <a:spcAft>
                <a:spcPts val="600"/>
              </a:spcAft>
            </a:pPr>
            <a:r>
              <a:rPr lang="en-US" dirty="0"/>
              <a:t>Review No.  </a:t>
            </a:r>
            <a:r>
              <a:rPr lang="en-US" dirty="0"/>
              <a:t>3</a:t>
            </a:r>
            <a:r>
              <a:rPr lang="en-US" dirty="0" smtClean="0"/>
              <a:t>      </a:t>
            </a:r>
            <a:r>
              <a:rPr lang="en-US" dirty="0"/>
              <a:t>Batch No.   BB4       Department of CSE</a:t>
            </a:r>
            <a:endParaRPr lang="en-IN" dirty="0"/>
          </a:p>
        </p:txBody>
      </p:sp>
      <p:sp>
        <p:nvSpPr>
          <p:cNvPr id="4" name="Slide Number Placeholder 3">
            <a:extLst>
              <a:ext uri="{FF2B5EF4-FFF2-40B4-BE49-F238E27FC236}">
                <a16:creationId xmlns="" xmlns:a16="http://schemas.microsoft.com/office/drawing/2014/main" id="{0FFF0A31-B71C-661A-832E-FC6569D97A64}"/>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65DCBD69-296B-4D7C-AF62-9B588FC78772}" type="slidenum">
              <a:rPr lang="en-IN" smtClean="0"/>
              <a:pPr>
                <a:spcAft>
                  <a:spcPts val="600"/>
                </a:spcAft>
              </a:pPr>
              <a:t>20</a:t>
            </a:fld>
            <a:endParaRPr lang="en-IN"/>
          </a:p>
        </p:txBody>
      </p:sp>
      <p:graphicFrame>
        <p:nvGraphicFramePr>
          <p:cNvPr id="13" name="Content Placeholder 8">
            <a:extLst>
              <a:ext uri="{FF2B5EF4-FFF2-40B4-BE49-F238E27FC236}">
                <a16:creationId xmlns="" xmlns:a16="http://schemas.microsoft.com/office/drawing/2014/main" id="{58CEAC65-B3AE-521C-0B2D-9608DEC81876}"/>
              </a:ext>
            </a:extLst>
          </p:cNvPr>
          <p:cNvGraphicFramePr>
            <a:graphicFrameLocks noGrp="1"/>
          </p:cNvGraphicFramePr>
          <p:nvPr>
            <p:ph idx="1"/>
            <p:extLst>
              <p:ext uri="{D42A27DB-BD31-4B8C-83A1-F6EECF244321}">
                <p14:modId xmlns:p14="http://schemas.microsoft.com/office/powerpoint/2010/main" val="1372827229"/>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48084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D4385362-641F-7FFA-E20B-0780AFB4B18E}"/>
            </a:ext>
          </a:extLst>
        </p:cNvPr>
        <p:cNvGrpSpPr/>
        <p:nvPr/>
      </p:nvGrpSpPr>
      <p:grpSpPr>
        <a:xfrm>
          <a:off x="0" y="0"/>
          <a:ext cx="0" cy="0"/>
          <a:chOff x="0" y="0"/>
          <a:chExt cx="0" cy="0"/>
        </a:xfrm>
      </p:grpSpPr>
      <p:sp>
        <p:nvSpPr>
          <p:cNvPr id="8" name="Title 7">
            <a:extLst>
              <a:ext uri="{FF2B5EF4-FFF2-40B4-BE49-F238E27FC236}">
                <a16:creationId xmlns="" xmlns:a16="http://schemas.microsoft.com/office/drawing/2014/main" id="{4BDF41BB-E553-46A7-A29C-47E4CDED0AAD}"/>
              </a:ext>
            </a:extLst>
          </p:cNvPr>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IMPLEMENTATION</a:t>
            </a:r>
          </a:p>
        </p:txBody>
      </p:sp>
      <p:pic>
        <p:nvPicPr>
          <p:cNvPr id="6" name="Content Placeholder 5" descr="A screenshot of a computer&#10;&#10;AI-generated content may be incorrect.">
            <a:extLst>
              <a:ext uri="{FF2B5EF4-FFF2-40B4-BE49-F238E27FC236}">
                <a16:creationId xmlns="" xmlns:a16="http://schemas.microsoft.com/office/drawing/2014/main" id="{04BBCCE1-1124-247F-C0DA-0C8C6F3383B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26023" y="1493134"/>
            <a:ext cx="9282854" cy="4706054"/>
          </a:xfrm>
        </p:spPr>
      </p:pic>
      <p:sp>
        <p:nvSpPr>
          <p:cNvPr id="2" name="Date Placeholder 1">
            <a:extLst>
              <a:ext uri="{FF2B5EF4-FFF2-40B4-BE49-F238E27FC236}">
                <a16:creationId xmlns="" xmlns:a16="http://schemas.microsoft.com/office/drawing/2014/main" id="{7572310B-6F7A-23B3-BEBF-1854FB75B25C}"/>
              </a:ext>
            </a:extLst>
          </p:cNvPr>
          <p:cNvSpPr>
            <a:spLocks noGrp="1"/>
          </p:cNvSpPr>
          <p:nvPr>
            <p:ph type="dt" sz="half" idx="10"/>
          </p:nvPr>
        </p:nvSpPr>
        <p:spPr/>
        <p:txBody>
          <a:bodyPr/>
          <a:lstStyle/>
          <a:p>
            <a:fld id="{83242F91-AB49-409D-93CC-0C16C5444343}" type="datetime1">
              <a:rPr lang="en-IN" smtClean="0"/>
              <a:t>09-02-2026</a:t>
            </a:fld>
            <a:endParaRPr lang="en-IN"/>
          </a:p>
        </p:txBody>
      </p:sp>
      <p:sp>
        <p:nvSpPr>
          <p:cNvPr id="4" name="Slide Number Placeholder 3">
            <a:extLst>
              <a:ext uri="{FF2B5EF4-FFF2-40B4-BE49-F238E27FC236}">
                <a16:creationId xmlns="" xmlns:a16="http://schemas.microsoft.com/office/drawing/2014/main" id="{CC3DDC9D-39A8-4AD3-85D9-C4FD4FAABFD9}"/>
              </a:ext>
            </a:extLst>
          </p:cNvPr>
          <p:cNvSpPr>
            <a:spLocks noGrp="1"/>
          </p:cNvSpPr>
          <p:nvPr>
            <p:ph type="sldNum" sz="quarter" idx="12"/>
          </p:nvPr>
        </p:nvSpPr>
        <p:spPr/>
        <p:txBody>
          <a:bodyPr/>
          <a:lstStyle/>
          <a:p>
            <a:fld id="{65DCBD69-296B-4D7C-AF62-9B588FC78772}" type="slidenum">
              <a:rPr lang="en-IN" smtClean="0"/>
              <a:t>21</a:t>
            </a:fld>
            <a:endParaRPr lang="en-IN"/>
          </a:p>
        </p:txBody>
      </p:sp>
      <p:sp>
        <p:nvSpPr>
          <p:cNvPr id="5" name="Footer Placeholder 4">
            <a:extLst>
              <a:ext uri="{FF2B5EF4-FFF2-40B4-BE49-F238E27FC236}">
                <a16:creationId xmlns="" xmlns:a16="http://schemas.microsoft.com/office/drawing/2014/main" id="{7ABEACB7-B91E-A80C-DD72-87D9AFFFDFF6}"/>
              </a:ext>
            </a:extLst>
          </p:cNvPr>
          <p:cNvSpPr>
            <a:spLocks noGrp="1"/>
          </p:cNvSpPr>
          <p:nvPr>
            <p:ph type="ftr" sz="quarter" idx="11"/>
          </p:nvPr>
        </p:nvSpPr>
        <p:spPr>
          <a:xfrm>
            <a:off x="4038600" y="6356350"/>
            <a:ext cx="4114800" cy="365125"/>
          </a:xfrm>
        </p:spPr>
        <p:txBody>
          <a:bodyPr/>
          <a:lstStyle/>
          <a:p>
            <a:r>
              <a:rPr lang="en-US" dirty="0"/>
              <a:t>Review No.  </a:t>
            </a:r>
            <a:r>
              <a:rPr lang="en-US" dirty="0" smtClean="0"/>
              <a:t>3      </a:t>
            </a:r>
            <a:r>
              <a:rPr lang="en-US" dirty="0"/>
              <a:t>Batch No.   BB4       Department of CSE</a:t>
            </a:r>
            <a:endParaRPr lang="en-IN" dirty="0"/>
          </a:p>
        </p:txBody>
      </p:sp>
    </p:spTree>
    <p:extLst>
      <p:ext uri="{BB962C8B-B14F-4D97-AF65-F5344CB8AC3E}">
        <p14:creationId xmlns:p14="http://schemas.microsoft.com/office/powerpoint/2010/main" val="262110227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044CF5F-5564-B153-BE07-69A1BBC10D36}"/>
            </a:ext>
          </a:extLst>
        </p:cNvPr>
        <p:cNvGrpSpPr/>
        <p:nvPr/>
      </p:nvGrpSpPr>
      <p:grpSpPr>
        <a:xfrm>
          <a:off x="0" y="0"/>
          <a:ext cx="0" cy="0"/>
          <a:chOff x="0" y="0"/>
          <a:chExt cx="0" cy="0"/>
        </a:xfrm>
      </p:grpSpPr>
      <p:sp>
        <p:nvSpPr>
          <p:cNvPr id="8" name="Title 7">
            <a:extLst>
              <a:ext uri="{FF2B5EF4-FFF2-40B4-BE49-F238E27FC236}">
                <a16:creationId xmlns="" xmlns:a16="http://schemas.microsoft.com/office/drawing/2014/main" id="{7A5492FC-84EF-7691-21FD-4F2F42330683}"/>
              </a:ext>
            </a:extLst>
          </p:cNvPr>
          <p:cNvSpPr>
            <a:spLocks noGrp="1"/>
          </p:cNvSpPr>
          <p:nvPr>
            <p:ph type="title"/>
          </p:nvPr>
        </p:nvSpPr>
        <p:spPr>
          <a:xfrm>
            <a:off x="1180618" y="365125"/>
            <a:ext cx="10173182" cy="1128009"/>
          </a:xfrm>
        </p:spPr>
        <p:txBody>
          <a:bodyPr>
            <a:normAutofit/>
          </a:bodyPr>
          <a:lstStyle/>
          <a:p>
            <a:pPr algn="ctr"/>
            <a:r>
              <a:rPr lang="en-US" sz="3600" b="1" dirty="0">
                <a:latin typeface="Times New Roman" panose="02020603050405020304" pitchFamily="18" charset="0"/>
                <a:cs typeface="Times New Roman" panose="02020603050405020304" pitchFamily="18" charset="0"/>
              </a:rPr>
              <a:t>IMPLEMENTATION OF FRONTEND</a:t>
            </a:r>
          </a:p>
        </p:txBody>
      </p:sp>
      <p:sp>
        <p:nvSpPr>
          <p:cNvPr id="2" name="Date Placeholder 1">
            <a:extLst>
              <a:ext uri="{FF2B5EF4-FFF2-40B4-BE49-F238E27FC236}">
                <a16:creationId xmlns="" xmlns:a16="http://schemas.microsoft.com/office/drawing/2014/main" id="{738CA43D-1B66-159B-99E6-9D422A157374}"/>
              </a:ext>
            </a:extLst>
          </p:cNvPr>
          <p:cNvSpPr>
            <a:spLocks noGrp="1"/>
          </p:cNvSpPr>
          <p:nvPr>
            <p:ph type="dt" sz="half" idx="10"/>
          </p:nvPr>
        </p:nvSpPr>
        <p:spPr/>
        <p:txBody>
          <a:bodyPr/>
          <a:lstStyle/>
          <a:p>
            <a:fld id="{83242F91-AB49-409D-93CC-0C16C5444343}" type="datetime1">
              <a:rPr lang="en-IN" smtClean="0"/>
              <a:t>09-02-2026</a:t>
            </a:fld>
            <a:endParaRPr lang="en-IN"/>
          </a:p>
        </p:txBody>
      </p:sp>
      <p:sp>
        <p:nvSpPr>
          <p:cNvPr id="4" name="Slide Number Placeholder 3">
            <a:extLst>
              <a:ext uri="{FF2B5EF4-FFF2-40B4-BE49-F238E27FC236}">
                <a16:creationId xmlns="" xmlns:a16="http://schemas.microsoft.com/office/drawing/2014/main" id="{3CC40785-7EBF-00E2-0A56-62C6D661359A}"/>
              </a:ext>
            </a:extLst>
          </p:cNvPr>
          <p:cNvSpPr>
            <a:spLocks noGrp="1"/>
          </p:cNvSpPr>
          <p:nvPr>
            <p:ph type="sldNum" sz="quarter" idx="12"/>
          </p:nvPr>
        </p:nvSpPr>
        <p:spPr/>
        <p:txBody>
          <a:bodyPr/>
          <a:lstStyle/>
          <a:p>
            <a:fld id="{65DCBD69-296B-4D7C-AF62-9B588FC78772}" type="slidenum">
              <a:rPr lang="en-IN" smtClean="0"/>
              <a:t>22</a:t>
            </a:fld>
            <a:endParaRPr lang="en-IN"/>
          </a:p>
        </p:txBody>
      </p:sp>
      <p:sp>
        <p:nvSpPr>
          <p:cNvPr id="5" name="Footer Placeholder 4">
            <a:extLst>
              <a:ext uri="{FF2B5EF4-FFF2-40B4-BE49-F238E27FC236}">
                <a16:creationId xmlns="" xmlns:a16="http://schemas.microsoft.com/office/drawing/2014/main" id="{7A023185-62D1-6D87-97FD-AB087035E2CB}"/>
              </a:ext>
            </a:extLst>
          </p:cNvPr>
          <p:cNvSpPr>
            <a:spLocks noGrp="1"/>
          </p:cNvSpPr>
          <p:nvPr>
            <p:ph type="ftr" sz="quarter" idx="11"/>
          </p:nvPr>
        </p:nvSpPr>
        <p:spPr>
          <a:xfrm>
            <a:off x="4038600" y="6356350"/>
            <a:ext cx="4114800" cy="365125"/>
          </a:xfrm>
        </p:spPr>
        <p:txBody>
          <a:bodyPr/>
          <a:lstStyle/>
          <a:p>
            <a:r>
              <a:rPr lang="en-US" dirty="0"/>
              <a:t>Review No.  </a:t>
            </a:r>
            <a:r>
              <a:rPr lang="en-US" dirty="0" smtClean="0"/>
              <a:t>3      </a:t>
            </a:r>
            <a:r>
              <a:rPr lang="en-US" dirty="0"/>
              <a:t>Batch No.   BB4       Department of CSE</a:t>
            </a:r>
            <a:endParaRPr lang="en-IN" dirty="0"/>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28181" y="1541478"/>
            <a:ext cx="7533736" cy="4237726"/>
          </a:xfrm>
          <a:prstGeom prst="rect">
            <a:avLst/>
          </a:prstGeom>
        </p:spPr>
      </p:pic>
      <p:sp>
        <p:nvSpPr>
          <p:cNvPr id="6" name="Content Placeholder 5"/>
          <p:cNvSpPr>
            <a:spLocks noGrp="1"/>
          </p:cNvSpPr>
          <p:nvPr>
            <p:ph idx="1"/>
          </p:nvPr>
        </p:nvSpPr>
        <p:spPr/>
        <p:txBody>
          <a:bodyPr/>
          <a:lstStyle/>
          <a:p>
            <a:pPr marL="0" indent="0">
              <a:buNone/>
            </a:pPr>
            <a:endParaRPr lang="en-US" dirty="0"/>
          </a:p>
        </p:txBody>
      </p:sp>
    </p:spTree>
    <p:extLst>
      <p:ext uri="{BB962C8B-B14F-4D97-AF65-F5344CB8AC3E}">
        <p14:creationId xmlns:p14="http://schemas.microsoft.com/office/powerpoint/2010/main" val="266790753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DDE65E9-162F-5314-2289-34CE33680614}"/>
            </a:ext>
          </a:extLst>
        </p:cNvPr>
        <p:cNvGrpSpPr/>
        <p:nvPr/>
      </p:nvGrpSpPr>
      <p:grpSpPr>
        <a:xfrm>
          <a:off x="0" y="0"/>
          <a:ext cx="0" cy="0"/>
          <a:chOff x="0" y="0"/>
          <a:chExt cx="0" cy="0"/>
        </a:xfrm>
      </p:grpSpPr>
      <p:sp>
        <p:nvSpPr>
          <p:cNvPr id="8" name="Title 7">
            <a:extLst>
              <a:ext uri="{FF2B5EF4-FFF2-40B4-BE49-F238E27FC236}">
                <a16:creationId xmlns="" xmlns:a16="http://schemas.microsoft.com/office/drawing/2014/main" id="{D18279E4-1446-9729-F21A-B2ABC0E5D6DB}"/>
              </a:ext>
            </a:extLst>
          </p:cNvPr>
          <p:cNvSpPr>
            <a:spLocks noGrp="1"/>
          </p:cNvSpPr>
          <p:nvPr>
            <p:ph type="title"/>
          </p:nvPr>
        </p:nvSpPr>
        <p:spPr>
          <a:xfrm>
            <a:off x="1180618" y="365125"/>
            <a:ext cx="10173182" cy="1128009"/>
          </a:xfrm>
        </p:spPr>
        <p:txBody>
          <a:bodyPr>
            <a:normAutofit/>
          </a:bodyPr>
          <a:lstStyle/>
          <a:p>
            <a:pPr algn="ctr"/>
            <a:r>
              <a:rPr lang="en-US" sz="3200" b="1" dirty="0">
                <a:latin typeface="Times New Roman" panose="02020603050405020304" pitchFamily="18" charset="0"/>
                <a:cs typeface="Times New Roman" panose="02020603050405020304" pitchFamily="18" charset="0"/>
              </a:rPr>
              <a:t>IMPLEMENTATION OF FRONTEND</a:t>
            </a:r>
          </a:p>
        </p:txBody>
      </p:sp>
      <p:sp>
        <p:nvSpPr>
          <p:cNvPr id="2" name="Date Placeholder 1">
            <a:extLst>
              <a:ext uri="{FF2B5EF4-FFF2-40B4-BE49-F238E27FC236}">
                <a16:creationId xmlns="" xmlns:a16="http://schemas.microsoft.com/office/drawing/2014/main" id="{F1CE5162-1708-882B-3BCF-B0F27EEF7AD3}"/>
              </a:ext>
            </a:extLst>
          </p:cNvPr>
          <p:cNvSpPr>
            <a:spLocks noGrp="1"/>
          </p:cNvSpPr>
          <p:nvPr>
            <p:ph type="dt" sz="half" idx="10"/>
          </p:nvPr>
        </p:nvSpPr>
        <p:spPr/>
        <p:txBody>
          <a:bodyPr/>
          <a:lstStyle/>
          <a:p>
            <a:fld id="{83242F91-AB49-409D-93CC-0C16C5444343}" type="datetime1">
              <a:rPr lang="en-IN" smtClean="0"/>
              <a:t>09-02-2026</a:t>
            </a:fld>
            <a:endParaRPr lang="en-IN"/>
          </a:p>
        </p:txBody>
      </p:sp>
      <p:sp>
        <p:nvSpPr>
          <p:cNvPr id="4" name="Slide Number Placeholder 3">
            <a:extLst>
              <a:ext uri="{FF2B5EF4-FFF2-40B4-BE49-F238E27FC236}">
                <a16:creationId xmlns="" xmlns:a16="http://schemas.microsoft.com/office/drawing/2014/main" id="{E21150FC-46D4-4332-C475-F94751020D3B}"/>
              </a:ext>
            </a:extLst>
          </p:cNvPr>
          <p:cNvSpPr>
            <a:spLocks noGrp="1"/>
          </p:cNvSpPr>
          <p:nvPr>
            <p:ph type="sldNum" sz="quarter" idx="12"/>
          </p:nvPr>
        </p:nvSpPr>
        <p:spPr/>
        <p:txBody>
          <a:bodyPr/>
          <a:lstStyle/>
          <a:p>
            <a:fld id="{65DCBD69-296B-4D7C-AF62-9B588FC78772}" type="slidenum">
              <a:rPr lang="en-IN" smtClean="0"/>
              <a:t>23</a:t>
            </a:fld>
            <a:endParaRPr lang="en-IN"/>
          </a:p>
        </p:txBody>
      </p:sp>
      <p:sp>
        <p:nvSpPr>
          <p:cNvPr id="5" name="Footer Placeholder 4">
            <a:extLst>
              <a:ext uri="{FF2B5EF4-FFF2-40B4-BE49-F238E27FC236}">
                <a16:creationId xmlns="" xmlns:a16="http://schemas.microsoft.com/office/drawing/2014/main" id="{AEDE9333-A7CD-4C2B-A2AF-1E7B30F92B25}"/>
              </a:ext>
            </a:extLst>
          </p:cNvPr>
          <p:cNvSpPr>
            <a:spLocks noGrp="1"/>
          </p:cNvSpPr>
          <p:nvPr>
            <p:ph type="ftr" sz="quarter" idx="11"/>
          </p:nvPr>
        </p:nvSpPr>
        <p:spPr>
          <a:xfrm>
            <a:off x="4038600" y="6356350"/>
            <a:ext cx="4114800" cy="365125"/>
          </a:xfrm>
        </p:spPr>
        <p:txBody>
          <a:bodyPr/>
          <a:lstStyle/>
          <a:p>
            <a:r>
              <a:rPr lang="en-US" dirty="0"/>
              <a:t>Review No.  </a:t>
            </a:r>
            <a:r>
              <a:rPr lang="en-US" dirty="0" smtClean="0"/>
              <a:t>3      </a:t>
            </a:r>
            <a:r>
              <a:rPr lang="en-US" dirty="0"/>
              <a:t>Batch No.   BB4       Department of CSE</a:t>
            </a:r>
            <a:endParaRPr lang="en-IN" dirty="0"/>
          </a:p>
        </p:txBody>
      </p:sp>
      <p:pic>
        <p:nvPicPr>
          <p:cNvPr id="6" name="Content Placeholder 5"/>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228144" y="1825625"/>
            <a:ext cx="7735712" cy="4351338"/>
          </a:xfrm>
        </p:spPr>
      </p:pic>
    </p:spTree>
    <p:extLst>
      <p:ext uri="{BB962C8B-B14F-4D97-AF65-F5344CB8AC3E}">
        <p14:creationId xmlns:p14="http://schemas.microsoft.com/office/powerpoint/2010/main" val="415718732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102C88F-5373-3A7E-F84B-2909FB90645B}"/>
            </a:ext>
          </a:extLst>
        </p:cNvPr>
        <p:cNvGrpSpPr/>
        <p:nvPr/>
      </p:nvGrpSpPr>
      <p:grpSpPr>
        <a:xfrm>
          <a:off x="0" y="0"/>
          <a:ext cx="0" cy="0"/>
          <a:chOff x="0" y="0"/>
          <a:chExt cx="0" cy="0"/>
        </a:xfrm>
      </p:grpSpPr>
      <p:sp>
        <p:nvSpPr>
          <p:cNvPr id="8" name="Title 7">
            <a:extLst>
              <a:ext uri="{FF2B5EF4-FFF2-40B4-BE49-F238E27FC236}">
                <a16:creationId xmlns="" xmlns:a16="http://schemas.microsoft.com/office/drawing/2014/main" id="{D0A3AE7A-4DE2-8A6D-8BF9-5AD7A260E516}"/>
              </a:ext>
            </a:extLst>
          </p:cNvPr>
          <p:cNvSpPr>
            <a:spLocks noGrp="1"/>
          </p:cNvSpPr>
          <p:nvPr>
            <p:ph type="title"/>
          </p:nvPr>
        </p:nvSpPr>
        <p:spPr>
          <a:xfrm>
            <a:off x="1180618" y="365125"/>
            <a:ext cx="10173182" cy="1128009"/>
          </a:xfrm>
        </p:spPr>
        <p:txBody>
          <a:bodyPr>
            <a:normAutofit/>
          </a:bodyPr>
          <a:lstStyle/>
          <a:p>
            <a:pPr algn="ctr"/>
            <a:r>
              <a:rPr lang="en-US" sz="3600" b="1" dirty="0">
                <a:latin typeface="Times New Roman" panose="02020603050405020304" pitchFamily="18" charset="0"/>
                <a:cs typeface="Times New Roman" panose="02020603050405020304" pitchFamily="18" charset="0"/>
              </a:rPr>
              <a:t>IMPLEMENTATION OF FRONTEND</a:t>
            </a:r>
          </a:p>
        </p:txBody>
      </p:sp>
      <p:sp>
        <p:nvSpPr>
          <p:cNvPr id="2" name="Date Placeholder 1">
            <a:extLst>
              <a:ext uri="{FF2B5EF4-FFF2-40B4-BE49-F238E27FC236}">
                <a16:creationId xmlns="" xmlns:a16="http://schemas.microsoft.com/office/drawing/2014/main" id="{26C754D0-2E53-73D4-004D-E5582BFE5042}"/>
              </a:ext>
            </a:extLst>
          </p:cNvPr>
          <p:cNvSpPr>
            <a:spLocks noGrp="1"/>
          </p:cNvSpPr>
          <p:nvPr>
            <p:ph type="dt" sz="half" idx="10"/>
          </p:nvPr>
        </p:nvSpPr>
        <p:spPr/>
        <p:txBody>
          <a:bodyPr/>
          <a:lstStyle/>
          <a:p>
            <a:fld id="{83242F91-AB49-409D-93CC-0C16C5444343}" type="datetime1">
              <a:rPr lang="en-IN" smtClean="0"/>
              <a:t>09-02-2026</a:t>
            </a:fld>
            <a:endParaRPr lang="en-IN"/>
          </a:p>
        </p:txBody>
      </p:sp>
      <p:sp>
        <p:nvSpPr>
          <p:cNvPr id="4" name="Slide Number Placeholder 3">
            <a:extLst>
              <a:ext uri="{FF2B5EF4-FFF2-40B4-BE49-F238E27FC236}">
                <a16:creationId xmlns="" xmlns:a16="http://schemas.microsoft.com/office/drawing/2014/main" id="{DE3EA016-AF5F-7AB4-1799-C910BB38390B}"/>
              </a:ext>
            </a:extLst>
          </p:cNvPr>
          <p:cNvSpPr>
            <a:spLocks noGrp="1"/>
          </p:cNvSpPr>
          <p:nvPr>
            <p:ph type="sldNum" sz="quarter" idx="12"/>
          </p:nvPr>
        </p:nvSpPr>
        <p:spPr/>
        <p:txBody>
          <a:bodyPr/>
          <a:lstStyle/>
          <a:p>
            <a:fld id="{65DCBD69-296B-4D7C-AF62-9B588FC78772}" type="slidenum">
              <a:rPr lang="en-IN" smtClean="0"/>
              <a:t>24</a:t>
            </a:fld>
            <a:endParaRPr lang="en-IN"/>
          </a:p>
        </p:txBody>
      </p:sp>
      <p:sp>
        <p:nvSpPr>
          <p:cNvPr id="5" name="Footer Placeholder 4">
            <a:extLst>
              <a:ext uri="{FF2B5EF4-FFF2-40B4-BE49-F238E27FC236}">
                <a16:creationId xmlns="" xmlns:a16="http://schemas.microsoft.com/office/drawing/2014/main" id="{BFC18025-28F3-D554-651E-512B551C12F4}"/>
              </a:ext>
            </a:extLst>
          </p:cNvPr>
          <p:cNvSpPr>
            <a:spLocks noGrp="1"/>
          </p:cNvSpPr>
          <p:nvPr>
            <p:ph type="ftr" sz="quarter" idx="11"/>
          </p:nvPr>
        </p:nvSpPr>
        <p:spPr>
          <a:xfrm>
            <a:off x="4038600" y="6356350"/>
            <a:ext cx="4114800" cy="365125"/>
          </a:xfrm>
        </p:spPr>
        <p:txBody>
          <a:bodyPr/>
          <a:lstStyle/>
          <a:p>
            <a:r>
              <a:rPr lang="en-US" dirty="0"/>
              <a:t>Review No.  </a:t>
            </a:r>
            <a:r>
              <a:rPr lang="en-US" dirty="0" smtClean="0"/>
              <a:t>3      </a:t>
            </a:r>
            <a:r>
              <a:rPr lang="en-US" dirty="0"/>
              <a:t>Batch No.   BB4       Department of CSE</a:t>
            </a:r>
            <a:endParaRPr lang="en-IN" dirty="0"/>
          </a:p>
        </p:txBody>
      </p:sp>
      <p:pic>
        <p:nvPicPr>
          <p:cNvPr id="6" name="Content Placeholder 5"/>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228144" y="1825625"/>
            <a:ext cx="7735712" cy="4351338"/>
          </a:xfrm>
        </p:spPr>
      </p:pic>
    </p:spTree>
    <p:extLst>
      <p:ext uri="{BB962C8B-B14F-4D97-AF65-F5344CB8AC3E}">
        <p14:creationId xmlns:p14="http://schemas.microsoft.com/office/powerpoint/2010/main" val="223773613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A9BFA82-B709-16C7-F72D-FF2252BACE34}"/>
            </a:ext>
          </a:extLst>
        </p:cNvPr>
        <p:cNvGrpSpPr/>
        <p:nvPr/>
      </p:nvGrpSpPr>
      <p:grpSpPr>
        <a:xfrm>
          <a:off x="0" y="0"/>
          <a:ext cx="0" cy="0"/>
          <a:chOff x="0" y="0"/>
          <a:chExt cx="0" cy="0"/>
        </a:xfrm>
      </p:grpSpPr>
      <p:sp>
        <p:nvSpPr>
          <p:cNvPr id="8" name="Title 7">
            <a:extLst>
              <a:ext uri="{FF2B5EF4-FFF2-40B4-BE49-F238E27FC236}">
                <a16:creationId xmlns="" xmlns:a16="http://schemas.microsoft.com/office/drawing/2014/main" id="{40BC96B6-CC12-0B49-9A3A-AD0779C6E5FE}"/>
              </a:ext>
            </a:extLst>
          </p:cNvPr>
          <p:cNvSpPr>
            <a:spLocks noGrp="1"/>
          </p:cNvSpPr>
          <p:nvPr>
            <p:ph type="title"/>
          </p:nvPr>
        </p:nvSpPr>
        <p:spPr>
          <a:xfrm>
            <a:off x="1180618" y="365125"/>
            <a:ext cx="10173182" cy="1128009"/>
          </a:xfrm>
        </p:spPr>
        <p:txBody>
          <a:bodyPr/>
          <a:lstStyle/>
          <a:p>
            <a:pPr algn="ctr"/>
            <a:r>
              <a:rPr lang="en-US" b="1">
                <a:latin typeface="Times New Roman" panose="02020603050405020304" pitchFamily="18" charset="0"/>
                <a:cs typeface="Times New Roman" panose="02020603050405020304" pitchFamily="18" charset="0"/>
              </a:rPr>
              <a:t>RESULTS &amp; ANALYSIS</a:t>
            </a:r>
            <a:endParaRPr lang="en-US"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 xmlns:a16="http://schemas.microsoft.com/office/drawing/2014/main" id="{3DA5931A-DB8D-D60E-2CAA-E1E281CA6C34}"/>
              </a:ext>
            </a:extLst>
          </p:cNvPr>
          <p:cNvSpPr>
            <a:spLocks noGrp="1"/>
          </p:cNvSpPr>
          <p:nvPr>
            <p:ph type="dt" sz="half" idx="10"/>
          </p:nvPr>
        </p:nvSpPr>
        <p:spPr/>
        <p:txBody>
          <a:bodyPr/>
          <a:lstStyle/>
          <a:p>
            <a:fld id="{83242F91-AB49-409D-93CC-0C16C5444343}" type="datetime1">
              <a:rPr lang="en-IN" smtClean="0"/>
              <a:t>09-02-2026</a:t>
            </a:fld>
            <a:endParaRPr lang="en-IN" dirty="0"/>
          </a:p>
        </p:txBody>
      </p:sp>
      <p:sp>
        <p:nvSpPr>
          <p:cNvPr id="4" name="Slide Number Placeholder 3">
            <a:extLst>
              <a:ext uri="{FF2B5EF4-FFF2-40B4-BE49-F238E27FC236}">
                <a16:creationId xmlns="" xmlns:a16="http://schemas.microsoft.com/office/drawing/2014/main" id="{52504BE1-C2FF-6163-7FF6-117F3ECEC731}"/>
              </a:ext>
            </a:extLst>
          </p:cNvPr>
          <p:cNvSpPr>
            <a:spLocks noGrp="1"/>
          </p:cNvSpPr>
          <p:nvPr>
            <p:ph type="sldNum" sz="quarter" idx="12"/>
          </p:nvPr>
        </p:nvSpPr>
        <p:spPr/>
        <p:txBody>
          <a:bodyPr/>
          <a:lstStyle/>
          <a:p>
            <a:fld id="{65DCBD69-296B-4D7C-AF62-9B588FC78772}" type="slidenum">
              <a:rPr lang="en-IN" smtClean="0"/>
              <a:t>25</a:t>
            </a:fld>
            <a:endParaRPr lang="en-IN"/>
          </a:p>
        </p:txBody>
      </p:sp>
      <p:pic>
        <p:nvPicPr>
          <p:cNvPr id="7" name="Content Placeholder 6" descr="A table with numbers and symbols&#10;&#10;AI-generated content may be incorrect.">
            <a:extLst>
              <a:ext uri="{FF2B5EF4-FFF2-40B4-BE49-F238E27FC236}">
                <a16:creationId xmlns="" xmlns:a16="http://schemas.microsoft.com/office/drawing/2014/main" id="{A756AD7A-DB09-269C-52FC-619625C66D0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30638" y="1313089"/>
            <a:ext cx="8273142" cy="4531632"/>
          </a:xfrm>
        </p:spPr>
      </p:pic>
      <p:sp>
        <p:nvSpPr>
          <p:cNvPr id="5" name="Footer Placeholder 4">
            <a:extLst>
              <a:ext uri="{FF2B5EF4-FFF2-40B4-BE49-F238E27FC236}">
                <a16:creationId xmlns="" xmlns:a16="http://schemas.microsoft.com/office/drawing/2014/main" id="{26B39196-5DDB-A33A-0FC6-E0D34267498D}"/>
              </a:ext>
            </a:extLst>
          </p:cNvPr>
          <p:cNvSpPr>
            <a:spLocks noGrp="1"/>
          </p:cNvSpPr>
          <p:nvPr>
            <p:ph type="ftr" sz="quarter" idx="11"/>
          </p:nvPr>
        </p:nvSpPr>
        <p:spPr>
          <a:xfrm>
            <a:off x="4038600" y="6356350"/>
            <a:ext cx="4114800" cy="365125"/>
          </a:xfrm>
        </p:spPr>
        <p:txBody>
          <a:bodyPr/>
          <a:lstStyle/>
          <a:p>
            <a:r>
              <a:rPr lang="en-US" dirty="0"/>
              <a:t>Review No.  </a:t>
            </a:r>
            <a:r>
              <a:rPr lang="en-US" dirty="0" smtClean="0"/>
              <a:t>3      </a:t>
            </a:r>
            <a:r>
              <a:rPr lang="en-US" dirty="0"/>
              <a:t>Batch No.   BB4       Department of CSE</a:t>
            </a:r>
            <a:endParaRPr lang="en-IN" dirty="0"/>
          </a:p>
        </p:txBody>
      </p:sp>
    </p:spTree>
    <p:extLst>
      <p:ext uri="{BB962C8B-B14F-4D97-AF65-F5344CB8AC3E}">
        <p14:creationId xmlns:p14="http://schemas.microsoft.com/office/powerpoint/2010/main" val="310819981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 xmlns:a16="http://schemas.microsoft.com/office/drawing/2014/main" id="{D45DB3B1-7702-A34D-B15A-E964B95D6FB5}"/>
              </a:ext>
            </a:extLst>
          </p:cNvPr>
          <p:cNvSpPr>
            <a:spLocks noGrp="1"/>
          </p:cNvSpPr>
          <p:nvPr>
            <p:ph type="title"/>
          </p:nvPr>
        </p:nvSpPr>
        <p:spPr>
          <a:xfrm>
            <a:off x="838200" y="365125"/>
            <a:ext cx="10515600" cy="1325563"/>
          </a:xfrm>
        </p:spPr>
        <p:txBody>
          <a:bodyPr anchor="ctr">
            <a:normAutofit/>
          </a:bodyPr>
          <a:lstStyle/>
          <a:p>
            <a:r>
              <a:rPr lang="en-US" b="1" dirty="0"/>
              <a:t>                       RESULTS &amp; ANALYSIS</a:t>
            </a:r>
          </a:p>
        </p:txBody>
      </p:sp>
      <p:pic>
        <p:nvPicPr>
          <p:cNvPr id="19" name="Content Placeholder 18" descr="A graph of different colored bars&#10;&#10;AI-generated content may be incorrect.">
            <a:extLst>
              <a:ext uri="{FF2B5EF4-FFF2-40B4-BE49-F238E27FC236}">
                <a16:creationId xmlns="" xmlns:a16="http://schemas.microsoft.com/office/drawing/2014/main" id="{7755116F-AC14-E961-8540-88E95BA16F79}"/>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838200" y="2384341"/>
            <a:ext cx="5181600" cy="3233906"/>
          </a:xfrm>
        </p:spPr>
      </p:pic>
      <p:sp>
        <p:nvSpPr>
          <p:cNvPr id="2" name="Date Placeholder 1">
            <a:extLst>
              <a:ext uri="{FF2B5EF4-FFF2-40B4-BE49-F238E27FC236}">
                <a16:creationId xmlns="" xmlns:a16="http://schemas.microsoft.com/office/drawing/2014/main" id="{4C0DBA71-92D9-8A6D-9D6B-04377BA994AB}"/>
              </a:ext>
            </a:extLst>
          </p:cNvPr>
          <p:cNvSpPr>
            <a:spLocks noGrp="1"/>
          </p:cNvSpPr>
          <p:nvPr>
            <p:ph type="dt" sz="half" idx="10"/>
          </p:nvPr>
        </p:nvSpPr>
        <p:spPr>
          <a:xfrm>
            <a:off x="838200" y="6356350"/>
            <a:ext cx="2743200" cy="365125"/>
          </a:xfrm>
        </p:spPr>
        <p:txBody>
          <a:bodyPr anchor="ctr">
            <a:normAutofit/>
          </a:bodyPr>
          <a:lstStyle/>
          <a:p>
            <a:pPr>
              <a:spcAft>
                <a:spcPts val="600"/>
              </a:spcAft>
            </a:pPr>
            <a:fld id="{83242F91-AB49-409D-93CC-0C16C5444343}" type="datetime1">
              <a:rPr lang="en-IN" smtClean="0"/>
              <a:pPr>
                <a:spcAft>
                  <a:spcPts val="600"/>
                </a:spcAft>
              </a:pPr>
              <a:t>09-02-2026</a:t>
            </a:fld>
            <a:endParaRPr lang="en-IN"/>
          </a:p>
        </p:txBody>
      </p:sp>
      <p:sp>
        <p:nvSpPr>
          <p:cNvPr id="7" name="Footer Placeholder 4">
            <a:extLst>
              <a:ext uri="{FF2B5EF4-FFF2-40B4-BE49-F238E27FC236}">
                <a16:creationId xmlns="" xmlns:a16="http://schemas.microsoft.com/office/drawing/2014/main" id="{25A68B5D-BA2B-FB98-7A4C-589703EAA24C}"/>
              </a:ext>
            </a:extLst>
          </p:cNvPr>
          <p:cNvSpPr>
            <a:spLocks noGrp="1"/>
          </p:cNvSpPr>
          <p:nvPr>
            <p:ph type="ftr" sz="quarter" idx="11"/>
          </p:nvPr>
        </p:nvSpPr>
        <p:spPr>
          <a:xfrm>
            <a:off x="4038600" y="6356350"/>
            <a:ext cx="4114800" cy="365125"/>
          </a:xfrm>
        </p:spPr>
        <p:txBody>
          <a:bodyPr anchor="ctr">
            <a:normAutofit/>
          </a:bodyPr>
          <a:lstStyle/>
          <a:p>
            <a:pPr>
              <a:spcAft>
                <a:spcPts val="600"/>
              </a:spcAft>
            </a:pPr>
            <a:r>
              <a:rPr lang="en-US" dirty="0"/>
              <a:t>Review No.  </a:t>
            </a:r>
            <a:r>
              <a:rPr lang="en-US" dirty="0"/>
              <a:t>3</a:t>
            </a:r>
            <a:r>
              <a:rPr lang="en-US" dirty="0" smtClean="0"/>
              <a:t>      </a:t>
            </a:r>
            <a:r>
              <a:rPr lang="en-US" dirty="0"/>
              <a:t>Batch No.   BB4       Department of CSE</a:t>
            </a:r>
            <a:endParaRPr lang="en-IN" dirty="0"/>
          </a:p>
        </p:txBody>
      </p:sp>
      <p:sp>
        <p:nvSpPr>
          <p:cNvPr id="4" name="Slide Number Placeholder 3">
            <a:extLst>
              <a:ext uri="{FF2B5EF4-FFF2-40B4-BE49-F238E27FC236}">
                <a16:creationId xmlns="" xmlns:a16="http://schemas.microsoft.com/office/drawing/2014/main" id="{0FFF0A31-B71C-661A-832E-FC6569D97A64}"/>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65DCBD69-296B-4D7C-AF62-9B588FC78772}" type="slidenum">
              <a:rPr lang="en-IN" smtClean="0"/>
              <a:pPr>
                <a:spcAft>
                  <a:spcPts val="600"/>
                </a:spcAft>
              </a:pPr>
              <a:t>26</a:t>
            </a:fld>
            <a:endParaRPr lang="en-IN"/>
          </a:p>
        </p:txBody>
      </p:sp>
      <p:graphicFrame>
        <p:nvGraphicFramePr>
          <p:cNvPr id="18" name="Content Placeholder 5">
            <a:extLst>
              <a:ext uri="{FF2B5EF4-FFF2-40B4-BE49-F238E27FC236}">
                <a16:creationId xmlns="" xmlns:a16="http://schemas.microsoft.com/office/drawing/2014/main" id="{406831DA-45BA-6BBB-5EBC-04F4C3425835}"/>
              </a:ext>
            </a:extLst>
          </p:cNvPr>
          <p:cNvGraphicFramePr>
            <a:graphicFrameLocks noGrp="1"/>
          </p:cNvGraphicFramePr>
          <p:nvPr>
            <p:ph sz="half" idx="2"/>
            <p:extLst>
              <p:ext uri="{D42A27DB-BD31-4B8C-83A1-F6EECF244321}">
                <p14:modId xmlns:p14="http://schemas.microsoft.com/office/powerpoint/2010/main" val="2954601809"/>
              </p:ext>
            </p:extLst>
          </p:nvPr>
        </p:nvGraphicFramePr>
        <p:xfrm>
          <a:off x="6172200" y="1825625"/>
          <a:ext cx="5181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278622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0B2E0F67-886A-1647-6626-B05BBA148960}"/>
            </a:ext>
          </a:extLst>
        </p:cNvPr>
        <p:cNvGrpSpPr/>
        <p:nvPr/>
      </p:nvGrpSpPr>
      <p:grpSpPr>
        <a:xfrm>
          <a:off x="0" y="0"/>
          <a:ext cx="0" cy="0"/>
          <a:chOff x="0" y="0"/>
          <a:chExt cx="0" cy="0"/>
        </a:xfrm>
      </p:grpSpPr>
      <p:sp>
        <p:nvSpPr>
          <p:cNvPr id="8" name="Title 7">
            <a:extLst>
              <a:ext uri="{FF2B5EF4-FFF2-40B4-BE49-F238E27FC236}">
                <a16:creationId xmlns="" xmlns:a16="http://schemas.microsoft.com/office/drawing/2014/main" id="{0CFD0FC5-451C-57D3-FDD3-782044A643A5}"/>
              </a:ext>
            </a:extLst>
          </p:cNvPr>
          <p:cNvSpPr>
            <a:spLocks noGrp="1"/>
          </p:cNvSpPr>
          <p:nvPr>
            <p:ph type="title"/>
          </p:nvPr>
        </p:nvSpPr>
        <p:spPr>
          <a:xfrm>
            <a:off x="838200" y="365125"/>
            <a:ext cx="10515600" cy="1325563"/>
          </a:xfrm>
        </p:spPr>
        <p:txBody>
          <a:bodyPr anchor="ctr">
            <a:normAutofit/>
          </a:bodyPr>
          <a:lstStyle/>
          <a:p>
            <a:r>
              <a:rPr lang="en-US" b="1" dirty="0"/>
              <a:t>                       RESULTS &amp; ANALYSIS</a:t>
            </a:r>
          </a:p>
        </p:txBody>
      </p:sp>
      <p:sp>
        <p:nvSpPr>
          <p:cNvPr id="6" name="Content Placeholder 5">
            <a:extLst>
              <a:ext uri="{FF2B5EF4-FFF2-40B4-BE49-F238E27FC236}">
                <a16:creationId xmlns="" xmlns:a16="http://schemas.microsoft.com/office/drawing/2014/main" id="{CFC05919-9A96-E72E-DBEE-F93088D7C407}"/>
              </a:ext>
            </a:extLst>
          </p:cNvPr>
          <p:cNvSpPr>
            <a:spLocks noGrp="1"/>
          </p:cNvSpPr>
          <p:nvPr>
            <p:ph sz="half" idx="1"/>
          </p:nvPr>
        </p:nvSpPr>
        <p:spPr>
          <a:xfrm>
            <a:off x="838200" y="1825625"/>
            <a:ext cx="5181600" cy="4351338"/>
          </a:xfrm>
        </p:spPr>
        <p:txBody>
          <a:bodyPr>
            <a:normAutofit/>
          </a:bodyPr>
          <a:lstStyle/>
          <a:p>
            <a:pPr>
              <a:buFont typeface="Wingdings" panose="05000000000000000000" pitchFamily="2" charset="2"/>
              <a:buChar char="q"/>
            </a:pPr>
            <a:r>
              <a:rPr lang="en-US" sz="2200" b="1" dirty="0"/>
              <a:t>Effect of Cyclic Augmentation (Before vs After)</a:t>
            </a:r>
            <a:endParaRPr lang="en-US" sz="2200" dirty="0"/>
          </a:p>
          <a:p>
            <a:pPr>
              <a:buFont typeface="Wingdings" panose="05000000000000000000" pitchFamily="2" charset="2"/>
              <a:buChar char="Ø"/>
            </a:pPr>
            <a:r>
              <a:rPr lang="en-US" sz="2200" dirty="0"/>
              <a:t>These are image slices </a:t>
            </a:r>
            <a:r>
              <a:rPr lang="en-US" sz="2200" b="1" dirty="0"/>
              <a:t>before and after</a:t>
            </a:r>
            <a:r>
              <a:rPr lang="en-US" sz="2200" dirty="0"/>
              <a:t> applying </a:t>
            </a:r>
            <a:r>
              <a:rPr lang="en-US" sz="2200" dirty="0" err="1"/>
              <a:t>CyclicAugment</a:t>
            </a:r>
            <a:r>
              <a:rPr lang="en-US" sz="2200" dirty="0"/>
              <a:t>.</a:t>
            </a:r>
          </a:p>
          <a:p>
            <a:pPr>
              <a:buFont typeface="Wingdings" panose="05000000000000000000" pitchFamily="2" charset="2"/>
              <a:buChar char="Ø"/>
            </a:pPr>
            <a:r>
              <a:rPr lang="en-US" sz="2200" dirty="0"/>
              <a:t>After augmentation, the images become </a:t>
            </a:r>
            <a:r>
              <a:rPr lang="en-US" sz="2200" b="1" dirty="0"/>
              <a:t>smoother and clearer</a:t>
            </a:r>
            <a:r>
              <a:rPr lang="en-US" sz="2200" dirty="0"/>
              <a:t>, with </a:t>
            </a:r>
            <a:r>
              <a:rPr lang="en-US" sz="2200" b="1" dirty="0"/>
              <a:t>less noise and distortion</a:t>
            </a:r>
            <a:r>
              <a:rPr lang="en-US" sz="2200" dirty="0"/>
              <a:t>.</a:t>
            </a:r>
          </a:p>
          <a:p>
            <a:pPr>
              <a:buFont typeface="Wingdings" panose="05000000000000000000" pitchFamily="2" charset="2"/>
              <a:buChar char="Ø"/>
            </a:pPr>
            <a:r>
              <a:rPr lang="en-US" sz="2200" dirty="0"/>
              <a:t>It improves feature quality while </a:t>
            </a:r>
            <a:r>
              <a:rPr lang="en-US" sz="2200" b="1" dirty="0"/>
              <a:t>keeping the main structure the same</a:t>
            </a:r>
            <a:r>
              <a:rPr lang="en-US" sz="2200" dirty="0"/>
              <a:t>.</a:t>
            </a:r>
          </a:p>
          <a:p>
            <a:pPr>
              <a:buFont typeface="Wingdings" panose="05000000000000000000" pitchFamily="2" charset="2"/>
              <a:buChar char="Ø"/>
            </a:pPr>
            <a:r>
              <a:rPr lang="en-US" sz="2200" dirty="0"/>
              <a:t>So, </a:t>
            </a:r>
            <a:r>
              <a:rPr lang="en-US" sz="2200" dirty="0" err="1"/>
              <a:t>CyclicAugment</a:t>
            </a:r>
            <a:r>
              <a:rPr lang="en-US" sz="2200" dirty="0"/>
              <a:t> helps the model </a:t>
            </a:r>
            <a:r>
              <a:rPr lang="en-US" sz="2200" b="1" dirty="0"/>
              <a:t>see better and learn more accurately</a:t>
            </a:r>
            <a:r>
              <a:rPr lang="en-US" sz="2200" dirty="0"/>
              <a:t>.</a:t>
            </a:r>
          </a:p>
          <a:p>
            <a:endParaRPr lang="en-US" sz="2200" dirty="0"/>
          </a:p>
        </p:txBody>
      </p:sp>
      <p:pic>
        <p:nvPicPr>
          <p:cNvPr id="9" name="Content Placeholder 8" descr="A black and white image of a formation&#10;&#10;AI-generated content may be incorrect.">
            <a:extLst>
              <a:ext uri="{FF2B5EF4-FFF2-40B4-BE49-F238E27FC236}">
                <a16:creationId xmlns="" xmlns:a16="http://schemas.microsoft.com/office/drawing/2014/main" id="{21B131D5-FF40-B7C8-87B9-B71E9425C6A1}"/>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72200" y="2864374"/>
            <a:ext cx="5181600" cy="2273840"/>
          </a:xfrm>
        </p:spPr>
      </p:pic>
      <p:sp>
        <p:nvSpPr>
          <p:cNvPr id="2" name="Date Placeholder 1">
            <a:extLst>
              <a:ext uri="{FF2B5EF4-FFF2-40B4-BE49-F238E27FC236}">
                <a16:creationId xmlns="" xmlns:a16="http://schemas.microsoft.com/office/drawing/2014/main" id="{A69D5B57-EA75-FDAC-E9EA-EFD6FDF6919B}"/>
              </a:ext>
            </a:extLst>
          </p:cNvPr>
          <p:cNvSpPr>
            <a:spLocks noGrp="1"/>
          </p:cNvSpPr>
          <p:nvPr>
            <p:ph type="dt" sz="half" idx="10"/>
          </p:nvPr>
        </p:nvSpPr>
        <p:spPr>
          <a:xfrm>
            <a:off x="838200" y="6356350"/>
            <a:ext cx="2743200" cy="365125"/>
          </a:xfrm>
        </p:spPr>
        <p:txBody>
          <a:bodyPr anchor="ctr">
            <a:normAutofit/>
          </a:bodyPr>
          <a:lstStyle/>
          <a:p>
            <a:pPr>
              <a:spcAft>
                <a:spcPts val="600"/>
              </a:spcAft>
            </a:pPr>
            <a:fld id="{83242F91-AB49-409D-93CC-0C16C5444343}" type="datetime1">
              <a:rPr lang="en-IN" smtClean="0"/>
              <a:pPr>
                <a:spcAft>
                  <a:spcPts val="600"/>
                </a:spcAft>
              </a:pPr>
              <a:t>09-02-2026</a:t>
            </a:fld>
            <a:endParaRPr lang="en-IN"/>
          </a:p>
        </p:txBody>
      </p:sp>
      <p:sp>
        <p:nvSpPr>
          <p:cNvPr id="5" name="Footer Placeholder 4">
            <a:extLst>
              <a:ext uri="{FF2B5EF4-FFF2-40B4-BE49-F238E27FC236}">
                <a16:creationId xmlns="" xmlns:a16="http://schemas.microsoft.com/office/drawing/2014/main" id="{A73E3EC6-7982-A0E7-9014-6098C46526D2}"/>
              </a:ext>
            </a:extLst>
          </p:cNvPr>
          <p:cNvSpPr>
            <a:spLocks noGrp="1"/>
          </p:cNvSpPr>
          <p:nvPr>
            <p:ph type="ftr" sz="quarter" idx="11"/>
          </p:nvPr>
        </p:nvSpPr>
        <p:spPr>
          <a:xfrm>
            <a:off x="4038600" y="6356350"/>
            <a:ext cx="4114800" cy="365125"/>
          </a:xfrm>
        </p:spPr>
        <p:txBody>
          <a:bodyPr anchor="ctr">
            <a:normAutofit/>
          </a:bodyPr>
          <a:lstStyle/>
          <a:p>
            <a:pPr>
              <a:spcAft>
                <a:spcPts val="600"/>
              </a:spcAft>
            </a:pPr>
            <a:r>
              <a:rPr lang="en-US" dirty="0"/>
              <a:t>Review No.  </a:t>
            </a:r>
            <a:r>
              <a:rPr lang="en-US" dirty="0" smtClean="0"/>
              <a:t>3      </a:t>
            </a:r>
            <a:r>
              <a:rPr lang="en-US" dirty="0"/>
              <a:t>Batch No.   BB4       Department of CSE</a:t>
            </a:r>
            <a:endParaRPr lang="en-IN" dirty="0"/>
          </a:p>
        </p:txBody>
      </p:sp>
      <p:sp>
        <p:nvSpPr>
          <p:cNvPr id="4" name="Slide Number Placeholder 3">
            <a:extLst>
              <a:ext uri="{FF2B5EF4-FFF2-40B4-BE49-F238E27FC236}">
                <a16:creationId xmlns="" xmlns:a16="http://schemas.microsoft.com/office/drawing/2014/main" id="{4A3B7125-B113-03AA-B2BA-4D77A2207A67}"/>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65DCBD69-296B-4D7C-AF62-9B588FC78772}" type="slidenum">
              <a:rPr lang="en-IN" smtClean="0"/>
              <a:pPr>
                <a:spcAft>
                  <a:spcPts val="600"/>
                </a:spcAft>
              </a:pPr>
              <a:t>27</a:t>
            </a:fld>
            <a:endParaRPr lang="en-IN"/>
          </a:p>
        </p:txBody>
      </p:sp>
    </p:spTree>
    <p:extLst>
      <p:ext uri="{BB962C8B-B14F-4D97-AF65-F5344CB8AC3E}">
        <p14:creationId xmlns:p14="http://schemas.microsoft.com/office/powerpoint/2010/main" val="80379216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B465080-D5E2-8AE2-9E65-1A3DAD0C0DBE}"/>
            </a:ext>
          </a:extLst>
        </p:cNvPr>
        <p:cNvGrpSpPr/>
        <p:nvPr/>
      </p:nvGrpSpPr>
      <p:grpSpPr>
        <a:xfrm>
          <a:off x="0" y="0"/>
          <a:ext cx="0" cy="0"/>
          <a:chOff x="0" y="0"/>
          <a:chExt cx="0" cy="0"/>
        </a:xfrm>
      </p:grpSpPr>
      <p:sp>
        <p:nvSpPr>
          <p:cNvPr id="8" name="Title 7">
            <a:extLst>
              <a:ext uri="{FF2B5EF4-FFF2-40B4-BE49-F238E27FC236}">
                <a16:creationId xmlns="" xmlns:a16="http://schemas.microsoft.com/office/drawing/2014/main" id="{4654A2C3-0AF3-C78A-9C97-F3DE6D57318E}"/>
              </a:ext>
            </a:extLst>
          </p:cNvPr>
          <p:cNvSpPr>
            <a:spLocks noGrp="1"/>
          </p:cNvSpPr>
          <p:nvPr>
            <p:ph type="title"/>
          </p:nvPr>
        </p:nvSpPr>
        <p:spPr>
          <a:xfrm>
            <a:off x="838200" y="365125"/>
            <a:ext cx="10515600" cy="1325563"/>
          </a:xfrm>
        </p:spPr>
        <p:txBody>
          <a:bodyPr anchor="ctr">
            <a:normAutofit/>
          </a:bodyPr>
          <a:lstStyle/>
          <a:p>
            <a:r>
              <a:rPr lang="en-US" b="1" dirty="0"/>
              <a:t>                      RESULTS &amp; ANALYSIS</a:t>
            </a:r>
          </a:p>
        </p:txBody>
      </p:sp>
      <p:sp>
        <p:nvSpPr>
          <p:cNvPr id="6" name="Content Placeholder 5">
            <a:extLst>
              <a:ext uri="{FF2B5EF4-FFF2-40B4-BE49-F238E27FC236}">
                <a16:creationId xmlns="" xmlns:a16="http://schemas.microsoft.com/office/drawing/2014/main" id="{E71C13FD-E694-F601-8694-691E3F74E750}"/>
              </a:ext>
            </a:extLst>
          </p:cNvPr>
          <p:cNvSpPr>
            <a:spLocks noGrp="1"/>
          </p:cNvSpPr>
          <p:nvPr>
            <p:ph sz="half" idx="1"/>
          </p:nvPr>
        </p:nvSpPr>
        <p:spPr>
          <a:xfrm>
            <a:off x="838200" y="1825625"/>
            <a:ext cx="5181600" cy="4351338"/>
          </a:xfrm>
        </p:spPr>
        <p:txBody>
          <a:bodyPr>
            <a:normAutofit/>
          </a:bodyPr>
          <a:lstStyle/>
          <a:p>
            <a:pPr>
              <a:buFont typeface="Wingdings" panose="05000000000000000000" pitchFamily="2" charset="2"/>
              <a:buChar char="q"/>
            </a:pPr>
            <a:r>
              <a:rPr lang="en-US" sz="2200" b="1" dirty="0"/>
              <a:t>ROC Curve Comparison</a:t>
            </a:r>
            <a:endParaRPr lang="en-US" sz="2200" dirty="0"/>
          </a:p>
          <a:p>
            <a:pPr>
              <a:buFont typeface="Wingdings" panose="05000000000000000000" pitchFamily="2" charset="2"/>
              <a:buChar char="Ø"/>
            </a:pPr>
            <a:r>
              <a:rPr lang="en-US" sz="2200" dirty="0"/>
              <a:t>This ROC graph shows the </a:t>
            </a:r>
            <a:r>
              <a:rPr lang="en-US" sz="2200" b="1" dirty="0"/>
              <a:t>performance difference</a:t>
            </a:r>
            <a:r>
              <a:rPr lang="en-US" sz="2200" dirty="0"/>
              <a:t> among models.</a:t>
            </a:r>
          </a:p>
          <a:p>
            <a:pPr>
              <a:buFont typeface="Wingdings" panose="05000000000000000000" pitchFamily="2" charset="2"/>
              <a:buChar char="Ø"/>
            </a:pPr>
            <a:r>
              <a:rPr lang="en-US" sz="2200" b="1" dirty="0" err="1"/>
              <a:t>CyclicAugment</a:t>
            </a:r>
            <a:r>
              <a:rPr lang="en-US" sz="2200" b="1" dirty="0"/>
              <a:t> (AUC = 0.91)</a:t>
            </a:r>
            <a:r>
              <a:rPr lang="en-US" sz="2200" dirty="0"/>
              <a:t> gives the </a:t>
            </a:r>
            <a:r>
              <a:rPr lang="en-US" sz="2200" b="1" dirty="0"/>
              <a:t>best detection accuracy</a:t>
            </a:r>
            <a:r>
              <a:rPr lang="en-US" sz="2200" dirty="0"/>
              <a:t>, better than the original and </a:t>
            </a:r>
            <a:r>
              <a:rPr lang="en-US" sz="2200" dirty="0" err="1"/>
              <a:t>RandAugment</a:t>
            </a:r>
            <a:r>
              <a:rPr lang="en-US" sz="2200" dirty="0"/>
              <a:t>.</a:t>
            </a:r>
          </a:p>
          <a:p>
            <a:pPr>
              <a:buFont typeface="Wingdings" panose="05000000000000000000" pitchFamily="2" charset="2"/>
              <a:buChar char="Ø"/>
            </a:pPr>
            <a:r>
              <a:rPr lang="en-US" sz="2200" dirty="0"/>
              <a:t>Adding ILR also performs well (AUC = 0.87).</a:t>
            </a:r>
          </a:p>
          <a:p>
            <a:pPr>
              <a:buFont typeface="Wingdings" panose="05000000000000000000" pitchFamily="2" charset="2"/>
              <a:buChar char="Ø"/>
            </a:pPr>
            <a:r>
              <a:rPr lang="en-US" sz="2200" dirty="0"/>
              <a:t>Overall, </a:t>
            </a:r>
            <a:r>
              <a:rPr lang="en-US" sz="2200" b="1" dirty="0" err="1"/>
              <a:t>CyclicAugment</a:t>
            </a:r>
            <a:r>
              <a:rPr lang="en-US" sz="2200" b="1" dirty="0"/>
              <a:t> provides the most reliable and accurate predictions</a:t>
            </a:r>
            <a:r>
              <a:rPr lang="en-US" sz="2200" dirty="0"/>
              <a:t>.</a:t>
            </a:r>
          </a:p>
          <a:p>
            <a:endParaRPr lang="en-US" sz="2200" dirty="0"/>
          </a:p>
        </p:txBody>
      </p:sp>
      <p:pic>
        <p:nvPicPr>
          <p:cNvPr id="7" name="Content Placeholder 6">
            <a:extLst>
              <a:ext uri="{FF2B5EF4-FFF2-40B4-BE49-F238E27FC236}">
                <a16:creationId xmlns="" xmlns:a16="http://schemas.microsoft.com/office/drawing/2014/main" id="{C4D7B1E2-4887-9445-5C94-546E5FAD73DC}"/>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72200" y="1950400"/>
            <a:ext cx="5181600" cy="4101787"/>
          </a:xfrm>
        </p:spPr>
      </p:pic>
      <p:sp>
        <p:nvSpPr>
          <p:cNvPr id="2" name="Date Placeholder 1">
            <a:extLst>
              <a:ext uri="{FF2B5EF4-FFF2-40B4-BE49-F238E27FC236}">
                <a16:creationId xmlns="" xmlns:a16="http://schemas.microsoft.com/office/drawing/2014/main" id="{0A8C41AB-451D-302F-7981-79A58920A3D8}"/>
              </a:ext>
            </a:extLst>
          </p:cNvPr>
          <p:cNvSpPr>
            <a:spLocks noGrp="1"/>
          </p:cNvSpPr>
          <p:nvPr>
            <p:ph type="dt" sz="half" idx="10"/>
          </p:nvPr>
        </p:nvSpPr>
        <p:spPr>
          <a:xfrm>
            <a:off x="838200" y="6356350"/>
            <a:ext cx="2743200" cy="365125"/>
          </a:xfrm>
        </p:spPr>
        <p:txBody>
          <a:bodyPr anchor="ctr">
            <a:normAutofit/>
          </a:bodyPr>
          <a:lstStyle/>
          <a:p>
            <a:pPr>
              <a:spcAft>
                <a:spcPts val="600"/>
              </a:spcAft>
            </a:pPr>
            <a:fld id="{83242F91-AB49-409D-93CC-0C16C5444343}" type="datetime1">
              <a:rPr lang="en-IN" smtClean="0"/>
              <a:pPr>
                <a:spcAft>
                  <a:spcPts val="600"/>
                </a:spcAft>
              </a:pPr>
              <a:t>09-02-2026</a:t>
            </a:fld>
            <a:endParaRPr lang="en-IN"/>
          </a:p>
        </p:txBody>
      </p:sp>
      <p:sp>
        <p:nvSpPr>
          <p:cNvPr id="5" name="Footer Placeholder 4">
            <a:extLst>
              <a:ext uri="{FF2B5EF4-FFF2-40B4-BE49-F238E27FC236}">
                <a16:creationId xmlns="" xmlns:a16="http://schemas.microsoft.com/office/drawing/2014/main" id="{D1995674-49A5-E2AC-33E7-20DD02BEE474}"/>
              </a:ext>
            </a:extLst>
          </p:cNvPr>
          <p:cNvSpPr>
            <a:spLocks noGrp="1"/>
          </p:cNvSpPr>
          <p:nvPr>
            <p:ph type="ftr" sz="quarter" idx="11"/>
          </p:nvPr>
        </p:nvSpPr>
        <p:spPr>
          <a:xfrm>
            <a:off x="4038600" y="6356350"/>
            <a:ext cx="4114800" cy="365125"/>
          </a:xfrm>
        </p:spPr>
        <p:txBody>
          <a:bodyPr anchor="ctr">
            <a:normAutofit/>
          </a:bodyPr>
          <a:lstStyle/>
          <a:p>
            <a:pPr>
              <a:spcAft>
                <a:spcPts val="600"/>
              </a:spcAft>
            </a:pPr>
            <a:r>
              <a:rPr lang="en-US" dirty="0"/>
              <a:t>Review No.  </a:t>
            </a:r>
            <a:r>
              <a:rPr lang="en-US" dirty="0" smtClean="0"/>
              <a:t>3      </a:t>
            </a:r>
            <a:r>
              <a:rPr lang="en-US" dirty="0"/>
              <a:t>Batch No.   BB4       Department of CSE</a:t>
            </a:r>
            <a:endParaRPr lang="en-IN" dirty="0"/>
          </a:p>
        </p:txBody>
      </p:sp>
      <p:sp>
        <p:nvSpPr>
          <p:cNvPr id="4" name="Slide Number Placeholder 3">
            <a:extLst>
              <a:ext uri="{FF2B5EF4-FFF2-40B4-BE49-F238E27FC236}">
                <a16:creationId xmlns="" xmlns:a16="http://schemas.microsoft.com/office/drawing/2014/main" id="{69EA69D4-334C-3EE4-5E5A-4B856D014302}"/>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65DCBD69-296B-4D7C-AF62-9B588FC78772}" type="slidenum">
              <a:rPr lang="en-IN" smtClean="0"/>
              <a:pPr>
                <a:spcAft>
                  <a:spcPts val="600"/>
                </a:spcAft>
              </a:pPr>
              <a:t>28</a:t>
            </a:fld>
            <a:endParaRPr lang="en-IN"/>
          </a:p>
        </p:txBody>
      </p:sp>
    </p:spTree>
    <p:extLst>
      <p:ext uri="{BB962C8B-B14F-4D97-AF65-F5344CB8AC3E}">
        <p14:creationId xmlns:p14="http://schemas.microsoft.com/office/powerpoint/2010/main" val="216658892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CONCLUSION and FUTURE SCOPE</a:t>
            </a:r>
          </a:p>
        </p:txBody>
      </p:sp>
      <p:sp>
        <p:nvSpPr>
          <p:cNvPr id="2" name="Date Placeholder 1">
            <a:extLst>
              <a:ext uri="{FF2B5EF4-FFF2-40B4-BE49-F238E27FC236}">
                <a16:creationId xmlns="" xmlns:a16="http://schemas.microsoft.com/office/drawing/2014/main" id="{D799C30C-63EB-EF97-A751-E264CA054BFD}"/>
              </a:ext>
            </a:extLst>
          </p:cNvPr>
          <p:cNvSpPr>
            <a:spLocks noGrp="1"/>
          </p:cNvSpPr>
          <p:nvPr>
            <p:ph type="dt" sz="half" idx="10"/>
          </p:nvPr>
        </p:nvSpPr>
        <p:spPr/>
        <p:txBody>
          <a:bodyPr/>
          <a:lstStyle/>
          <a:p>
            <a:fld id="{03DEEFC3-2038-453C-A4D0-DE431556F5AF}" type="datetime1">
              <a:rPr lang="en-IN" smtClean="0"/>
              <a:t>09-02-2026</a:t>
            </a:fld>
            <a:endParaRPr lang="en-IN"/>
          </a:p>
        </p:txBody>
      </p:sp>
      <p:sp>
        <p:nvSpPr>
          <p:cNvPr id="4" name="Slide Number Placeholder 3">
            <a:extLst>
              <a:ext uri="{FF2B5EF4-FFF2-40B4-BE49-F238E27FC236}">
                <a16:creationId xmlns="" xmlns:a16="http://schemas.microsoft.com/office/drawing/2014/main" id="{813D8B02-4971-6AFD-3523-84E9F21812B0}"/>
              </a:ext>
            </a:extLst>
          </p:cNvPr>
          <p:cNvSpPr>
            <a:spLocks noGrp="1"/>
          </p:cNvSpPr>
          <p:nvPr>
            <p:ph type="sldNum" sz="quarter" idx="12"/>
          </p:nvPr>
        </p:nvSpPr>
        <p:spPr/>
        <p:txBody>
          <a:bodyPr/>
          <a:lstStyle/>
          <a:p>
            <a:fld id="{65DCBD69-296B-4D7C-AF62-9B588FC78772}" type="slidenum">
              <a:rPr lang="en-IN" smtClean="0"/>
              <a:t>29</a:t>
            </a:fld>
            <a:endParaRPr lang="en-IN"/>
          </a:p>
        </p:txBody>
      </p:sp>
      <p:sp>
        <p:nvSpPr>
          <p:cNvPr id="12" name="Rectangle 6">
            <a:extLst>
              <a:ext uri="{FF2B5EF4-FFF2-40B4-BE49-F238E27FC236}">
                <a16:creationId xmlns="" xmlns:a16="http://schemas.microsoft.com/office/drawing/2014/main" id="{3651AFDE-3E3D-9D31-B073-E3A8C741E3AD}"/>
              </a:ext>
            </a:extLst>
          </p:cNvPr>
          <p:cNvSpPr>
            <a:spLocks noGrp="1" noChangeArrowheads="1"/>
          </p:cNvSpPr>
          <p:nvPr>
            <p:ph idx="1"/>
          </p:nvPr>
        </p:nvSpPr>
        <p:spPr bwMode="auto">
          <a:xfrm>
            <a:off x="838200" y="2431634"/>
            <a:ext cx="10622523"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proposed </a:t>
            </a:r>
            <a:r>
              <a:rPr kumimoji="0" lang="en-US" altLang="en-US" sz="1800" b="1" i="0" u="none" strike="noStrike" cap="none" normalizeH="0" baseline="0" dirty="0" err="1">
                <a:ln>
                  <a:noFill/>
                </a:ln>
                <a:solidFill>
                  <a:schemeClr val="tx1"/>
                </a:solidFill>
                <a:effectLst/>
                <a:latin typeface="Arial" panose="020B0604020202020204" pitchFamily="34" charset="0"/>
              </a:rPr>
              <a:t>TransAugNet</a:t>
            </a:r>
            <a:r>
              <a:rPr kumimoji="0" lang="en-US" altLang="en-US" sz="1800" b="0" i="0" u="none" strike="noStrike" cap="none" normalizeH="0" baseline="0" dirty="0">
                <a:ln>
                  <a:noFill/>
                </a:ln>
                <a:solidFill>
                  <a:schemeClr val="tx1"/>
                </a:solidFill>
                <a:effectLst/>
                <a:latin typeface="Arial" panose="020B0604020202020204" pitchFamily="34" charset="0"/>
              </a:rPr>
              <a:t> model efficiently classifies </a:t>
            </a:r>
            <a:r>
              <a:rPr kumimoji="0" lang="en-US" altLang="en-US" sz="1800" b="1" i="0" u="none" strike="noStrike" cap="none" normalizeH="0" baseline="0" dirty="0">
                <a:ln>
                  <a:noFill/>
                </a:ln>
                <a:solidFill>
                  <a:schemeClr val="tx1"/>
                </a:solidFill>
                <a:effectLst/>
                <a:latin typeface="Arial" panose="020B0604020202020204" pitchFamily="34" charset="0"/>
              </a:rPr>
              <a:t>3D medical images</a:t>
            </a:r>
            <a:r>
              <a:rPr kumimoji="0" lang="en-US" altLang="en-US" sz="1800" b="0" i="0" u="none" strike="noStrike" cap="none" normalizeH="0" baseline="0" dirty="0">
                <a:ln>
                  <a:noFill/>
                </a:ln>
                <a:solidFill>
                  <a:schemeClr val="tx1"/>
                </a:solidFill>
                <a:effectLst/>
                <a:latin typeface="Arial" panose="020B0604020202020204" pitchFamily="34" charset="0"/>
              </a:rPr>
              <a:t> using </a:t>
            </a:r>
            <a:r>
              <a:rPr kumimoji="0" lang="en-US" altLang="en-US" sz="1800" b="1" i="0" u="none" strike="noStrike" cap="none" normalizeH="0" baseline="0" dirty="0">
                <a:ln>
                  <a:noFill/>
                </a:ln>
                <a:solidFill>
                  <a:schemeClr val="tx1"/>
                </a:solidFill>
                <a:effectLst/>
                <a:latin typeface="Arial" panose="020B0604020202020204" pitchFamily="34" charset="0"/>
              </a:rPr>
              <a:t>ResNet3D-50</a:t>
            </a:r>
            <a:r>
              <a:rPr kumimoji="0" lang="en-US" altLang="en-US" sz="1800" b="0" i="0" u="none" strike="noStrike" cap="none" normalizeH="0" baseline="0" dirty="0">
                <a:ln>
                  <a:noFill/>
                </a:ln>
                <a:solidFill>
                  <a:schemeClr val="tx1"/>
                </a:solidFill>
                <a:effectLst/>
                <a:latin typeface="Arial" panose="020B0604020202020204" pitchFamily="34" charset="0"/>
              </a:rPr>
              <a:t> with</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Transformer-Aware Cyclic Augmentation</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Integrating </a:t>
            </a:r>
            <a:r>
              <a:rPr kumimoji="0" lang="en-US" altLang="en-US" sz="1800" b="1" i="0" u="none" strike="noStrike" cap="none" normalizeH="0" baseline="0" dirty="0">
                <a:ln>
                  <a:noFill/>
                </a:ln>
                <a:solidFill>
                  <a:schemeClr val="tx1"/>
                </a:solidFill>
                <a:effectLst/>
                <a:latin typeface="Arial" panose="020B0604020202020204" pitchFamily="34" charset="0"/>
              </a:rPr>
              <a:t>Cyclic Augmentation</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1" i="0" u="none" strike="noStrike" cap="none" normalizeH="0" baseline="0" dirty="0">
                <a:ln>
                  <a:noFill/>
                </a:ln>
                <a:solidFill>
                  <a:schemeClr val="tx1"/>
                </a:solidFill>
                <a:effectLst/>
                <a:latin typeface="Arial" panose="020B0604020202020204" pitchFamily="34" charset="0"/>
              </a:rPr>
              <a:t>Intensity Level Regularization (ILR)</a:t>
            </a:r>
            <a:r>
              <a:rPr kumimoji="0" lang="en-US" altLang="en-US" sz="1800" b="0" i="0" u="none" strike="noStrike" cap="none" normalizeH="0" baseline="0" dirty="0">
                <a:ln>
                  <a:noFill/>
                </a:ln>
                <a:solidFill>
                  <a:schemeClr val="tx1"/>
                </a:solidFill>
                <a:effectLst/>
                <a:latin typeface="Arial" panose="020B0604020202020204" pitchFamily="34" charset="0"/>
              </a:rPr>
              <a:t> improved </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accuracy (ROC-AUC: 0.91, F1-Score: 0.77)</a:t>
            </a:r>
            <a:r>
              <a:rPr kumimoji="0" lang="en-US" altLang="en-US" sz="1800" b="0" i="0" u="none" strike="noStrike" cap="none" normalizeH="0" baseline="0" dirty="0">
                <a:ln>
                  <a:noFill/>
                </a:ln>
                <a:solidFill>
                  <a:schemeClr val="tx1"/>
                </a:solidFill>
                <a:effectLst/>
                <a:latin typeface="Arial" panose="020B0604020202020204" pitchFamily="34" charset="0"/>
              </a:rPr>
              <a:t> and reduced overfitting.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model delivers </a:t>
            </a:r>
            <a:r>
              <a:rPr kumimoji="0" lang="en-US" altLang="en-US" sz="1800" b="1" i="0" u="none" strike="noStrike" cap="none" normalizeH="0" baseline="0" dirty="0">
                <a:ln>
                  <a:noFill/>
                </a:ln>
                <a:solidFill>
                  <a:schemeClr val="tx1"/>
                </a:solidFill>
                <a:effectLst/>
                <a:latin typeface="Arial" panose="020B0604020202020204" pitchFamily="34" charset="0"/>
              </a:rPr>
              <a:t>fast, reliable, and high-precision disease predictions</a:t>
            </a:r>
            <a:r>
              <a:rPr kumimoji="0" lang="en-US" altLang="en-US" sz="1800" b="0" i="0" u="none" strike="noStrike" cap="none" normalizeH="0" baseline="0" dirty="0">
                <a:ln>
                  <a:noFill/>
                </a:ln>
                <a:solidFill>
                  <a:schemeClr val="tx1"/>
                </a:solidFill>
                <a:effectLst/>
                <a:latin typeface="Arial" panose="020B0604020202020204" pitchFamily="34" charset="0"/>
              </a:rPr>
              <a:t>, outperforming </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conventional augmentation methods.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Future Scope:</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Extend to </a:t>
            </a:r>
            <a:r>
              <a:rPr kumimoji="0" lang="en-US" altLang="en-US" sz="1800" b="1" i="0" u="none" strike="noStrike" cap="none" normalizeH="0" baseline="0" dirty="0">
                <a:ln>
                  <a:noFill/>
                </a:ln>
                <a:solidFill>
                  <a:schemeClr val="tx1"/>
                </a:solidFill>
                <a:effectLst/>
                <a:latin typeface="Arial" panose="020B0604020202020204" pitchFamily="34" charset="0"/>
              </a:rPr>
              <a:t>multi-modal datasets</a:t>
            </a:r>
            <a:r>
              <a:rPr kumimoji="0" lang="en-US" altLang="en-US" sz="1800" b="0" i="0" u="none" strike="noStrike" cap="none" normalizeH="0" baseline="0" dirty="0">
                <a:ln>
                  <a:noFill/>
                </a:ln>
                <a:solidFill>
                  <a:schemeClr val="tx1"/>
                </a:solidFill>
                <a:effectLst/>
                <a:latin typeface="Arial" panose="020B0604020202020204" pitchFamily="34" charset="0"/>
              </a:rPr>
              <a:t> (MRI, CT, PET, fMRI).</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Incorporate </a:t>
            </a:r>
            <a:r>
              <a:rPr kumimoji="0" lang="en-US" altLang="en-US" sz="1800" b="1" i="0" u="none" strike="noStrike" cap="none" normalizeH="0" baseline="0" dirty="0">
                <a:ln>
                  <a:noFill/>
                </a:ln>
                <a:solidFill>
                  <a:schemeClr val="tx1"/>
                </a:solidFill>
                <a:effectLst/>
                <a:latin typeface="Arial" panose="020B0604020202020204" pitchFamily="34" charset="0"/>
              </a:rPr>
              <a:t>Diffusion Models (DDPM)</a:t>
            </a:r>
            <a:r>
              <a:rPr kumimoji="0" lang="en-US" altLang="en-US" sz="1800" b="0" i="0" u="none" strike="noStrike" cap="none" normalizeH="0" baseline="0" dirty="0">
                <a:ln>
                  <a:noFill/>
                </a:ln>
                <a:solidFill>
                  <a:schemeClr val="tx1"/>
                </a:solidFill>
                <a:effectLst/>
                <a:latin typeface="Arial" panose="020B0604020202020204" pitchFamily="34" charset="0"/>
              </a:rPr>
              <a:t> for advanced data augmentation.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Add </a:t>
            </a:r>
            <a:r>
              <a:rPr kumimoji="0" lang="en-US" altLang="en-US" sz="1800" b="1" i="0" u="none" strike="noStrike" cap="none" normalizeH="0" baseline="0" dirty="0">
                <a:ln>
                  <a:noFill/>
                </a:ln>
                <a:solidFill>
                  <a:schemeClr val="tx1"/>
                </a:solidFill>
                <a:effectLst/>
                <a:latin typeface="Arial" panose="020B0604020202020204" pitchFamily="34" charset="0"/>
              </a:rPr>
              <a:t>explainable AI</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1" i="0" u="none" strike="noStrike" cap="none" normalizeH="0" baseline="0" dirty="0">
                <a:ln>
                  <a:noFill/>
                </a:ln>
                <a:solidFill>
                  <a:schemeClr val="tx1"/>
                </a:solidFill>
                <a:effectLst/>
                <a:latin typeface="Arial" panose="020B0604020202020204" pitchFamily="34" charset="0"/>
              </a:rPr>
              <a:t>real-time deployment</a:t>
            </a:r>
            <a:r>
              <a:rPr kumimoji="0" lang="en-US" altLang="en-US" sz="1800" b="0" i="0" u="none" strike="noStrike" cap="none" normalizeH="0" baseline="0" dirty="0">
                <a:ln>
                  <a:noFill/>
                </a:ln>
                <a:solidFill>
                  <a:schemeClr val="tx1"/>
                </a:solidFill>
                <a:effectLst/>
                <a:latin typeface="Arial" panose="020B0604020202020204" pitchFamily="34" charset="0"/>
              </a:rPr>
              <a:t> for clinical diagnosis.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Footer Placeholder 4">
            <a:extLst>
              <a:ext uri="{FF2B5EF4-FFF2-40B4-BE49-F238E27FC236}">
                <a16:creationId xmlns="" xmlns:a16="http://schemas.microsoft.com/office/drawing/2014/main" id="{CAA92644-3056-78BA-A106-E05C775A30B1}"/>
              </a:ext>
            </a:extLst>
          </p:cNvPr>
          <p:cNvSpPr>
            <a:spLocks noGrp="1"/>
          </p:cNvSpPr>
          <p:nvPr>
            <p:ph type="ftr" sz="quarter" idx="11"/>
          </p:nvPr>
        </p:nvSpPr>
        <p:spPr>
          <a:xfrm>
            <a:off x="4038600" y="6356350"/>
            <a:ext cx="4114800" cy="365125"/>
          </a:xfrm>
        </p:spPr>
        <p:txBody>
          <a:bodyPr/>
          <a:lstStyle/>
          <a:p>
            <a:r>
              <a:rPr lang="en-US" dirty="0"/>
              <a:t>Review No.  </a:t>
            </a:r>
            <a:r>
              <a:rPr lang="en-US" dirty="0" smtClean="0"/>
              <a:t>3      </a:t>
            </a:r>
            <a:r>
              <a:rPr lang="en-US" dirty="0"/>
              <a:t>Batch No.   BB4       Department of CSE</a:t>
            </a:r>
            <a:endParaRPr lang="en-IN" dirty="0"/>
          </a:p>
        </p:txBody>
      </p:sp>
    </p:spTree>
    <p:extLst>
      <p:ext uri="{BB962C8B-B14F-4D97-AF65-F5344CB8AC3E}">
        <p14:creationId xmlns:p14="http://schemas.microsoft.com/office/powerpoint/2010/main" val="70531056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REFERENCES</a:t>
            </a:r>
          </a:p>
        </p:txBody>
      </p:sp>
      <p:sp>
        <p:nvSpPr>
          <p:cNvPr id="2" name="Date Placeholder 1">
            <a:extLst>
              <a:ext uri="{FF2B5EF4-FFF2-40B4-BE49-F238E27FC236}">
                <a16:creationId xmlns="" xmlns:a16="http://schemas.microsoft.com/office/drawing/2014/main" id="{9D87D4D0-1594-A7E9-4A9E-6422A1808FE1}"/>
              </a:ext>
            </a:extLst>
          </p:cNvPr>
          <p:cNvSpPr>
            <a:spLocks noGrp="1"/>
          </p:cNvSpPr>
          <p:nvPr>
            <p:ph type="dt" sz="half" idx="10"/>
          </p:nvPr>
        </p:nvSpPr>
        <p:spPr/>
        <p:txBody>
          <a:bodyPr/>
          <a:lstStyle/>
          <a:p>
            <a:fld id="{936866E4-C1DD-4168-9CB1-2A69469C9459}" type="datetime1">
              <a:rPr lang="en-IN" smtClean="0"/>
              <a:t>09-02-2026</a:t>
            </a:fld>
            <a:endParaRPr lang="en-IN"/>
          </a:p>
        </p:txBody>
      </p:sp>
      <p:sp>
        <p:nvSpPr>
          <p:cNvPr id="4" name="Slide Number Placeholder 3">
            <a:extLst>
              <a:ext uri="{FF2B5EF4-FFF2-40B4-BE49-F238E27FC236}">
                <a16:creationId xmlns="" xmlns:a16="http://schemas.microsoft.com/office/drawing/2014/main" id="{F4ADFAF6-635B-204A-9D63-FAA8996714D3}"/>
              </a:ext>
            </a:extLst>
          </p:cNvPr>
          <p:cNvSpPr>
            <a:spLocks noGrp="1"/>
          </p:cNvSpPr>
          <p:nvPr>
            <p:ph type="sldNum" sz="quarter" idx="12"/>
          </p:nvPr>
        </p:nvSpPr>
        <p:spPr/>
        <p:txBody>
          <a:bodyPr/>
          <a:lstStyle/>
          <a:p>
            <a:fld id="{65DCBD69-296B-4D7C-AF62-9B588FC78772}" type="slidenum">
              <a:rPr lang="en-IN" smtClean="0"/>
              <a:t>30</a:t>
            </a:fld>
            <a:endParaRPr lang="en-IN"/>
          </a:p>
        </p:txBody>
      </p:sp>
      <p:sp>
        <p:nvSpPr>
          <p:cNvPr id="14" name="Rectangle 8">
            <a:extLst>
              <a:ext uri="{FF2B5EF4-FFF2-40B4-BE49-F238E27FC236}">
                <a16:creationId xmlns="" xmlns:a16="http://schemas.microsoft.com/office/drawing/2014/main" id="{332E8153-95EC-F16F-0AAD-E2C5B35B9E89}"/>
              </a:ext>
            </a:extLst>
          </p:cNvPr>
          <p:cNvSpPr>
            <a:spLocks noGrp="1" noChangeArrowheads="1"/>
          </p:cNvSpPr>
          <p:nvPr>
            <p:ph idx="1"/>
          </p:nvPr>
        </p:nvSpPr>
        <p:spPr bwMode="auto">
          <a:xfrm>
            <a:off x="250371" y="1907875"/>
            <a:ext cx="11593286"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V. Sánchez </a:t>
            </a:r>
            <a:r>
              <a:rPr kumimoji="0" lang="en-US" altLang="en-US" sz="1800" b="0" i="1" u="none" strike="noStrike" cap="none" normalizeH="0" baseline="0" dirty="0">
                <a:ln>
                  <a:noFill/>
                </a:ln>
                <a:solidFill>
                  <a:schemeClr val="tx1"/>
                </a:solidFill>
                <a:effectLst/>
                <a:latin typeface="Arial" panose="020B0604020202020204" pitchFamily="34" charset="0"/>
              </a:rPr>
              <a:t>et al.</a:t>
            </a:r>
            <a:r>
              <a:rPr kumimoji="0" lang="en-US" altLang="en-US" sz="1800" b="0" i="0" u="none" strike="noStrike" cap="none" normalizeH="0" baseline="0" dirty="0">
                <a:ln>
                  <a:noFill/>
                </a:ln>
                <a:solidFill>
                  <a:schemeClr val="tx1"/>
                </a:solidFill>
                <a:effectLst/>
                <a:latin typeface="Arial" panose="020B0604020202020204" pitchFamily="34" charset="0"/>
              </a:rPr>
              <a:t>, “Data Augmentation Techniques for fMRI Data: A Technical Survey,” </a:t>
            </a:r>
            <a:r>
              <a:rPr kumimoji="0" lang="en-US" altLang="en-US" sz="1800" b="0" i="1" u="none" strike="noStrike" cap="none" normalizeH="0" baseline="0" dirty="0">
                <a:ln>
                  <a:noFill/>
                </a:ln>
                <a:solidFill>
                  <a:schemeClr val="tx1"/>
                </a:solidFill>
                <a:effectLst/>
                <a:latin typeface="Arial" panose="020B0604020202020204" pitchFamily="34" charset="0"/>
              </a:rPr>
              <a:t>IEEE Access</a:t>
            </a:r>
            <a:r>
              <a:rPr kumimoji="0" lang="en-US" altLang="en-US" sz="1800" b="0" i="0" u="none" strike="noStrike" cap="none" normalizeH="0" baseline="0" dirty="0">
                <a:ln>
                  <a:noFill/>
                </a:ln>
                <a:solidFill>
                  <a:schemeClr val="tx1"/>
                </a:solidFill>
                <a:effectLst/>
                <a:latin typeface="Arial" panose="020B0604020202020204" pitchFamily="34" charset="0"/>
              </a:rPr>
              <a:t>, vol. 13, pp. 66,529–66,556, 2025.</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 D. </a:t>
            </a:r>
            <a:r>
              <a:rPr kumimoji="0" lang="en-US" altLang="en-US" sz="1800" b="0" i="0" u="none" strike="noStrike" cap="none" normalizeH="0" baseline="0" dirty="0" err="1">
                <a:ln>
                  <a:noFill/>
                </a:ln>
                <a:solidFill>
                  <a:schemeClr val="tx1"/>
                </a:solidFill>
                <a:effectLst/>
                <a:latin typeface="Arial" panose="020B0604020202020204" pitchFamily="34" charset="0"/>
              </a:rPr>
              <a:t>Westfechtel</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1" u="none" strike="noStrike" cap="none" normalizeH="0" baseline="0" dirty="0">
                <a:ln>
                  <a:noFill/>
                </a:ln>
                <a:solidFill>
                  <a:schemeClr val="tx1"/>
                </a:solidFill>
                <a:effectLst/>
                <a:latin typeface="Arial" panose="020B0604020202020204" pitchFamily="34" charset="0"/>
              </a:rPr>
              <a:t>et al.</a:t>
            </a:r>
            <a:r>
              <a:rPr kumimoji="0" lang="en-US" altLang="en-US" sz="1800" b="0" i="0" u="none" strike="noStrike" cap="none" normalizeH="0" baseline="0" dirty="0">
                <a:ln>
                  <a:noFill/>
                </a:ln>
                <a:solidFill>
                  <a:schemeClr val="tx1"/>
                </a:solidFill>
                <a:effectLst/>
                <a:latin typeface="Arial" panose="020B0604020202020204" pitchFamily="34" charset="0"/>
              </a:rPr>
              <a:t>, “AI in Motion: The Impact of Data Augmentation Strategies on Mitigating MRI Motion Artifacts,” </a:t>
            </a:r>
            <a:r>
              <a:rPr kumimoji="0" lang="en-US" altLang="en-US" sz="1800" b="0" i="1" u="none" strike="noStrike" cap="none" normalizeH="0" baseline="0" dirty="0">
                <a:ln>
                  <a:noFill/>
                </a:ln>
                <a:solidFill>
                  <a:schemeClr val="tx1"/>
                </a:solidFill>
                <a:effectLst/>
                <a:latin typeface="Arial" panose="020B0604020202020204" pitchFamily="34" charset="0"/>
              </a:rPr>
              <a:t>European Radiology</a:t>
            </a:r>
            <a:r>
              <a:rPr kumimoji="0" lang="en-US" altLang="en-US" sz="1800" b="0" i="0" u="none" strike="noStrike" cap="none" normalizeH="0" baseline="0" dirty="0">
                <a:ln>
                  <a:noFill/>
                </a:ln>
                <a:solidFill>
                  <a:schemeClr val="tx1"/>
                </a:solidFill>
                <a:effectLst/>
                <a:latin typeface="Arial" panose="020B0604020202020204" pitchFamily="34" charset="0"/>
              </a:rPr>
              <a:t>, in press, 2025.</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W. Li </a:t>
            </a:r>
            <a:r>
              <a:rPr kumimoji="0" lang="en-US" altLang="en-US" sz="1800" b="0" i="1" u="none" strike="noStrike" cap="none" normalizeH="0" baseline="0" dirty="0">
                <a:ln>
                  <a:noFill/>
                </a:ln>
                <a:solidFill>
                  <a:schemeClr val="tx1"/>
                </a:solidFill>
                <a:effectLst/>
                <a:latin typeface="Arial" panose="020B0604020202020204" pitchFamily="34" charset="0"/>
              </a:rPr>
              <a:t>et al.</a:t>
            </a:r>
            <a:r>
              <a:rPr kumimoji="0" lang="en-US" altLang="en-US" sz="1800" b="0" i="0" u="none" strike="noStrike" cap="none" normalizeH="0" baseline="0" dirty="0">
                <a:ln>
                  <a:noFill/>
                </a:ln>
                <a:solidFill>
                  <a:schemeClr val="tx1"/>
                </a:solidFill>
                <a:effectLst/>
                <a:latin typeface="Arial" panose="020B0604020202020204" pitchFamily="34" charset="0"/>
              </a:rPr>
              <a:t>, “An Effective Microscopic Image Augmentation Approach,” </a:t>
            </a:r>
            <a:r>
              <a:rPr kumimoji="0" lang="en-US" altLang="en-US" sz="1800" b="0" i="1" u="none" strike="noStrike" cap="none" normalizeH="0" baseline="0" dirty="0">
                <a:ln>
                  <a:noFill/>
                </a:ln>
                <a:solidFill>
                  <a:schemeClr val="tx1"/>
                </a:solidFill>
                <a:effectLst/>
                <a:latin typeface="Arial" panose="020B0604020202020204" pitchFamily="34" charset="0"/>
              </a:rPr>
              <a:t>Scientific Reports</a:t>
            </a:r>
            <a:r>
              <a:rPr kumimoji="0" lang="en-US" altLang="en-US" sz="1800" b="0" i="0" u="none" strike="noStrike" cap="none" normalizeH="0" baseline="0" dirty="0">
                <a:ln>
                  <a:noFill/>
                </a:ln>
                <a:solidFill>
                  <a:schemeClr val="tx1"/>
                </a:solidFill>
                <a:effectLst/>
                <a:latin typeface="Arial" panose="020B0604020202020204" pitchFamily="34" charset="0"/>
              </a:rPr>
              <a:t>, vol. 15, no. 1, p. 10247, 2025.</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 </a:t>
            </a:r>
            <a:r>
              <a:rPr kumimoji="0" lang="en-US" altLang="en-US" sz="1800" b="0" i="0" u="none" strike="noStrike" cap="none" normalizeH="0" baseline="0" dirty="0" err="1">
                <a:ln>
                  <a:noFill/>
                </a:ln>
                <a:solidFill>
                  <a:schemeClr val="tx1"/>
                </a:solidFill>
                <a:effectLst/>
                <a:latin typeface="Arial" panose="020B0604020202020204" pitchFamily="34" charset="0"/>
              </a:rPr>
              <a:t>Alimisis</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1" u="none" strike="noStrike" cap="none" normalizeH="0" baseline="0" dirty="0">
                <a:ln>
                  <a:noFill/>
                </a:ln>
                <a:solidFill>
                  <a:schemeClr val="tx1"/>
                </a:solidFill>
                <a:effectLst/>
                <a:latin typeface="Arial" panose="020B0604020202020204" pitchFamily="34" charset="0"/>
              </a:rPr>
              <a:t>et al.</a:t>
            </a:r>
            <a:r>
              <a:rPr kumimoji="0" lang="en-US" altLang="en-US" sz="1800" b="0" i="0" u="none" strike="noStrike" cap="none" normalizeH="0" baseline="0" dirty="0">
                <a:ln>
                  <a:noFill/>
                </a:ln>
                <a:solidFill>
                  <a:schemeClr val="tx1"/>
                </a:solidFill>
                <a:effectLst/>
                <a:latin typeface="Arial" panose="020B0604020202020204" pitchFamily="34" charset="0"/>
              </a:rPr>
              <a:t>, “Advances in Diffusion Models for Image Data Augmentation,” </a:t>
            </a:r>
            <a:r>
              <a:rPr kumimoji="0" lang="en-US" altLang="en-US" sz="1800" b="0" i="1" u="none" strike="noStrike" cap="none" normalizeH="0" baseline="0" dirty="0">
                <a:ln>
                  <a:noFill/>
                </a:ln>
                <a:solidFill>
                  <a:schemeClr val="tx1"/>
                </a:solidFill>
                <a:effectLst/>
                <a:latin typeface="Arial" panose="020B0604020202020204" pitchFamily="34" charset="0"/>
              </a:rPr>
              <a:t>Artificial Intelligence Review</a:t>
            </a:r>
            <a:r>
              <a:rPr kumimoji="0" lang="en-US" altLang="en-US" sz="1800" b="0" i="0" u="none" strike="noStrike" cap="none" normalizeH="0" baseline="0" dirty="0">
                <a:ln>
                  <a:noFill/>
                </a:ln>
                <a:solidFill>
                  <a:schemeClr val="tx1"/>
                </a:solidFill>
                <a:effectLst/>
                <a:latin typeface="Arial" panose="020B0604020202020204" pitchFamily="34" charset="0"/>
              </a:rPr>
              <a:t>, vol. 58, no. 11, pp. 1–56, 2025.</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 Moturi </a:t>
            </a:r>
            <a:r>
              <a:rPr kumimoji="0" lang="en-US" altLang="en-US" sz="1800" b="0" i="1" u="none" strike="noStrike" cap="none" normalizeH="0" baseline="0" dirty="0">
                <a:ln>
                  <a:noFill/>
                </a:ln>
                <a:solidFill>
                  <a:schemeClr val="tx1"/>
                </a:solidFill>
                <a:effectLst/>
                <a:latin typeface="Arial" panose="020B0604020202020204" pitchFamily="34" charset="0"/>
              </a:rPr>
              <a:t>et al.</a:t>
            </a:r>
            <a:r>
              <a:rPr kumimoji="0" lang="en-US" altLang="en-US" sz="1800" b="0" i="0" u="none" strike="noStrike" cap="none" normalizeH="0" baseline="0" dirty="0">
                <a:ln>
                  <a:noFill/>
                </a:ln>
                <a:solidFill>
                  <a:schemeClr val="tx1"/>
                </a:solidFill>
                <a:effectLst/>
                <a:latin typeface="Arial" panose="020B0604020202020204" pitchFamily="34" charset="0"/>
              </a:rPr>
              <a:t>, “Enhanced Lung Cancer Detection Using Deep Learning Ensemble Approach,” </a:t>
            </a:r>
            <a:r>
              <a:rPr kumimoji="0" lang="en-US" altLang="en-US" sz="1800" b="0" i="1" u="none" strike="noStrike" cap="none" normalizeH="0" baseline="0" dirty="0">
                <a:ln>
                  <a:noFill/>
                </a:ln>
                <a:solidFill>
                  <a:schemeClr val="tx1"/>
                </a:solidFill>
                <a:effectLst/>
                <a:latin typeface="Arial" panose="020B0604020202020204" pitchFamily="34" charset="0"/>
              </a:rPr>
              <a:t>IEEE </a:t>
            </a:r>
            <a:r>
              <a:rPr kumimoji="0" lang="en-US" altLang="en-US" sz="1800" b="0" i="1" u="none" strike="noStrike" cap="none" normalizeH="0" baseline="0" dirty="0" err="1">
                <a:ln>
                  <a:noFill/>
                </a:ln>
                <a:solidFill>
                  <a:schemeClr val="tx1"/>
                </a:solidFill>
                <a:effectLst/>
                <a:latin typeface="Arial" panose="020B0604020202020204" pitchFamily="34" charset="0"/>
              </a:rPr>
              <a:t>InCoWoCo</a:t>
            </a:r>
            <a:r>
              <a:rPr kumimoji="0" lang="en-US" altLang="en-US" sz="1800" b="0" i="1" u="none" strike="noStrike" cap="none" normalizeH="0" baseline="0" dirty="0">
                <a:ln>
                  <a:noFill/>
                </a:ln>
                <a:solidFill>
                  <a:schemeClr val="tx1"/>
                </a:solidFill>
                <a:effectLst/>
                <a:latin typeface="Arial" panose="020B0604020202020204" pitchFamily="34" charset="0"/>
              </a:rPr>
              <a:t> 2024 Proceedings</a:t>
            </a:r>
            <a:r>
              <a:rPr kumimoji="0" lang="en-US" altLang="en-US" sz="1800" b="0" i="0" u="none" strike="noStrike" cap="none" normalizeH="0" baseline="0" dirty="0">
                <a:ln>
                  <a:noFill/>
                </a:ln>
                <a:solidFill>
                  <a:schemeClr val="tx1"/>
                </a:solidFill>
                <a:effectLst/>
                <a:latin typeface="Arial" panose="020B0604020202020204" pitchFamily="34" charset="0"/>
              </a:rPr>
              <a:t>, IEEE, 2024.</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 Rao </a:t>
            </a:r>
            <a:r>
              <a:rPr kumimoji="0" lang="en-US" altLang="en-US" sz="1800" b="0" i="1" u="none" strike="noStrike" cap="none" normalizeH="0" baseline="0" dirty="0">
                <a:ln>
                  <a:noFill/>
                </a:ln>
                <a:solidFill>
                  <a:schemeClr val="tx1"/>
                </a:solidFill>
                <a:effectLst/>
                <a:latin typeface="Arial" panose="020B0604020202020204" pitchFamily="34" charset="0"/>
              </a:rPr>
              <a:t>et al.</a:t>
            </a:r>
            <a:r>
              <a:rPr kumimoji="0" lang="en-US" altLang="en-US" sz="1800" b="0" i="0" u="none" strike="noStrike" cap="none" normalizeH="0" baseline="0" dirty="0">
                <a:ln>
                  <a:noFill/>
                </a:ln>
                <a:solidFill>
                  <a:schemeClr val="tx1"/>
                </a:solidFill>
                <a:effectLst/>
                <a:latin typeface="Arial" panose="020B0604020202020204" pitchFamily="34" charset="0"/>
              </a:rPr>
              <a:t>, “Deep Learning-Based Tomato Leaf Disease Identification: Enhancing Classification with </a:t>
            </a:r>
            <a:r>
              <a:rPr kumimoji="0" lang="en-US" altLang="en-US" sz="1800" b="0" i="0" u="none" strike="noStrike" cap="none" normalizeH="0" baseline="0" dirty="0" err="1">
                <a:ln>
                  <a:noFill/>
                </a:ln>
                <a:solidFill>
                  <a:schemeClr val="tx1"/>
                </a:solidFill>
                <a:effectLst/>
                <a:latin typeface="Arial" panose="020B0604020202020204" pitchFamily="34" charset="0"/>
              </a:rPr>
              <a:t>AlexNet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1" u="none" strike="noStrike" cap="none" normalizeH="0" baseline="0" dirty="0">
                <a:ln>
                  <a:noFill/>
                </a:ln>
                <a:solidFill>
                  <a:schemeClr val="tx1"/>
                </a:solidFill>
                <a:effectLst/>
                <a:latin typeface="Arial" panose="020B0604020202020204" pitchFamily="34" charset="0"/>
              </a:rPr>
              <a:t>IEEE IATMSI 2025 Proceedings</a:t>
            </a:r>
            <a:r>
              <a:rPr kumimoji="0" lang="en-US" altLang="en-US" sz="1800" b="0" i="0" u="none" strike="noStrike" cap="none" normalizeH="0" baseline="0" dirty="0">
                <a:ln>
                  <a:noFill/>
                </a:ln>
                <a:solidFill>
                  <a:schemeClr val="tx1"/>
                </a:solidFill>
                <a:effectLst/>
                <a:latin typeface="Arial" panose="020B0604020202020204" pitchFamily="34" charset="0"/>
              </a:rPr>
              <a:t>, IEEE, 2025.</a:t>
            </a:r>
          </a:p>
        </p:txBody>
      </p:sp>
      <p:sp>
        <p:nvSpPr>
          <p:cNvPr id="5" name="Footer Placeholder 4">
            <a:extLst>
              <a:ext uri="{FF2B5EF4-FFF2-40B4-BE49-F238E27FC236}">
                <a16:creationId xmlns="" xmlns:a16="http://schemas.microsoft.com/office/drawing/2014/main" id="{F0F614B5-D44F-8118-5572-4DB0D3807BF3}"/>
              </a:ext>
            </a:extLst>
          </p:cNvPr>
          <p:cNvSpPr>
            <a:spLocks noGrp="1"/>
          </p:cNvSpPr>
          <p:nvPr>
            <p:ph type="ftr" sz="quarter" idx="11"/>
          </p:nvPr>
        </p:nvSpPr>
        <p:spPr>
          <a:xfrm>
            <a:off x="4038600" y="6356350"/>
            <a:ext cx="4114800" cy="365125"/>
          </a:xfrm>
        </p:spPr>
        <p:txBody>
          <a:bodyPr/>
          <a:lstStyle/>
          <a:p>
            <a:r>
              <a:rPr lang="en-US" dirty="0"/>
              <a:t>Review No.  </a:t>
            </a:r>
            <a:r>
              <a:rPr lang="en-US" dirty="0" smtClean="0"/>
              <a:t>3      </a:t>
            </a:r>
            <a:r>
              <a:rPr lang="en-US" dirty="0"/>
              <a:t>Batch No.   BB4       Department of CSE</a:t>
            </a:r>
            <a:endParaRPr lang="en-IN" dirty="0"/>
          </a:p>
        </p:txBody>
      </p:sp>
    </p:spTree>
    <p:extLst>
      <p:ext uri="{BB962C8B-B14F-4D97-AF65-F5344CB8AC3E}">
        <p14:creationId xmlns:p14="http://schemas.microsoft.com/office/powerpoint/2010/main" val="215349455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 xmlns:a16="http://schemas.microsoft.com/office/drawing/2014/main" id="{D45DB3B1-7702-A34D-B15A-E964B95D6FB5}"/>
              </a:ext>
            </a:extLst>
          </p:cNvPr>
          <p:cNvSpPr>
            <a:spLocks noGrp="1"/>
          </p:cNvSpPr>
          <p:nvPr>
            <p:ph type="title"/>
          </p:nvPr>
        </p:nvSpPr>
        <p:spPr>
          <a:xfrm>
            <a:off x="1180618" y="365125"/>
            <a:ext cx="10173182" cy="1128009"/>
          </a:xfrm>
        </p:spPr>
        <p:txBody>
          <a:bodyPr>
            <a:normAutofit/>
          </a:bodyPr>
          <a:lstStyle/>
          <a:p>
            <a:pPr algn="ctr"/>
            <a:r>
              <a:rPr lang="en-IN" b="1" dirty="0">
                <a:latin typeface="Times New Roman" panose="02020603050405020304" pitchFamily="18" charset="0"/>
                <a:cs typeface="Times New Roman" panose="02020603050405020304" pitchFamily="18" charset="0"/>
              </a:rPr>
              <a:t>ACKNOWLEGEMENTS</a:t>
            </a:r>
          </a:p>
        </p:txBody>
      </p:sp>
      <p:sp>
        <p:nvSpPr>
          <p:cNvPr id="3" name="Date Placeholder 2">
            <a:extLst>
              <a:ext uri="{FF2B5EF4-FFF2-40B4-BE49-F238E27FC236}">
                <a16:creationId xmlns="" xmlns:a16="http://schemas.microsoft.com/office/drawing/2014/main" id="{D1FE919F-39F6-9EF3-D345-D0B6907120EA}"/>
              </a:ext>
            </a:extLst>
          </p:cNvPr>
          <p:cNvSpPr>
            <a:spLocks noGrp="1"/>
          </p:cNvSpPr>
          <p:nvPr>
            <p:ph type="dt" sz="half" idx="10"/>
          </p:nvPr>
        </p:nvSpPr>
        <p:spPr/>
        <p:txBody>
          <a:bodyPr/>
          <a:lstStyle/>
          <a:p>
            <a:fld id="{D927CD84-5468-4CD1-8B02-A1E73E7AE03D}" type="datetime1">
              <a:rPr lang="en-IN" smtClean="0"/>
              <a:t>09-02-2026</a:t>
            </a:fld>
            <a:endParaRPr lang="en-IN"/>
          </a:p>
        </p:txBody>
      </p:sp>
      <p:sp>
        <p:nvSpPr>
          <p:cNvPr id="10" name="Slide Number Placeholder 9">
            <a:extLst>
              <a:ext uri="{FF2B5EF4-FFF2-40B4-BE49-F238E27FC236}">
                <a16:creationId xmlns="" xmlns:a16="http://schemas.microsoft.com/office/drawing/2014/main" id="{19906E61-DB52-9F5D-503A-42A52C413878}"/>
              </a:ext>
            </a:extLst>
          </p:cNvPr>
          <p:cNvSpPr>
            <a:spLocks noGrp="1"/>
          </p:cNvSpPr>
          <p:nvPr>
            <p:ph type="sldNum" sz="quarter" idx="12"/>
          </p:nvPr>
        </p:nvSpPr>
        <p:spPr/>
        <p:txBody>
          <a:bodyPr/>
          <a:lstStyle/>
          <a:p>
            <a:fld id="{65DCBD69-296B-4D7C-AF62-9B588FC78772}" type="slidenum">
              <a:rPr lang="en-IN" smtClean="0"/>
              <a:t>31</a:t>
            </a:fld>
            <a:endParaRPr lang="en-IN"/>
          </a:p>
        </p:txBody>
      </p:sp>
      <p:sp>
        <p:nvSpPr>
          <p:cNvPr id="6" name="TextBox 5">
            <a:extLst>
              <a:ext uri="{FF2B5EF4-FFF2-40B4-BE49-F238E27FC236}">
                <a16:creationId xmlns="" xmlns:a16="http://schemas.microsoft.com/office/drawing/2014/main" id="{B32B78DA-755A-2F51-EACE-6995D958C2FA}"/>
              </a:ext>
            </a:extLst>
          </p:cNvPr>
          <p:cNvSpPr txBox="1"/>
          <p:nvPr/>
        </p:nvSpPr>
        <p:spPr>
          <a:xfrm>
            <a:off x="1351279" y="1696720"/>
            <a:ext cx="9501777" cy="3416320"/>
          </a:xfrm>
          <a:prstGeom prst="rect">
            <a:avLst/>
          </a:prstGeom>
          <a:noFill/>
        </p:spPr>
        <p:txBody>
          <a:bodyPr wrap="square">
            <a:spAutoFit/>
          </a:bodyPr>
          <a:lstStyle/>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We would like to express our sincere gratitude to the faculty and staff of </a:t>
            </a:r>
            <a:r>
              <a:rPr lang="en-US" sz="1800" dirty="0" err="1">
                <a:latin typeface="Times New Roman" panose="02020603050405020304" pitchFamily="18" charset="0"/>
                <a:cs typeface="Times New Roman" panose="02020603050405020304" pitchFamily="18" charset="0"/>
              </a:rPr>
              <a:t>Narasaraopeta</a:t>
            </a:r>
            <a:r>
              <a:rPr lang="en-US" sz="1800" dirty="0">
                <a:latin typeface="Times New Roman" panose="02020603050405020304" pitchFamily="18" charset="0"/>
                <a:cs typeface="Times New Roman" panose="02020603050405020304" pitchFamily="18" charset="0"/>
              </a:rPr>
              <a:t> Engineering College for their guidance and encouragement throughout the development of this project. Their insights and expertise have been invaluable.</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We also extend our thanks to the administration for providing the necessary resources and a platform to showcase our work. This opportunity has been instrumental in enhancing our learning and growth.</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For any questions or further discussions, feel free to reach out:-</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Team No:BB4</a:t>
            </a:r>
          </a:p>
          <a:p>
            <a:r>
              <a:rPr lang="en-US" sz="1800" dirty="0">
                <a:latin typeface="Times New Roman" panose="02020603050405020304" pitchFamily="18" charset="0"/>
                <a:cs typeface="Times New Roman" panose="02020603050405020304" pitchFamily="18" charset="0"/>
              </a:rPr>
              <a:t>    Guide: </a:t>
            </a:r>
            <a:r>
              <a:rPr lang="en-US" dirty="0">
                <a:latin typeface="Times New Roman" panose="02020603050405020304" pitchFamily="18" charset="0"/>
                <a:cs typeface="Times New Roman" panose="02020603050405020304" pitchFamily="18" charset="0"/>
              </a:rPr>
              <a:t>DR. S. N. Tirumala Rao</a:t>
            </a:r>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    Roll No’s: 22471A05</a:t>
            </a:r>
            <a:r>
              <a:rPr lang="en-US" dirty="0">
                <a:latin typeface="Times New Roman" panose="02020603050405020304" pitchFamily="18" charset="0"/>
                <a:cs typeface="Times New Roman" panose="02020603050405020304" pitchFamily="18" charset="0"/>
              </a:rPr>
              <a:t>B2</a:t>
            </a:r>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                      22471A0582</a:t>
            </a:r>
          </a:p>
          <a:p>
            <a:r>
              <a:rPr lang="en-US" sz="1800" dirty="0">
                <a:latin typeface="Times New Roman" panose="02020603050405020304" pitchFamily="18" charset="0"/>
                <a:cs typeface="Times New Roman" panose="02020603050405020304" pitchFamily="18" charset="0"/>
              </a:rPr>
              <a:t>                      22471A05D9                    </a:t>
            </a:r>
          </a:p>
        </p:txBody>
      </p:sp>
      <p:sp>
        <p:nvSpPr>
          <p:cNvPr id="2" name="Footer Placeholder 4">
            <a:extLst>
              <a:ext uri="{FF2B5EF4-FFF2-40B4-BE49-F238E27FC236}">
                <a16:creationId xmlns="" xmlns:a16="http://schemas.microsoft.com/office/drawing/2014/main" id="{B7C82DE4-3BC1-2FBC-7C32-B8E761C60774}"/>
              </a:ext>
            </a:extLst>
          </p:cNvPr>
          <p:cNvSpPr>
            <a:spLocks noGrp="1"/>
          </p:cNvSpPr>
          <p:nvPr>
            <p:ph type="ftr" sz="quarter" idx="11"/>
          </p:nvPr>
        </p:nvSpPr>
        <p:spPr>
          <a:xfrm>
            <a:off x="4038600" y="6356350"/>
            <a:ext cx="4114800" cy="365125"/>
          </a:xfrm>
        </p:spPr>
        <p:txBody>
          <a:bodyPr/>
          <a:lstStyle/>
          <a:p>
            <a:r>
              <a:rPr lang="en-US" dirty="0"/>
              <a:t>Review No.  </a:t>
            </a:r>
            <a:r>
              <a:rPr lang="en-US" dirty="0" smtClean="0"/>
              <a:t>3      </a:t>
            </a:r>
            <a:r>
              <a:rPr lang="en-US" dirty="0"/>
              <a:t>Batch No.   BB4       Department of CSE</a:t>
            </a:r>
            <a:endParaRPr lang="en-IN" dirty="0"/>
          </a:p>
        </p:txBody>
      </p:sp>
    </p:spTree>
    <p:extLst>
      <p:ext uri="{BB962C8B-B14F-4D97-AF65-F5344CB8AC3E}">
        <p14:creationId xmlns:p14="http://schemas.microsoft.com/office/powerpoint/2010/main" val="16879173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IN" b="1" dirty="0">
                <a:latin typeface="Times New Roman" panose="02020603050405020304" pitchFamily="18" charset="0"/>
                <a:cs typeface="Times New Roman" panose="02020603050405020304" pitchFamily="18" charset="0"/>
              </a:rPr>
              <a:t>QUESTIONS and ANSWERS</a:t>
            </a:r>
          </a:p>
        </p:txBody>
      </p:sp>
      <p:pic>
        <p:nvPicPr>
          <p:cNvPr id="2052" name="Picture 4" descr="Blog | Heaps and Doyle">
            <a:extLst>
              <a:ext uri="{FF2B5EF4-FFF2-40B4-BE49-F238E27FC236}">
                <a16:creationId xmlns="" xmlns:a16="http://schemas.microsoft.com/office/drawing/2014/main" id="{54CD5505-2B75-CFEE-DC85-79BD8FDC22A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34752" y="1493134"/>
            <a:ext cx="5522495" cy="4289196"/>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a:extLst>
              <a:ext uri="{FF2B5EF4-FFF2-40B4-BE49-F238E27FC236}">
                <a16:creationId xmlns="" xmlns:a16="http://schemas.microsoft.com/office/drawing/2014/main" id="{958FAADC-11B5-8808-6718-EFB0171845FA}"/>
              </a:ext>
            </a:extLst>
          </p:cNvPr>
          <p:cNvSpPr>
            <a:spLocks noGrp="1"/>
          </p:cNvSpPr>
          <p:nvPr>
            <p:ph type="dt" sz="half" idx="10"/>
          </p:nvPr>
        </p:nvSpPr>
        <p:spPr/>
        <p:txBody>
          <a:bodyPr/>
          <a:lstStyle/>
          <a:p>
            <a:fld id="{A437E762-5293-45E7-9A60-7F18C622639D}" type="datetime1">
              <a:rPr lang="en-IN" smtClean="0"/>
              <a:t>09-02-2026</a:t>
            </a:fld>
            <a:endParaRPr lang="en-IN"/>
          </a:p>
        </p:txBody>
      </p:sp>
      <p:sp>
        <p:nvSpPr>
          <p:cNvPr id="11" name="Slide Number Placeholder 10">
            <a:extLst>
              <a:ext uri="{FF2B5EF4-FFF2-40B4-BE49-F238E27FC236}">
                <a16:creationId xmlns="" xmlns:a16="http://schemas.microsoft.com/office/drawing/2014/main" id="{D358B7F6-8401-A28E-978F-89E42A28E273}"/>
              </a:ext>
            </a:extLst>
          </p:cNvPr>
          <p:cNvSpPr>
            <a:spLocks noGrp="1"/>
          </p:cNvSpPr>
          <p:nvPr>
            <p:ph type="sldNum" sz="quarter" idx="12"/>
          </p:nvPr>
        </p:nvSpPr>
        <p:spPr/>
        <p:txBody>
          <a:bodyPr/>
          <a:lstStyle/>
          <a:p>
            <a:fld id="{65DCBD69-296B-4D7C-AF62-9B588FC78772}" type="slidenum">
              <a:rPr lang="en-IN" smtClean="0"/>
              <a:t>32</a:t>
            </a:fld>
            <a:endParaRPr lang="en-IN"/>
          </a:p>
        </p:txBody>
      </p:sp>
      <p:sp>
        <p:nvSpPr>
          <p:cNvPr id="2" name="Footer Placeholder 4">
            <a:extLst>
              <a:ext uri="{FF2B5EF4-FFF2-40B4-BE49-F238E27FC236}">
                <a16:creationId xmlns="" xmlns:a16="http://schemas.microsoft.com/office/drawing/2014/main" id="{EE9427FB-ADF7-2F13-D28E-3FFDA5DDF27F}"/>
              </a:ext>
            </a:extLst>
          </p:cNvPr>
          <p:cNvSpPr>
            <a:spLocks noGrp="1"/>
          </p:cNvSpPr>
          <p:nvPr>
            <p:ph type="ftr" sz="quarter" idx="11"/>
          </p:nvPr>
        </p:nvSpPr>
        <p:spPr>
          <a:xfrm>
            <a:off x="4038600" y="6356350"/>
            <a:ext cx="4114800" cy="365125"/>
          </a:xfrm>
        </p:spPr>
        <p:txBody>
          <a:bodyPr/>
          <a:lstStyle/>
          <a:p>
            <a:r>
              <a:rPr lang="en-US" dirty="0"/>
              <a:t>Review No.  </a:t>
            </a:r>
            <a:r>
              <a:rPr lang="en-US" smtClean="0"/>
              <a:t>3      </a:t>
            </a:r>
            <a:r>
              <a:rPr lang="en-US" dirty="0"/>
              <a:t>Batch No.   BB4       Department of CSE</a:t>
            </a:r>
            <a:endParaRPr lang="en-IN" dirty="0"/>
          </a:p>
        </p:txBody>
      </p:sp>
    </p:spTree>
    <p:extLst>
      <p:ext uri="{BB962C8B-B14F-4D97-AF65-F5344CB8AC3E}">
        <p14:creationId xmlns:p14="http://schemas.microsoft.com/office/powerpoint/2010/main" val="292497721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2409</TotalTime>
  <Words>2789</Words>
  <Application>Microsoft Office PowerPoint</Application>
  <PresentationFormat>Widescreen</PresentationFormat>
  <Paragraphs>356</Paragraphs>
  <Slides>32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Arial</vt:lpstr>
      <vt:lpstr>Calibri</vt:lpstr>
      <vt:lpstr>Calibri Light</vt:lpstr>
      <vt:lpstr>Times New Roman</vt:lpstr>
      <vt:lpstr>Wingdings</vt:lpstr>
      <vt:lpstr>Office Theme</vt:lpstr>
      <vt:lpstr>TransAugNet : Transformer-Aware Cyclic Augmentation for Biomedical Image Analysis  </vt:lpstr>
      <vt:lpstr>PowerPoint Presentation</vt:lpstr>
      <vt:lpstr>OUTLINE</vt:lpstr>
      <vt:lpstr>ABSTRACT</vt:lpstr>
      <vt:lpstr>INTRODUCTION</vt:lpstr>
      <vt:lpstr>LITERATURE SURVEY</vt:lpstr>
      <vt:lpstr>LITERATURE SURVEY</vt:lpstr>
      <vt:lpstr>LITERATURE SURVEY</vt:lpstr>
      <vt:lpstr>LITERATURE SURVEY</vt:lpstr>
      <vt:lpstr>RESEARCH GAPS</vt:lpstr>
      <vt:lpstr>PROBLEM STATEMENT</vt:lpstr>
      <vt:lpstr>OBJECTIVES</vt:lpstr>
      <vt:lpstr>BLOCK DIAGRAM OR FLOW DIAGRAM</vt:lpstr>
      <vt:lpstr>METHODOLOGY</vt:lpstr>
      <vt:lpstr>METHODOLOGY</vt:lpstr>
      <vt:lpstr>METHODOLOGY</vt:lpstr>
      <vt:lpstr>METHODOLOGY</vt:lpstr>
      <vt:lpstr>METHODOLOGY</vt:lpstr>
      <vt:lpstr>METHODOLOGY</vt:lpstr>
      <vt:lpstr>                 System Requirements</vt:lpstr>
      <vt:lpstr>IMPLEMENTATION</vt:lpstr>
      <vt:lpstr>IMPLEMENTATION OF FRONTEND</vt:lpstr>
      <vt:lpstr>IMPLEMENTATION OF FRONTEND</vt:lpstr>
      <vt:lpstr>IMPLEMENTATION OF FRONTEND</vt:lpstr>
      <vt:lpstr>RESULTS &amp; ANALYSIS</vt:lpstr>
      <vt:lpstr>                       RESULTS &amp; ANALYSIS</vt:lpstr>
      <vt:lpstr>                       RESULTS &amp; ANALYSIS</vt:lpstr>
      <vt:lpstr>                      RESULTS &amp; ANALYSIS</vt:lpstr>
      <vt:lpstr>CONCLUSION and FUTURE SCOPE</vt:lpstr>
      <vt:lpstr>REFERENCES</vt:lpstr>
      <vt:lpstr>ACKNOWLEGEMENTS</vt:lpstr>
      <vt:lpstr>QUESTIONS and ANSWERS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INSTRUCTIONS</dc:title>
  <dc:creator>admin</dc:creator>
  <cp:lastModifiedBy>Microsoft account</cp:lastModifiedBy>
  <cp:revision>25</cp:revision>
  <dcterms:created xsi:type="dcterms:W3CDTF">2023-12-22T11:34:02Z</dcterms:created>
  <dcterms:modified xsi:type="dcterms:W3CDTF">2026-02-09T17:46:33Z</dcterms:modified>
</cp:coreProperties>
</file>